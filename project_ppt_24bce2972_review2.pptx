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1" r:id="rId32"/>
    <p:sldId id="282" r:id="rId33"/>
    <p:sldId id="259" r:id="rId5"/>
    <p:sldId id="260" r:id="rId6"/>
    <p:sldId id="261" r:id="rId7"/>
    <p:sldId id="262" r:id="rId8"/>
    <p:sldId id="283" r:id="rId34"/>
    <p:sldId id="284" r:id="rId35"/>
    <p:sldId id="285" r:id="rId36"/>
    <p:sldId id="264" r:id="rId10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305" r:id="rId56"/>
    <p:sldId id="306" r:id="rId57"/>
    <p:sldId id="307" r:id="rId58"/>
    <p:sldId id="308" r:id="rId59"/>
    <p:sldId id="309" r:id="rId60"/>
    <p:sldId id="310" r:id="rId61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7BB240C-8067-9E2B-824A-E4A7E8DEF879}">
          <p14:sldIdLst>
            <p14:sldId id="256"/>
            <p14:sldId id="257"/>
            <p14:sldId id="258"/>
          </p14:sldIdLst>
        </p14:section>
        <p14:section name="Background" id="{F9562233-FE51-C6C4-56C2-8A373D787C4E}">
          <p14:sldIdLst>
            <p14:sldId id="259"/>
            <p14:sldId id="260"/>
          </p14:sldIdLst>
        </p14:section>
        <p14:section name="Methodology" id="{EF1158AA-F2C7-B2F5-FEEC-092E87CCD064}">
          <p14:sldIdLst>
            <p14:sldId id="261"/>
            <p14:sldId id="262"/>
          </p14:sldIdLst>
        </p14:section>
        <p14:section name="Architecture &amp; Implementation" id="{30F24689-2566-C13B-35AE-40BE5E901817}">
          <p14:sldIdLst>
            <p14:sldId id="263"/>
            <p14:sldId id="264"/>
            <p14:sldId id="265"/>
            <p14:sldId id="266"/>
            <p14:sldId id="267"/>
          </p14:sldIdLst>
        </p14:section>
        <p14:section name="Results" id="{28D50B11-C353-BEAB-544F-28D48D7B1B30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Status &amp; Conclusion" id="{2449FF5C-1812-AB45-9F1C-A8BF21328349}">
          <p14:sldIdLst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24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Rules only</c:v>
                </c:pt>
              </c:strCache>
            </c:strRef>
          </c:tx>
          <c:spPr>
            <a:solidFill>
              <a:srgbClr val="6B7A90"/>
            </a:solidFill>
          </c:spPr>
          <c:cat>
            <c:strRef>
              <c:f>Sheet1!$A$2:$A$8</c:f>
              <c:strCache>
                <c:ptCount val="7"/>
                <c:pt idx="0">
                  <c:v>Arithmetic</c:v>
                </c:pt>
                <c:pt idx="1">
                  <c:v>Nested</c:v>
                </c:pt>
                <c:pt idx="2">
                  <c:v>Repeated expr.</c:v>
                </c:pt>
                <c:pt idx="3">
                  <c:v>Dead code</c:v>
                </c:pt>
                <c:pt idx="4">
                  <c:v>Loops</c:v>
                </c:pt>
                <c:pt idx="5">
                  <c:v>Conditionals</c:v>
                </c:pt>
                <c:pt idx="6">
                  <c:v>Mixed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96.0</c:v>
                </c:pt>
                <c:pt idx="1">
                  <c:v>98.1</c:v>
                </c:pt>
                <c:pt idx="2">
                  <c:v>80.7</c:v>
                </c:pt>
                <c:pt idx="3">
                  <c:v>97.4</c:v>
                </c:pt>
                <c:pt idx="4">
                  <c:v>65.0</c:v>
                </c:pt>
                <c:pt idx="5">
                  <c:v>73.9</c:v>
                </c:pt>
                <c:pt idx="6">
                  <c:v>77.9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Rules + Gemini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Sheet1!$A$2:$A$8</c:f>
              <c:strCache>
                <c:ptCount val="7"/>
                <c:pt idx="0">
                  <c:v>Arithmetic</c:v>
                </c:pt>
                <c:pt idx="1">
                  <c:v>Nested</c:v>
                </c:pt>
                <c:pt idx="2">
                  <c:v>Repeated expr.</c:v>
                </c:pt>
                <c:pt idx="3">
                  <c:v>Dead code</c:v>
                </c:pt>
                <c:pt idx="4">
                  <c:v>Loops</c:v>
                </c:pt>
                <c:pt idx="5">
                  <c:v>Conditionals</c:v>
                </c:pt>
                <c:pt idx="6">
                  <c:v>Mixed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96.0</c:v>
                </c:pt>
                <c:pt idx="1">
                  <c:v>98.2</c:v>
                </c:pt>
                <c:pt idx="2">
                  <c:v>81.7</c:v>
                </c:pt>
                <c:pt idx="3">
                  <c:v>97.4</c:v>
                </c:pt>
                <c:pt idx="4">
                  <c:v>93.3</c:v>
                </c:pt>
                <c:pt idx="5">
                  <c:v>84.1</c:v>
                </c:pt>
                <c:pt idx="6">
                  <c:v>91.6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Rules + Groq</c:v>
                </c:pt>
              </c:strCache>
            </c:strRef>
          </c:tx>
          <c:spPr>
            <a:solidFill>
              <a:srgbClr val="C98500"/>
            </a:solidFill>
          </c:spPr>
          <c:cat>
            <c:strRef>
              <c:f>Sheet1!$A$2:$A$8</c:f>
              <c:strCache>
                <c:ptCount val="7"/>
                <c:pt idx="0">
                  <c:v>Arithmetic</c:v>
                </c:pt>
                <c:pt idx="1">
                  <c:v>Nested</c:v>
                </c:pt>
                <c:pt idx="2">
                  <c:v>Repeated expr.</c:v>
                </c:pt>
                <c:pt idx="3">
                  <c:v>Dead code</c:v>
                </c:pt>
                <c:pt idx="4">
                  <c:v>Loops</c:v>
                </c:pt>
                <c:pt idx="5">
                  <c:v>Conditionals</c:v>
                </c:pt>
                <c:pt idx="6">
                  <c:v>Mixed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96.0</c:v>
                </c:pt>
                <c:pt idx="1">
                  <c:v>98.3</c:v>
                </c:pt>
                <c:pt idx="2">
                  <c:v>80.9</c:v>
                </c:pt>
                <c:pt idx="3">
                  <c:v>97.4</c:v>
                </c:pt>
                <c:pt idx="4">
                  <c:v>93.4</c:v>
                </c:pt>
                <c:pt idx="5">
                  <c:v>83.5</c:v>
                </c:pt>
                <c:pt idx="6">
                  <c:v>89.3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Rules + Ollama</c:v>
                </c:pt>
              </c:strCache>
            </c:strRef>
          </c:tx>
          <c:spPr>
            <a:solidFill>
              <a:srgbClr val="0B8A0B"/>
            </a:solidFill>
          </c:spPr>
          <c:cat>
            <c:strRef>
              <c:f>Sheet1!$A$2:$A$8</c:f>
              <c:strCache>
                <c:ptCount val="7"/>
                <c:pt idx="0">
                  <c:v>Arithmetic</c:v>
                </c:pt>
                <c:pt idx="1">
                  <c:v>Nested</c:v>
                </c:pt>
                <c:pt idx="2">
                  <c:v>Repeated expr.</c:v>
                </c:pt>
                <c:pt idx="3">
                  <c:v>Dead code</c:v>
                </c:pt>
                <c:pt idx="4">
                  <c:v>Loops</c:v>
                </c:pt>
                <c:pt idx="5">
                  <c:v>Conditionals</c:v>
                </c:pt>
                <c:pt idx="6">
                  <c:v>Mixed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96.0</c:v>
                </c:pt>
                <c:pt idx="1">
                  <c:v>98.2</c:v>
                </c:pt>
                <c:pt idx="2">
                  <c:v>80.7</c:v>
                </c:pt>
                <c:pt idx="3">
                  <c:v>97.4</c:v>
                </c:pt>
                <c:pt idx="4">
                  <c:v>66.1</c:v>
                </c:pt>
                <c:pt idx="5">
                  <c:v>75.2</c:v>
                </c:pt>
                <c:pt idx="6">
                  <c:v>80.0</c:v>
                </c:pt>
              </c:numCache>
            </c:numRef>
          </c:val>
        </c:ser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20.0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4A556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Rules only</c:v>
                </c:pt>
              </c:strCache>
            </c:strRef>
          </c:tx>
          <c:spPr>
            <a:solidFill>
              <a:srgbClr val="6B7A90"/>
            </a:solidFill>
          </c:spPr>
          <c:cat>
            <c:strRef>
              <c:f>Sheet1!$A$2:$A$8</c:f>
              <c:strCache>
                <c:ptCount val="7"/>
                <c:pt idx="0">
                  <c:v>Arithmetic</c:v>
                </c:pt>
                <c:pt idx="1">
                  <c:v>Nested</c:v>
                </c:pt>
                <c:pt idx="2">
                  <c:v>Repeated expr.</c:v>
                </c:pt>
                <c:pt idx="3">
                  <c:v>Dead code</c:v>
                </c:pt>
                <c:pt idx="4">
                  <c:v>Loops</c:v>
                </c:pt>
                <c:pt idx="5">
                  <c:v>Conditionals</c:v>
                </c:pt>
                <c:pt idx="6">
                  <c:v>Mixed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96.0</c:v>
                </c:pt>
                <c:pt idx="1">
                  <c:v>98.1</c:v>
                </c:pt>
                <c:pt idx="2">
                  <c:v>80.7</c:v>
                </c:pt>
                <c:pt idx="3">
                  <c:v>97.4</c:v>
                </c:pt>
                <c:pt idx="4">
                  <c:v>65.0</c:v>
                </c:pt>
                <c:pt idx="5">
                  <c:v>73.9</c:v>
                </c:pt>
                <c:pt idx="6">
                  <c:v>77.9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Rules + Groq</c:v>
                </c:pt>
              </c:strCache>
            </c:strRef>
          </c:tx>
          <c:spPr>
            <a:solidFill>
              <a:srgbClr val="C98500"/>
            </a:solidFill>
          </c:spPr>
          <c:cat>
            <c:strRef>
              <c:f>Sheet1!$A$2:$A$8</c:f>
              <c:strCache>
                <c:ptCount val="7"/>
                <c:pt idx="0">
                  <c:v>Arithmetic</c:v>
                </c:pt>
                <c:pt idx="1">
                  <c:v>Nested</c:v>
                </c:pt>
                <c:pt idx="2">
                  <c:v>Repeated expr.</c:v>
                </c:pt>
                <c:pt idx="3">
                  <c:v>Dead code</c:v>
                </c:pt>
                <c:pt idx="4">
                  <c:v>Loops</c:v>
                </c:pt>
                <c:pt idx="5">
                  <c:v>Conditionals</c:v>
                </c:pt>
                <c:pt idx="6">
                  <c:v>Mixed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96.0</c:v>
                </c:pt>
                <c:pt idx="1">
                  <c:v>98.3</c:v>
                </c:pt>
                <c:pt idx="2">
                  <c:v>80.9</c:v>
                </c:pt>
                <c:pt idx="3">
                  <c:v>97.4</c:v>
                </c:pt>
                <c:pt idx="4">
                  <c:v>93.4</c:v>
                </c:pt>
                <c:pt idx="5">
                  <c:v>83.5</c:v>
                </c:pt>
                <c:pt idx="6">
                  <c:v>89.3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20.0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4A556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Rules only</c:v>
                </c:pt>
              </c:strCache>
            </c:strRef>
          </c:tx>
          <c:spPr>
            <a:solidFill>
              <a:srgbClr val="6B7A90"/>
            </a:solidFill>
          </c:spPr>
          <c:cat>
            <c:strRef>
              <c:f>Sheet1!$A$2:$A$8</c:f>
              <c:strCache>
                <c:ptCount val="7"/>
                <c:pt idx="0">
                  <c:v>Arithmetic</c:v>
                </c:pt>
                <c:pt idx="1">
                  <c:v>Nested</c:v>
                </c:pt>
                <c:pt idx="2">
                  <c:v>Repeated expr.</c:v>
                </c:pt>
                <c:pt idx="3">
                  <c:v>Dead code</c:v>
                </c:pt>
                <c:pt idx="4">
                  <c:v>Loops</c:v>
                </c:pt>
                <c:pt idx="5">
                  <c:v>Conditionals</c:v>
                </c:pt>
                <c:pt idx="6">
                  <c:v>Mixed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96.0</c:v>
                </c:pt>
                <c:pt idx="1">
                  <c:v>98.1</c:v>
                </c:pt>
                <c:pt idx="2">
                  <c:v>80.7</c:v>
                </c:pt>
                <c:pt idx="3">
                  <c:v>97.4</c:v>
                </c:pt>
                <c:pt idx="4">
                  <c:v>65.0</c:v>
                </c:pt>
                <c:pt idx="5">
                  <c:v>73.9</c:v>
                </c:pt>
                <c:pt idx="6">
                  <c:v>77.9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Rules + Ollama</c:v>
                </c:pt>
              </c:strCache>
            </c:strRef>
          </c:tx>
          <c:spPr>
            <a:solidFill>
              <a:srgbClr val="0B8A0B"/>
            </a:solidFill>
          </c:spPr>
          <c:cat>
            <c:strRef>
              <c:f>Sheet1!$A$2:$A$8</c:f>
              <c:strCache>
                <c:ptCount val="7"/>
                <c:pt idx="0">
                  <c:v>Arithmetic</c:v>
                </c:pt>
                <c:pt idx="1">
                  <c:v>Nested</c:v>
                </c:pt>
                <c:pt idx="2">
                  <c:v>Repeated expr.</c:v>
                </c:pt>
                <c:pt idx="3">
                  <c:v>Dead code</c:v>
                </c:pt>
                <c:pt idx="4">
                  <c:v>Loops</c:v>
                </c:pt>
                <c:pt idx="5">
                  <c:v>Conditionals</c:v>
                </c:pt>
                <c:pt idx="6">
                  <c:v>Mixed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96.0</c:v>
                </c:pt>
                <c:pt idx="1">
                  <c:v>98.2</c:v>
                </c:pt>
                <c:pt idx="2">
                  <c:v>80.7</c:v>
                </c:pt>
                <c:pt idx="3">
                  <c:v>97.4</c:v>
                </c:pt>
                <c:pt idx="4">
                  <c:v>66.1</c:v>
                </c:pt>
                <c:pt idx="5">
                  <c:v>75.2</c:v>
                </c:pt>
                <c:pt idx="6">
                  <c:v>80.0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20.0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4A556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8229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the team. One-line pitch: an agent that optimizes compiler intermediate code on its own, and never accepts a change it cannot verify.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work combines classical compiler techniques with an LLM. Unlike LLM Compiler, which picks pass orderings, our agent proposes actual code transformations and checks each one before accepting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gap is addressed by one part of the design: the agent loop (gap 1), cheap rule-based search (gap 2), the verifier (gaps 3 and 5), and code-level proposals (gap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seven steps. Stress that the verifier sits between every proposal and the program: nothing changes unless it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is generated, not hand-written, so the experiment can be reproduced exactly from the fixed seed.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 flowchart top to bottom. Point out the two rejection paths (invalid, and no cost gain) and that both loop back to analysis without changing the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flow left to right: sources, verification, then the cost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Rule-based proposals never failed verification; every invalid proposal came from the LLM.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 of 10,828 accepted changes, about 60% are copy propagation.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line ends when the agent finds nothing more to improve.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black line in each panel is a linear trend 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Darker cells mean the optimization was applied more often in that category.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LLM adds most where the six rules are weakest: loops and branches.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Automated LLM/Agent-Guided Compiler Code Optimization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22.png"/><Relationship Id="rId5" Type="http://schemas.openxmlformats.org/officeDocument/2006/relationships/image" Target="../media/image4.png"/><Relationship Id="rId6" Type="http://schemas.openxmlformats.org/officeDocument/2006/relationships/image" Target="../media/image1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1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2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6"/>
                </a:solidFill>
              </a:rPr>
              <a:t>COMPILER DESIGN PROJECT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Automated LLM/Agent-Guided Compiler Code Optimization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6"/>
                </a:solidFill>
              </a:rPr>
              <a:t>A multi-agent system for autonomous TAC analysis, transformation and verification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257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solidFill>
                  <a:schemeClr val="bg1"/>
                </a:solidFill>
              </a:rPr>
              <a:t>Team: </a:t>
            </a:r>
            <a:r>
              <a:rPr lang="en-US" sz="1600" dirty="0" smtClean="0">
                <a:solidFill>
                  <a:schemeClr val="bg1"/>
                </a:solidFill>
              </a:rPr>
              <a:t>ADARSH SHARMA BADHAI[24BCE2972]</a:t>
            </a:r>
            <a:r>
              <a:rPr lang="en-US" sz="1600" dirty="0" smtClean="0">
                <a:solidFill>
                  <a:schemeClr val="bg1"/>
                </a:solidFill>
              </a:rPr>
              <a:t>  ·  NIRUPAM RAUT[24BAI0345]</a:t>
            </a:r>
            <a:endParaRPr lang="en-US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6080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October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26680" y="1417320"/>
            <a:ext cx="3913632" cy="4206240"/>
          </a:xfrm>
          <a:prstGeom prst="roundRect">
            <a:avLst>
              <a:gd name="adj" fmla="val 1869"/>
            </a:avLst>
          </a:prstGeom>
          <a:solidFill>
            <a:schemeClr val="bg1">
              <a:alpha val="8000"/>
            </a:schemeClr>
          </a:solidFill>
          <a:ln w="9525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01000" y="1645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Before (naive TAC)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001000" y="2011680"/>
            <a:ext cx="3383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t0 = 3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 = 5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 = t0 + t1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t2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x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3703320"/>
            <a:ext cx="347472" cy="34747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001000" y="4206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After (agent-optimized)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4572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7FD2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8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Literature Review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4956048"/>
        </p:xfrm>
        <a:graphic>
          <a:graphicData uri="http://schemas.openxmlformats.org/drawingml/2006/table">
            <a:tbl>
              <a:tblPr/>
              <a:tblGrid>
                <a:gridCol w="2514600"/>
                <a:gridCol w="4288536"/>
                <a:gridCol w="4288536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works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to our project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compiler optimization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Aho, Lam, Sethi &amp; Ullman: Compilers: Principles, Techniques, and Tools (2006)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for constant folding, DCE, CSE, copy propagation and dataflow analysis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Superoptimization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Massalin (1987); Schkufza, Sharma &amp; Aiken: STOKE (2013); Phothilimthana et al. (2016)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for optimal instruction sequences; uses testing to check candidates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Translation validation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Pnueli, Siegel &amp; Singerman (1998); Necula (2000)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Checking that compiler output matches the source: the idea behind our verifier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LLMs for code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 et al.: Codex (2021); Rozière et al.: Code Llama (2023)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that generate and transform code; we use Gemini as a proposer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LLM-assisted compilation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Cummins et al.: CompilerGym (2022); Cummins et al.: LLM Compiler (2024)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 and LLM agents choosing compiler flags and pass orderings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systems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Wu et al.: AutoGen (2023)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orchestration; inspired our Orchestrator + specialist design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Research Gaps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720840" cy="914400"/>
          </a:xfrm>
          <a:prstGeom prst="roundRect">
            <a:avLst>
              <a:gd name="adj" fmla="val 8000"/>
            </a:avLst>
          </a:prstGeom>
          <a:solidFill>
            <a:schemeClr val="accent3">
              <a:alpha val="8000"/>
            </a:schemeClr>
          </a:solidFill>
          <a:ln w="9525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81328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chemeClr val="bg1"/>
                </a:solidFill>
              </a:rPr>
              <a:t>1</a:t>
            </a:r>
            <a:endParaRPr lang="en-US" sz="143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3441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Fixed pass order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73352"/>
            <a:ext cx="5715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Classical compilers don't decide which optimization to try or check whether it helped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249424"/>
            <a:ext cx="6720840" cy="914400"/>
          </a:xfrm>
          <a:prstGeom prst="roundRect">
            <a:avLst>
              <a:gd name="adj" fmla="val 8000"/>
            </a:avLst>
          </a:prstGeom>
          <a:solidFill>
            <a:schemeClr val="accent3">
              <a:alpha val="8000"/>
            </a:schemeClr>
          </a:solidFill>
          <a:ln w="9525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450592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chemeClr val="bg1"/>
                </a:solidFill>
              </a:rPr>
              <a:t>2</a:t>
            </a:r>
            <a:endParaRPr lang="en-US" sz="143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31343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Superoptimizers are slow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642616"/>
            <a:ext cx="5715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STOKE-style search is thorough but limited to small code blocks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218688"/>
            <a:ext cx="6720840" cy="914400"/>
          </a:xfrm>
          <a:prstGeom prst="roundRect">
            <a:avLst>
              <a:gd name="adj" fmla="val 8000"/>
            </a:avLst>
          </a:prstGeom>
          <a:solidFill>
            <a:schemeClr val="accent3">
              <a:alpha val="8000"/>
            </a:schemeClr>
          </a:solidFill>
          <a:ln w="9525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419856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419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chemeClr val="bg1"/>
                </a:solidFill>
              </a:rPr>
              <a:t>3</a:t>
            </a:r>
            <a:endParaRPr lang="en-US" sz="143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282696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 correctness guarantee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611880"/>
            <a:ext cx="5715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LLM code tools (Codex, Code Llama) can introduce bugs silently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187952"/>
            <a:ext cx="6720840" cy="914400"/>
          </a:xfrm>
          <a:prstGeom prst="roundRect">
            <a:avLst>
              <a:gd name="adj" fmla="val 8000"/>
            </a:avLst>
          </a:prstGeom>
          <a:solidFill>
            <a:schemeClr val="accent3">
              <a:alpha val="8000"/>
            </a:schemeClr>
          </a:solidFill>
          <a:ln w="9525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38912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chemeClr val="bg1"/>
                </a:solidFill>
              </a:rPr>
              <a:t>4</a:t>
            </a:r>
            <a:endParaRPr lang="en-US" sz="143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25196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Wrong level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581144"/>
            <a:ext cx="5715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LLM-for-compiler work targets pass ordering and flags, not code transformations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5157216"/>
            <a:ext cx="6720840" cy="914400"/>
          </a:xfrm>
          <a:prstGeom prst="roundRect">
            <a:avLst>
              <a:gd name="adj" fmla="val 8000"/>
            </a:avLst>
          </a:prstGeom>
          <a:solidFill>
            <a:schemeClr val="accent3">
              <a:alpha val="8000"/>
            </a:schemeClr>
          </a:solidFill>
          <a:ln w="9525">
            <a:solidFill>
              <a:schemeClr val="accent3">
                <a:alpha val="0"/>
              </a:scheme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5358384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5358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chemeClr val="bg1"/>
                </a:solidFill>
              </a:rPr>
              <a:t>5</a:t>
            </a:r>
            <a:endParaRPr lang="en-US" sz="143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522122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 verification gate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5550408"/>
            <a:ext cx="57150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Few systems check every LLM suggestion before accepting it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543800" y="1280160"/>
            <a:ext cx="4096512" cy="4791456"/>
          </a:xfrm>
          <a:prstGeom prst="roundRect">
            <a:avLst>
              <a:gd name="adj" fmla="val 1786"/>
            </a:avLst>
          </a:prstGeom>
          <a:solidFill>
            <a:schemeClr val="accent2">
              <a:alpha val="10000"/>
            </a:schemeClr>
          </a:solidFill>
          <a:ln w="9525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18120" y="155448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8140" y="1714500"/>
            <a:ext cx="320040" cy="320040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7818120" y="23317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2"/>
                </a:solidFill>
              </a:rPr>
              <a:t>Our contribution</a:t>
            </a:r>
            <a:endParaRPr lang="en-US" sz="2100" dirty="0"/>
          </a:p>
        </p:txBody>
      </p:sp>
      <p:sp>
        <p:nvSpPr>
          <p:cNvPr id="32" name="Text 29"/>
          <p:cNvSpPr txBox="1"/>
          <p:nvPr/>
        </p:nvSpPr>
        <p:spPr>
          <a:xfrm>
            <a:off x="7818120" y="283464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An agent that decides what to optimize, proposes transformations (rule-based + LLM), and accepts a change only after it is verified and shown to lower cost.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7818120" y="48463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0</a:t>
            </a:r>
            <a:endParaRPr lang="en-US" sz="1800" dirty="0"/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incorrect changes accepted in 10,978 proposals</a:t>
            </a:r>
            <a:endParaRPr lang="en-US" sz="18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Proposed Methodology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706858" y="1920240"/>
            <a:ext cx="853396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75338" y="15544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75338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chemeClr val="bg1"/>
                </a:solidFill>
              </a:rPr>
              <a:t>1</a:t>
            </a:r>
            <a:endParaRPr lang="en-US" sz="208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6888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Parse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880360"/>
            <a:ext cx="14386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Source → AST → Three-Address Code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91775" y="1920240"/>
            <a:ext cx="853396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560255" y="15544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2560255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chemeClr val="bg1"/>
                </a:solidFill>
              </a:rPr>
              <a:t>2</a:t>
            </a:r>
            <a:endParaRPr lang="en-US" sz="2080" dirty="0"/>
          </a:p>
        </p:txBody>
      </p:sp>
      <p:sp>
        <p:nvSpPr>
          <p:cNvPr id="11" name="Text 9"/>
          <p:cNvSpPr txBox="1"/>
          <p:nvPr/>
        </p:nvSpPr>
        <p:spPr>
          <a:xfrm>
            <a:off x="2179276" y="246888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Analyze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206708" y="2880360"/>
            <a:ext cx="14386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Find optimization opportunities, ranked by priority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76691" y="1920240"/>
            <a:ext cx="853396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145171" y="15544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4145171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chemeClr val="bg1"/>
                </a:solidFill>
              </a:rPr>
              <a:t>3</a:t>
            </a:r>
            <a:endParaRPr lang="en-US" sz="2080" dirty="0"/>
          </a:p>
        </p:txBody>
      </p:sp>
      <p:sp>
        <p:nvSpPr>
          <p:cNvPr id="16" name="Text 14"/>
          <p:cNvSpPr txBox="1"/>
          <p:nvPr/>
        </p:nvSpPr>
        <p:spPr>
          <a:xfrm>
            <a:off x="3764193" y="246888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Propose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791625" y="2880360"/>
            <a:ext cx="14386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Apply the top rule; or ask the LLM, as the router decides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61608" y="1920240"/>
            <a:ext cx="853396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730088" y="15544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5730088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chemeClr val="bg1"/>
                </a:solidFill>
              </a:rPr>
              <a:t>4</a:t>
            </a:r>
            <a:endParaRPr lang="en-US" sz="2080" dirty="0"/>
          </a:p>
        </p:txBody>
      </p:sp>
      <p:sp>
        <p:nvSpPr>
          <p:cNvPr id="21" name="Text 19"/>
          <p:cNvSpPr txBox="1"/>
          <p:nvPr/>
        </p:nvSpPr>
        <p:spPr>
          <a:xfrm>
            <a:off x="5349109" y="246888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Verify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376541" y="2880360"/>
            <a:ext cx="14386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Differential testing + symbolic check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046524" y="1920240"/>
            <a:ext cx="853396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315004" y="15544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7315004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chemeClr val="bg1"/>
                </a:solidFill>
              </a:rPr>
              <a:t>5</a:t>
            </a:r>
            <a:endParaRPr lang="en-US" sz="2080" dirty="0"/>
          </a:p>
        </p:txBody>
      </p:sp>
      <p:sp>
        <p:nvSpPr>
          <p:cNvPr id="26" name="Text 24"/>
          <p:cNvSpPr txBox="1"/>
          <p:nvPr/>
        </p:nvSpPr>
        <p:spPr>
          <a:xfrm>
            <a:off x="6934026" y="246888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Evaluate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961458" y="2880360"/>
            <a:ext cx="14386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Accept only if the weighted cost drops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631441" y="1920240"/>
            <a:ext cx="853396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8899921" y="15544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8899921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chemeClr val="bg1"/>
                </a:solidFill>
              </a:rPr>
              <a:t>6</a:t>
            </a:r>
            <a:endParaRPr lang="en-US" sz="2080" dirty="0"/>
          </a:p>
        </p:txBody>
      </p:sp>
      <p:sp>
        <p:nvSpPr>
          <p:cNvPr id="31" name="Text 29"/>
          <p:cNvSpPr txBox="1"/>
          <p:nvPr/>
        </p:nvSpPr>
        <p:spPr>
          <a:xfrm>
            <a:off x="8518942" y="246888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Repeat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546374" y="2880360"/>
            <a:ext cx="14386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Until nothing is left (max 50 iterations)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10484837" y="15544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10484837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chemeClr val="bg1"/>
                </a:solidFill>
              </a:rPr>
              <a:t>7</a:t>
            </a:r>
            <a:endParaRPr lang="en-US" sz="2080" dirty="0"/>
          </a:p>
        </p:txBody>
      </p:sp>
      <p:sp>
        <p:nvSpPr>
          <p:cNvPr id="35" name="Text 33"/>
          <p:cNvSpPr txBox="1"/>
          <p:nvPr/>
        </p:nvSpPr>
        <p:spPr>
          <a:xfrm>
            <a:off x="10103859" y="2468880"/>
            <a:ext cx="1493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Final check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10131291" y="2880360"/>
            <a:ext cx="14386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Re-verify the result against the original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48640" y="4434840"/>
            <a:ext cx="11094415" cy="1463040"/>
          </a:xfrm>
          <a:prstGeom prst="roundRect">
            <a:avLst>
              <a:gd name="adj" fmla="val 5000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0"/>
              </a:schemeClr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822960" y="48463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5006340"/>
            <a:ext cx="320040" cy="320040"/>
          </a:xfrm>
          <a:prstGeom prst="rect">
            <a:avLst/>
          </a:prstGeom>
        </p:spPr>
      </p:pic>
      <p:sp>
        <p:nvSpPr>
          <p:cNvPr id="40" name="Text 37"/>
          <p:cNvSpPr txBox="1"/>
          <p:nvPr/>
        </p:nvSpPr>
        <p:spPr>
          <a:xfrm>
            <a:off x="1691640" y="46451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Key design principle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1691640" y="5029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The LLM is only a proposer. Its suggestions go through exactly the same verification and cost gates as the rule-based ones, so a wrong suggestion is caught and rejected.</a:t>
            </a:r>
            <a:endParaRPr lang="en-US" sz="17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Dataset: 500 Programs, 7 Categories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680960" cy="4641088"/>
        </p:xfrm>
        <a:graphic>
          <a:graphicData uri="http://schemas.openxmlformats.org/drawingml/2006/table">
            <a:tbl>
              <a:tblPr/>
              <a:tblGrid>
                <a:gridCol w="1965960"/>
                <a:gridCol w="777240"/>
                <a:gridCol w="2468880"/>
                <a:gridCol w="2468880"/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optimization targets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Arithmetic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k = 1 + 14;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 folding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expressions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((a+b)*(c-d))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 folding, copy propagation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Repeated expressions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a*b computed twice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subexpression elimination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 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v = e*5; never used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 code elimination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/ while with invariant 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Folding inside loops, DCE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/ else with x*1, x+0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Algebraic simplification, folding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several of the above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of the above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503920" y="1280160"/>
            <a:ext cx="3136392" cy="1389888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8680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0" y="1577340"/>
            <a:ext cx="228600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281160" y="1435608"/>
            <a:ext cx="22128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Generated by dataset/generator.py with a fixed random seed, so it is reproducible</a:t>
            </a:r>
            <a:endParaRPr lang="en-US" sz="1500" dirty="0"/>
          </a:p>
        </p:txBody>
      </p:sp>
      <p:sp>
        <p:nvSpPr>
          <p:cNvPr id="3" name="Shape 4"/>
          <p:cNvSpPr/>
          <p:nvPr/>
        </p:nvSpPr>
        <p:spPr>
          <a:xfrm>
            <a:off x="8503920" y="2852928"/>
            <a:ext cx="3136392" cy="1389888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686800" y="30358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0" y="315010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281160" y="3008376"/>
            <a:ext cx="22128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Some programs read input variables, tested with random and boundary values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8503920" y="4425696"/>
            <a:ext cx="3136392" cy="1389888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8686800" y="460857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100" y="4722876"/>
            <a:ext cx="228600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281160" y="4581144"/>
            <a:ext cx="22128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Covers straight-line, branching, looping and nested code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Agent Workflow: The Optimization Loop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77240" y="1298448"/>
            <a:ext cx="27432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Analyze TAC: find opportunities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002536"/>
            <a:ext cx="2743200" cy="731520"/>
          </a:xfrm>
          <a:prstGeom prst="diamond">
            <a:avLst/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Any untried opportunity?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935224"/>
            <a:ext cx="27432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Pick top priority and propose (rules or an LLM)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3685032"/>
            <a:ext cx="2743200" cy="731520"/>
          </a:xfrm>
          <a:prstGeom prst="diamond">
            <a:avLst/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Verified correct?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4599432"/>
            <a:ext cx="2743200" cy="731520"/>
          </a:xfrm>
          <a:prstGeom prst="diamond">
            <a:avLst/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Cost lower?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5513832"/>
            <a:ext cx="274320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5875">
            <a:solidFill>
              <a:schemeClr val="accent2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ACCEPT: update program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148840" y="1801368"/>
            <a:ext cx="0" cy="201168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148840" y="2734056"/>
            <a:ext cx="0" cy="201168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2258568" y="273405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Yes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48840" y="3483864"/>
            <a:ext cx="0" cy="201168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148840" y="4416552"/>
            <a:ext cx="0" cy="18288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2258568" y="44165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Pass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48840" y="5330952"/>
            <a:ext cx="0" cy="18288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2258568" y="5330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Yes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77640" y="2093976"/>
            <a:ext cx="146304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Final check vs. original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15000" y="2139696"/>
            <a:ext cx="73152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END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77640" y="3799332"/>
            <a:ext cx="182880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5875">
            <a:solidFill>
              <a:schemeClr val="accent3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REJECT: invalid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77640" y="4713732"/>
            <a:ext cx="182880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5875">
            <a:solidFill>
              <a:schemeClr val="accent3"/>
            </a:solidFill>
          </a:ln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REJECT: no cost gain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520440" y="2368296"/>
            <a:ext cx="45720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440680" y="2368296"/>
            <a:ext cx="2743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520440" y="4050792"/>
            <a:ext cx="45720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3520440" y="4965192"/>
            <a:ext cx="45720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3566160" y="21031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No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566160" y="378561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Fail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566160" y="470001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No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806440" y="4050792"/>
            <a:ext cx="86868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5806440" y="4965192"/>
            <a:ext cx="86868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 flipV="1">
            <a:off x="6675120" y="1463040"/>
            <a:ext cx="0" cy="3502152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H="1">
            <a:off x="3520440" y="1463040"/>
            <a:ext cx="315468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3977640" y="5303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rejected: try the next one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 flipH="1">
            <a:off x="566928" y="5742432"/>
            <a:ext cx="210312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 flipV="1">
            <a:off x="566928" y="1627632"/>
            <a:ext cx="0" cy="411480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566928" y="1627632"/>
            <a:ext cx="210312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3611880" y="56509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accepted: analyze again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08660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330" y="1497330"/>
            <a:ext cx="251460" cy="251460"/>
          </a:xfrm>
          <a:prstGeom prst="rect">
            <a:avLst/>
          </a:prstGeom>
        </p:spPr>
      </p:pic>
      <p:sp>
        <p:nvSpPr>
          <p:cNvPr id="39" name="Text 36"/>
          <p:cNvSpPr txBox="1"/>
          <p:nvPr/>
        </p:nvSpPr>
        <p:spPr>
          <a:xfrm>
            <a:off x="7772400" y="1280160"/>
            <a:ext cx="3867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Max 50 iterations per program</a:t>
            </a:r>
            <a:endParaRPr lang="en-US" sz="1700" dirty="0"/>
          </a:p>
        </p:txBody>
      </p:sp>
      <p:sp>
        <p:nvSpPr>
          <p:cNvPr id="40" name="Shape 37"/>
          <p:cNvSpPr/>
          <p:nvPr/>
        </p:nvSpPr>
        <p:spPr>
          <a:xfrm>
            <a:off x="7086600" y="2322576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2330" y="2448306"/>
            <a:ext cx="251460" cy="251460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7772400" y="2231136"/>
            <a:ext cx="3867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On accept: clear the "already tried" list, since new opportunities may appear</a:t>
            </a:r>
            <a:endParaRPr lang="en-US" sz="1700" dirty="0"/>
          </a:p>
        </p:txBody>
      </p:sp>
      <p:sp>
        <p:nvSpPr>
          <p:cNvPr id="43" name="Shape 39"/>
          <p:cNvSpPr/>
          <p:nvPr/>
        </p:nvSpPr>
        <p:spPr>
          <a:xfrm>
            <a:off x="7086600" y="327355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2330" y="3399282"/>
            <a:ext cx="251460" cy="251460"/>
          </a:xfrm>
          <a:prstGeom prst="rect">
            <a:avLst/>
          </a:prstGeom>
        </p:spPr>
      </p:pic>
      <p:sp>
        <p:nvSpPr>
          <p:cNvPr id="45" name="Text 40"/>
          <p:cNvSpPr txBox="1"/>
          <p:nvPr/>
        </p:nvSpPr>
        <p:spPr>
          <a:xfrm>
            <a:off x="7772400" y="3182112"/>
            <a:ext cx="3867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On reject: remember it and try the next opportunity</a:t>
            </a:r>
            <a:endParaRPr lang="en-US" sz="1700" dirty="0"/>
          </a:p>
        </p:txBody>
      </p:sp>
      <p:sp>
        <p:nvSpPr>
          <p:cNvPr id="46" name="Shape 41"/>
          <p:cNvSpPr/>
          <p:nvPr/>
        </p:nvSpPr>
        <p:spPr>
          <a:xfrm>
            <a:off x="7086600" y="422452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2330" y="4350258"/>
            <a:ext cx="251460" cy="251460"/>
          </a:xfrm>
          <a:prstGeom prst="rect">
            <a:avLst/>
          </a:prstGeom>
        </p:spPr>
      </p:pic>
      <p:sp>
        <p:nvSpPr>
          <p:cNvPr id="48" name="Text 42"/>
          <p:cNvSpPr txBox="1"/>
          <p:nvPr/>
        </p:nvSpPr>
        <p:spPr>
          <a:xfrm>
            <a:off x="7772400" y="4133088"/>
            <a:ext cx="3867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In hybrid mode the LLM is asked when a rule is rejected or the rules run out</a:t>
            </a:r>
            <a:endParaRPr lang="en-US" sz="1700" dirty="0"/>
          </a:p>
        </p:txBody>
      </p:sp>
      <p:sp>
        <p:nvSpPr>
          <p:cNvPr id="49" name="Shape 43"/>
          <p:cNvSpPr/>
          <p:nvPr/>
        </p:nvSpPr>
        <p:spPr>
          <a:xfrm>
            <a:off x="7086600" y="517550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2330" y="5301234"/>
            <a:ext cx="251460" cy="251460"/>
          </a:xfrm>
          <a:prstGeom prst="rect">
            <a:avLst/>
          </a:prstGeom>
        </p:spPr>
      </p:pic>
      <p:sp>
        <p:nvSpPr>
          <p:cNvPr id="51" name="Text 44"/>
          <p:cNvSpPr txBox="1"/>
          <p:nvPr/>
        </p:nvSpPr>
        <p:spPr>
          <a:xfrm>
            <a:off x="7772400" y="5084064"/>
            <a:ext cx="3867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At the end: re-verify the optimized TAC against the original</a:t>
            </a:r>
            <a:endParaRPr lang="en-US" sz="170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Proposal Flow (Gemini Run)</a:t>
            </a:r>
            <a:endParaRPr lang="en-US" sz="3200" dirty="0"/>
          </a:p>
        </p:txBody>
      </p:sp>
      <p:pic>
        <p:nvPicPr>
          <p:cNvPr id="3" name="Image 0" descr="D:\nirupam\Desktop\compiler_project\presentation\plots\1_sankey_proposal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43374"/>
            <a:ext cx="8092440" cy="43198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915400" y="1280160"/>
            <a:ext cx="2727655" cy="4846320"/>
          </a:xfrm>
          <a:prstGeom prst="roundRect">
            <a:avLst>
              <a:gd name="adj" fmla="val 2682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0" y="1508760"/>
            <a:ext cx="2270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it shows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144000" y="2011680"/>
            <a:ext cx="23161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10,978</a:t>
            </a:r>
            <a:r>
              <a:rPr lang="en-US" sz="1600" dirty="0">
                <a:solidFill>
                  <a:schemeClr val="tx1"/>
                </a:solidFill>
              </a:rPr>
              <a:t> proposals in total (10,638 rule-based, 340 from Gemini)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10,952</a:t>
            </a:r>
            <a:r>
              <a:rPr lang="en-US" sz="1600" dirty="0">
                <a:solidFill>
                  <a:schemeClr val="tx1"/>
                </a:solidFill>
              </a:rPr>
              <a:t> passed verification; </a:t>
            </a:r>
            <a:r>
              <a:rPr lang="en-US" sz="1600" b="1" dirty="0">
                <a:solidFill>
                  <a:schemeClr val="tx1"/>
                </a:solidFill>
              </a:rPr>
              <a:t>26</a:t>
            </a:r>
            <a:r>
              <a:rPr lang="en-US" sz="1600" dirty="0">
                <a:solidFill>
                  <a:schemeClr val="tx1"/>
                </a:solidFill>
              </a:rPr>
              <a:t> were invalid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10,828</a:t>
            </a:r>
            <a:r>
              <a:rPr lang="en-US" sz="1600" dirty="0">
                <a:solidFill>
                  <a:schemeClr val="tx1"/>
                </a:solidFill>
              </a:rPr>
              <a:t> accepted; 124 rejected for no cost gain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All 26 invalid proposals came from the LLM and were blocked by the verifier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Outcomes by Type (Gemini Run)</a:t>
            </a:r>
            <a:endParaRPr lang="en-US" sz="3200" dirty="0"/>
          </a:p>
        </p:txBody>
      </p:sp>
      <p:pic>
        <p:nvPicPr>
          <p:cNvPr id="3" name="Image 0" descr="D:\nirupam\Desktop\compiler_project\presentation\plots\2_bar_outcomes_by_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83375"/>
            <a:ext cx="8092440" cy="463989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915400" y="1280160"/>
            <a:ext cx="2727655" cy="4846320"/>
          </a:xfrm>
          <a:prstGeom prst="roundRect">
            <a:avLst>
              <a:gd name="adj" fmla="val 2682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0" y="1508760"/>
            <a:ext cx="2270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it shows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144000" y="2011680"/>
            <a:ext cx="23161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Copy propagation</a:t>
            </a:r>
            <a:r>
              <a:rPr lang="en-US" sz="1600" dirty="0">
                <a:solidFill>
                  <a:schemeClr val="tx1"/>
                </a:solidFill>
              </a:rPr>
              <a:t> dominates: 6,465 accepted, because naive TAC creates many temporary copies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Strength reduction</a:t>
            </a:r>
            <a:r>
              <a:rPr lang="en-US" sz="1600" dirty="0">
                <a:solidFill>
                  <a:schemeClr val="tx1"/>
                </a:solidFill>
              </a:rPr>
              <a:t> has the most rule rejections (62): x*2 → x+x doesn't lower cost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LLM proposals:</a:t>
            </a:r>
            <a:r>
              <a:rPr lang="en-US" sz="1600" dirty="0">
                <a:solidFill>
                  <a:schemeClr val="tx1"/>
                </a:solidFill>
              </a:rPr>
              <a:t> 262 accepted, 52 no gain, 26 invalid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Accepted Optimizations (Gemini Run)</a:t>
            </a:r>
            <a:endParaRPr lang="en-US" sz="3200" dirty="0"/>
          </a:p>
        </p:txBody>
      </p:sp>
      <p:pic>
        <p:nvPicPr>
          <p:cNvPr id="3" name="Image 0" descr="D:\nirupam\Desktop\compiler_project\presentation\plots\4_pie_accepted_typ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08710"/>
            <a:ext cx="8092440" cy="478922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915400" y="1280160"/>
            <a:ext cx="2727655" cy="4846320"/>
          </a:xfrm>
          <a:prstGeom prst="roundRect">
            <a:avLst>
              <a:gd name="adj" fmla="val 2682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0" y="1508760"/>
            <a:ext cx="2270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it shows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144000" y="2011680"/>
            <a:ext cx="23161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Copy Propagation 59.7%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Dead Code 17.5%, Constant Fold 16.7%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LLM 2.4%, Algebraic 1.6%, CSE 1.4%, Strength Reduction 0.8%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LLM steps are few, but each one is large: a single step can replace a whole loop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Cost Over Iterations (Gemini Run)</a:t>
            </a:r>
            <a:endParaRPr lang="en-US" sz="3200" dirty="0"/>
          </a:p>
        </p:txBody>
      </p:sp>
      <p:pic>
        <p:nvPicPr>
          <p:cNvPr id="3" name="Image 0" descr="D:\nirupam\Desktop\compiler_project\presentation\plots\3_line_cost_over_iter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4106"/>
            <a:ext cx="8092440" cy="483842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915400" y="1280160"/>
            <a:ext cx="2727655" cy="4846320"/>
          </a:xfrm>
          <a:prstGeom prst="roundRect">
            <a:avLst>
              <a:gd name="adj" fmla="val 2682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0" y="1508760"/>
            <a:ext cx="2270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it shows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144000" y="2011680"/>
            <a:ext cx="23161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representative program from each main category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Cost falls steadily with each accepted optimization until no opportunities remain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sharp drop in loops_024 is a Gemini step: </a:t>
            </a:r>
            <a:r>
              <a:rPr lang="en-US" sz="1600" b="1" dirty="0">
                <a:solidFill>
                  <a:schemeClr val="tx1"/>
                </a:solidFill>
              </a:rPr>
              <a:t>"adds −1 twelve times" → total − 12</a:t>
            </a:r>
            <a:r>
              <a:rPr lang="en-US" sz="1600" dirty="0">
                <a:solidFill>
                  <a:schemeClr val="tx1"/>
                </a:solidFill>
              </a:rPr>
              <a:t>, cutting cost by 66.7% at once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Steps vs. Improvement (Gemini Run)</a:t>
            </a:r>
            <a:endParaRPr lang="en-US" sz="3200" dirty="0"/>
          </a:p>
        </p:txBody>
      </p:sp>
      <p:pic>
        <p:nvPicPr>
          <p:cNvPr id="3" name="Image 0" descr="D:\nirupam\Desktop\compiler_project\presentation\plots\5_scatter_steps_vs_improv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14454"/>
            <a:ext cx="8092440" cy="397773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915400" y="1280160"/>
            <a:ext cx="2727655" cy="4846320"/>
          </a:xfrm>
          <a:prstGeom prst="roundRect">
            <a:avLst>
              <a:gd name="adj" fmla="val 2682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0" y="1508760"/>
            <a:ext cx="2270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it shows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144000" y="2011680"/>
            <a:ext cx="23161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panel per category; grey dots are all other programs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Overall trend: </a:t>
            </a:r>
            <a:r>
              <a:rPr lang="en-US" sz="1600" b="1" dirty="0">
                <a:solidFill>
                  <a:schemeClr val="tx1"/>
                </a:solidFill>
              </a:rPr>
              <a:t>+0.41 percentage points per step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Programs that take more steps tend to reach higher reductions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Where Optimizations Applied (Gemini Run)</a:t>
            </a:r>
            <a:endParaRPr lang="en-US" sz="3200" dirty="0"/>
          </a:p>
        </p:txBody>
      </p:sp>
      <p:pic>
        <p:nvPicPr>
          <p:cNvPr id="3" name="Image 0" descr="D:\nirupam\Desktop\compiler_project\presentation\plots\6_heatmap_category_vs_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0793"/>
            <a:ext cx="8092440" cy="466505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915400" y="1280160"/>
            <a:ext cx="2727655" cy="4846320"/>
          </a:xfrm>
          <a:prstGeom prst="roundRect">
            <a:avLst>
              <a:gd name="adj" fmla="val 2682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0" y="1508760"/>
            <a:ext cx="2270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it shows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144000" y="2011680"/>
            <a:ext cx="23161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Copy propagation is the most applied in every category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Nested programs have the most constant folds (</a:t>
            </a:r>
            <a:r>
              <a:rPr lang="en-US" sz="1600" b="1" dirty="0">
                <a:solidFill>
                  <a:schemeClr val="tx1"/>
                </a:solidFill>
              </a:rPr>
              <a:t>527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Mixed programs have the most dead-code removals (</a:t>
            </a:r>
            <a:r>
              <a:rPr lang="en-US" sz="1600" b="1" dirty="0">
                <a:solidFill>
                  <a:schemeClr val="tx1"/>
                </a:solidFill>
              </a:rPr>
              <a:t>463</a:t>
            </a:r>
            <a:r>
              <a:rPr lang="en-US" sz="1600" dirty="0">
                <a:solidFill>
                  <a:schemeClr val="tx1"/>
                </a:solidFill>
              </a:rPr>
              <a:t>)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Gemini helped mostly in loops (87), conditionals (62) and mixed (99)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Rules Only vs. Rules + Gemini</a:t>
            </a:r>
            <a:endParaRPr lang="en-US" sz="3200" dirty="0"/>
          </a:p>
        </p:txBody>
      </p:sp>
      <p:pic>
        <p:nvPicPr>
          <p:cNvPr id="3" name="Image 0" descr="D:\nirupam\Desktop\compiler_project\presentation\plots\7_comparison_rule_vs_ll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7597366" cy="4846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915400" y="1280160"/>
            <a:ext cx="2727655" cy="4846320"/>
          </a:xfrm>
          <a:prstGeom prst="roundRect">
            <a:avLst>
              <a:gd name="adj" fmla="val 2682"/>
            </a:avLst>
          </a:prstGeom>
          <a:solidFill>
            <a:schemeClr val="bg2"/>
          </a:solidFill>
          <a:ln w="9525">
            <a:solidFill>
              <a:schemeClr val="bg2">
                <a:alpha val="0"/>
              </a:scheme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0" y="1508760"/>
            <a:ext cx="2270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it shows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9144000" y="2011680"/>
            <a:ext cx="23161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Loops: </a:t>
            </a:r>
            <a:r>
              <a:rPr lang="en-US" sz="1600" dirty="0">
                <a:solidFill>
                  <a:schemeClr val="tx1"/>
                </a:solidFill>
              </a:rPr>
              <a:t>65.1% → 93.3%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Conditionals: </a:t>
            </a:r>
            <a:r>
              <a:rPr lang="en-US" sz="1600" dirty="0">
                <a:solidFill>
                  <a:schemeClr val="tx1"/>
                </a:solidFill>
              </a:rPr>
              <a:t>73.9% → 84.1%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Mixed: </a:t>
            </a:r>
            <a:r>
              <a:rPr lang="en-US" sz="1600" dirty="0">
                <a:solidFill>
                  <a:schemeClr val="tx1"/>
                </a:solidFill>
              </a:rPr>
              <a:t>77.9% → 91.6%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196 programs improved</a:t>
            </a:r>
            <a:r>
              <a:rPr lang="en-US" sz="1600" dirty="0">
                <a:solidFill>
                  <a:schemeClr val="tx1"/>
                </a:solidFill>
              </a:rPr>
              <a:t>, none got worse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3949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[1]  Aho, A.V., Lam, M.S., Sethi, R. &amp; Ullman, J.D. (2006). Compilers: Principles, Techniques, and Tools (2nd ed.). Pearson.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[2]  Massalin, H. (1987). Superoptimizer: A Look at the Smallest Program. ASPLOS.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[3]  Schkufza, E., Sharma, R. &amp; Aiken, A. (2013). Stochastic Superoptimization. ASPLOS.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[4]  Phothilimthana, P.M. et al. (2016). Scaling up Superoptimization. ASPLOS.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[5]  Pnueli, A., Siegel, M. &amp; Singerman, E. (1998). Translation Validation. TACAS.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[6]  Necula, G.C. (2000). Translation Validation for an Optimizing Compiler. PLDI.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245352" y="1325880"/>
            <a:ext cx="53949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[7]  Chen, M. et al. (2021). Evaluating Large Language Models Trained on Code. arXiv:2107.03374.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[8]  Rozière, B. et al. (2023). Code Llama: Open Foundation Models for Code. arXiv:2308.12950.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[9]  Cummins, C. et al. (2022). CompilerGym: Robust, Performant Compiler Optimization Environments for AI Research. CGO.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[10]  Cummins, C. et al. (2024). Meta Large Language Model Compiler: Foundation Models of Compiler Optimization. arXiv:2407.02524.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[11]  Wu, Q. et al. (2023). AutoGen: Enabling Next-Gen LLM Applications via Multi-Agent Conversation. arXiv:2308.08155.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[12]  Gemini Team, Google (2023). Gemini: A Family of Highly Capable Multimodal Models. arXiv:2312.11805.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[13]  Ollama (2026). Ollama: run large language models locally. https://ollama.com</a:t>
            </a:r>
            <a:endParaRPr lang="en-US" sz="160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[14]  Groq (2026). GroqCloud API documentation. https://console.groq.com/docs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Review-01 Comments and Our Response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11091672" cy="1444752"/>
          </a:xfrm>
          <a:prstGeom prst="roundRect">
            <a:avLst>
              <a:gd name="adj" fmla="val 5063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2960" y="1591056"/>
            <a:ext cx="640080" cy="6400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579" y="1744675"/>
            <a:ext cx="332842" cy="33284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737360" y="1463040"/>
            <a:ext cx="96286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1">
                <a:solidFill>
                  <a:schemeClr val="accent1"/>
                </a:solidFill>
              </a:rPr>
              <a:t xml:space="preserve">Comment 1:  </a:t>
            </a:r>
            <a:r>
              <a:rPr sz="1900" b="1">
                <a:solidFill>
                  <a:schemeClr val="tx1"/>
                </a:solidFill>
              </a:rPr>
              <a:t xml:space="preserve">Edit the system architecture to incorporate the features of its components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1993392"/>
            <a:ext cx="96286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50" b="1">
                <a:solidFill>
                  <a:schemeClr val="accent1"/>
                </a:solidFill>
              </a:rPr>
              <a:t xml:space="preserve">Response / action: </a:t>
            </a:r>
            <a:r>
              <a:rPr sz="1450" b="0">
                <a:solidFill>
                  <a:schemeClr val="tx1"/>
                </a:solidFill>
              </a:rPr>
              <a:t xml:space="preserve">The architecture slide and the report figure now list the components inside every agent and show where a run ends: final check, outputs, end.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2907792"/>
            <a:ext cx="11091672" cy="1444752"/>
          </a:xfrm>
          <a:prstGeom prst="roundRect">
            <a:avLst>
              <a:gd name="adj" fmla="val 5063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2960" y="3218688"/>
            <a:ext cx="640080" cy="6400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3372307"/>
            <a:ext cx="332842" cy="33284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737360" y="3090672"/>
            <a:ext cx="96286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1">
                <a:solidFill>
                  <a:schemeClr val="accent4"/>
                </a:solidFill>
              </a:rPr>
              <a:t xml:space="preserve">Comment 2:  </a:t>
            </a:r>
            <a:r>
              <a:rPr sz="1900" b="1">
                <a:solidFill>
                  <a:schemeClr val="tx1"/>
                </a:solidFill>
              </a:rPr>
              <a:t xml:space="preserve">Add more LLMs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3621024"/>
            <a:ext cx="96286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50" b="1">
                <a:solidFill>
                  <a:schemeClr val="accent4"/>
                </a:solidFill>
              </a:rPr>
              <a:t xml:space="preserve">Response / action: </a:t>
            </a:r>
            <a:r>
              <a:rPr sz="1450" b="0">
                <a:solidFill>
                  <a:schemeClr val="tx1"/>
                </a:solidFill>
              </a:rPr>
              <a:t xml:space="preserve">Three LLM backends now sit behind one router: Google Gemini, Groq, and a local Ollama model that works offline.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535424"/>
            <a:ext cx="11091672" cy="1444752"/>
          </a:xfrm>
          <a:prstGeom prst="roundRect">
            <a:avLst>
              <a:gd name="adj" fmla="val 5063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2960" y="4846320"/>
            <a:ext cx="640080" cy="6400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" y="4999939"/>
            <a:ext cx="332842" cy="33284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737360" y="4718304"/>
            <a:ext cx="96286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1">
                <a:solidFill>
                  <a:schemeClr val="accent2"/>
                </a:solidFill>
              </a:rPr>
              <a:t xml:space="preserve">Comment 3:  </a:t>
            </a:r>
            <a:r>
              <a:rPr sz="1900" b="1">
                <a:solidFill>
                  <a:schemeClr val="tx1"/>
                </a:solidFill>
              </a:rPr>
              <a:t xml:space="preserve">Add more analysing figures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37360" y="5248656"/>
            <a:ext cx="96286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50" b="1">
                <a:solidFill>
                  <a:schemeClr val="accent2"/>
                </a:solidFill>
              </a:rPr>
              <a:t xml:space="preserve">Response / action: </a:t>
            </a:r>
            <a:r>
              <a:rPr sz="1450" b="0">
                <a:solidFill>
                  <a:schemeClr val="tx1"/>
                </a:solidFill>
              </a:rPr>
              <a:t xml:space="preserve">Added the class and data-flow diagrams, a comparison chart for each LLM against the rules, analysis charts for the Groq and Ollama runs in the report, and result tables for all four configurations.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Objectives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548640" y="1399032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1530706"/>
            <a:ext cx="285293" cy="28529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98448" y="1325880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tx1"/>
                </a:solidFill>
              </a:rPr>
              <a:t xml:space="preserve">Agent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1728216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Five components as separate classes with clear interfaces</a:t>
            </a:r>
          </a:p>
        </p:txBody>
      </p:sp>
      <p:sp>
        <p:nvSpPr>
          <p:cNvPr id="30" name="Oval 29"/>
          <p:cNvSpPr/>
          <p:nvPr/>
        </p:nvSpPr>
        <p:spPr>
          <a:xfrm>
            <a:off x="548640" y="260604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2737714"/>
            <a:ext cx="285293" cy="28529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298448" y="2532888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tx1"/>
                </a:solidFill>
              </a:rPr>
              <a:t xml:space="preserve">Orchestrator loop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2935224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Analyze → Propose → Verify → Evaluate → Accept/Reject</a:t>
            </a:r>
          </a:p>
        </p:txBody>
      </p:sp>
      <p:sp>
        <p:nvSpPr>
          <p:cNvPr id="34" name="Oval 33"/>
          <p:cNvSpPr/>
          <p:nvPr/>
        </p:nvSpPr>
        <p:spPr>
          <a:xfrm>
            <a:off x="548640" y="3813048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3944722"/>
            <a:ext cx="285293" cy="28529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98448" y="3739896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tx1"/>
                </a:solidFill>
              </a:rPr>
              <a:t xml:space="preserve">6 optimization types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98448" y="4142232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Folding, algebraic, dead code, CSE, strength reduction, copy propagation</a:t>
            </a:r>
          </a:p>
        </p:txBody>
      </p:sp>
      <p:sp>
        <p:nvSpPr>
          <p:cNvPr id="38" name="Oval 37"/>
          <p:cNvSpPr/>
          <p:nvPr/>
        </p:nvSpPr>
        <p:spPr>
          <a:xfrm>
            <a:off x="548640" y="5020056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5151730"/>
            <a:ext cx="285293" cy="28529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298448" y="4946904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tx1"/>
                </a:solidFill>
              </a:rPr>
              <a:t xml:space="preserve">Dual verification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98448" y="534924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Differential testing on hundreds of input sets + symbolic equivalence</a:t>
            </a:r>
          </a:p>
        </p:txBody>
      </p:sp>
      <p:sp>
        <p:nvSpPr>
          <p:cNvPr id="42" name="Oval 41"/>
          <p:cNvSpPr/>
          <p:nvPr/>
        </p:nvSpPr>
        <p:spPr>
          <a:xfrm>
            <a:off x="6217920" y="1399032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594" y="1530706"/>
            <a:ext cx="285293" cy="285293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967728" y="1325880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tx1"/>
                </a:solidFill>
              </a:rPr>
              <a:t xml:space="preserve">Cost-gated acceptance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1728216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Accept only if verified correct AND cheaper</a:t>
            </a:r>
          </a:p>
        </p:txBody>
      </p:sp>
      <p:sp>
        <p:nvSpPr>
          <p:cNvPr id="46" name="Oval 45"/>
          <p:cNvSpPr/>
          <p:nvPr/>
        </p:nvSpPr>
        <p:spPr>
          <a:xfrm>
            <a:off x="6217920" y="2606040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594" y="2737714"/>
            <a:ext cx="285293" cy="28529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967728" y="2532888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tx1"/>
                </a:solidFill>
              </a:rPr>
              <a:t xml:space="preserve">LLM proposers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67728" y="2935224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Gemini, Groq and a local Ollama model behind one router</a:t>
            </a:r>
          </a:p>
        </p:txBody>
      </p:sp>
      <p:sp>
        <p:nvSpPr>
          <p:cNvPr id="50" name="Oval 49"/>
          <p:cNvSpPr/>
          <p:nvPr/>
        </p:nvSpPr>
        <p:spPr>
          <a:xfrm>
            <a:off x="6217920" y="3813048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594" y="3944722"/>
            <a:ext cx="285293" cy="285293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967728" y="3739896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tx1"/>
                </a:solidFill>
              </a:rPr>
              <a:t xml:space="preserve">Offline mode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67728" y="4142232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The whole agent runs with no internet connection</a:t>
            </a:r>
          </a:p>
        </p:txBody>
      </p:sp>
      <p:sp>
        <p:nvSpPr>
          <p:cNvPr id="54" name="Oval 53"/>
          <p:cNvSpPr/>
          <p:nvPr/>
        </p:nvSpPr>
        <p:spPr>
          <a:xfrm>
            <a:off x="6217920" y="5020056"/>
            <a:ext cx="548640" cy="5486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594" y="5151730"/>
            <a:ext cx="285293" cy="285293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967728" y="4946904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tx1"/>
                </a:solidFill>
              </a:rPr>
              <a:t xml:space="preserve">Full evaluation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67728" y="534924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500 programs, the 6 required metrics, 7 charts, 4 configurations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143000"/>
            <a:ext cx="1691640" cy="384048"/>
          </a:xfrm>
          <a:prstGeom prst="roundRect">
            <a:avLst>
              <a:gd name="adj" fmla="val 16666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" y="1143000"/>
            <a:ext cx="16184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chemeClr val="tx1"/>
                </a:solidFill>
              </a:rPr>
              <a:t xml:space="preserve">Source program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28646" y="1143000"/>
            <a:ext cx="1691640" cy="384048"/>
          </a:xfrm>
          <a:prstGeom prst="roundRect">
            <a:avLst>
              <a:gd name="adj" fmla="val 16666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5222" y="1143000"/>
            <a:ext cx="16184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chemeClr val="tx1"/>
                </a:solidFill>
              </a:rPr>
              <a:t xml:space="preserve">Lexer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240280" y="1335024"/>
            <a:ext cx="188366" cy="0"/>
          </a:xfrm>
          <a:prstGeom prst="line">
            <a:avLst/>
          </a:prstGeom>
          <a:ln w="15875">
            <a:solidFill>
              <a:schemeClr val="accent5"/>
            </a:solidFill>
            <a:tailEnd type="triangle"/>
          </a:ln>
        </p:spPr>
      </p:cxnSp>
      <p:sp>
        <p:nvSpPr>
          <p:cNvPr id="31" name="Rounded Rectangle 30"/>
          <p:cNvSpPr/>
          <p:nvPr/>
        </p:nvSpPr>
        <p:spPr>
          <a:xfrm>
            <a:off x="4308653" y="1143000"/>
            <a:ext cx="1691640" cy="384048"/>
          </a:xfrm>
          <a:prstGeom prst="roundRect">
            <a:avLst>
              <a:gd name="adj" fmla="val 16666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5229" y="1143000"/>
            <a:ext cx="16184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chemeClr val="tx1"/>
                </a:solidFill>
              </a:rPr>
              <a:t xml:space="preserve">Parser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120286" y="1335024"/>
            <a:ext cx="188367" cy="0"/>
          </a:xfrm>
          <a:prstGeom prst="line">
            <a:avLst/>
          </a:prstGeom>
          <a:ln w="15875">
            <a:solidFill>
              <a:schemeClr val="accent5"/>
            </a:solidFill>
            <a:tailEnd type="triangle"/>
          </a:ln>
        </p:spPr>
      </p:cxnSp>
      <p:sp>
        <p:nvSpPr>
          <p:cNvPr id="34" name="Rounded Rectangle 33"/>
          <p:cNvSpPr/>
          <p:nvPr/>
        </p:nvSpPr>
        <p:spPr>
          <a:xfrm>
            <a:off x="6188659" y="1143000"/>
            <a:ext cx="1691640" cy="384048"/>
          </a:xfrm>
          <a:prstGeom prst="roundRect">
            <a:avLst>
              <a:gd name="adj" fmla="val 16666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5235" y="1143000"/>
            <a:ext cx="16184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chemeClr val="tx1"/>
                </a:solidFill>
              </a:rPr>
              <a:t xml:space="preserve">AST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00293" y="1335024"/>
            <a:ext cx="188366" cy="0"/>
          </a:xfrm>
          <a:prstGeom prst="line">
            <a:avLst/>
          </a:prstGeom>
          <a:ln w="15875">
            <a:solidFill>
              <a:schemeClr val="accent5"/>
            </a:solidFill>
            <a:tailEnd type="triangle"/>
          </a:ln>
        </p:spPr>
      </p:cxnSp>
      <p:sp>
        <p:nvSpPr>
          <p:cNvPr id="37" name="Rounded Rectangle 36"/>
          <p:cNvSpPr/>
          <p:nvPr/>
        </p:nvSpPr>
        <p:spPr>
          <a:xfrm>
            <a:off x="8068666" y="1143000"/>
            <a:ext cx="1691640" cy="384048"/>
          </a:xfrm>
          <a:prstGeom prst="roundRect">
            <a:avLst>
              <a:gd name="adj" fmla="val 16666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05242" y="1143000"/>
            <a:ext cx="16184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chemeClr val="tx1"/>
                </a:solidFill>
              </a:rPr>
              <a:t xml:space="preserve">TAC Generator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880299" y="1335024"/>
            <a:ext cx="188367" cy="0"/>
          </a:xfrm>
          <a:prstGeom prst="line">
            <a:avLst/>
          </a:prstGeom>
          <a:ln w="15875">
            <a:solidFill>
              <a:schemeClr val="accent5"/>
            </a:solidFill>
            <a:tailEnd type="triangle"/>
          </a:ln>
        </p:spPr>
      </p:cxnSp>
      <p:sp>
        <p:nvSpPr>
          <p:cNvPr id="40" name="Rounded Rectangle 39"/>
          <p:cNvSpPr/>
          <p:nvPr/>
        </p:nvSpPr>
        <p:spPr>
          <a:xfrm>
            <a:off x="9948672" y="1143000"/>
            <a:ext cx="1691640" cy="384048"/>
          </a:xfrm>
          <a:prstGeom prst="roundRect">
            <a:avLst>
              <a:gd name="adj" fmla="val 16666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85248" y="1143000"/>
            <a:ext cx="16184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chemeClr val="tx1"/>
                </a:solidFill>
              </a:rPr>
              <a:t xml:space="preserve">TAC program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760306" y="1335024"/>
            <a:ext cx="188366" cy="0"/>
          </a:xfrm>
          <a:prstGeom prst="line">
            <a:avLst/>
          </a:prstGeom>
          <a:ln w="15875">
            <a:solidFill>
              <a:schemeClr val="accent5"/>
            </a:solidFill>
            <a:tailEnd type="triangle"/>
          </a:ln>
        </p:spPr>
      </p:cxnSp>
      <p:cxnSp>
        <p:nvCxnSpPr>
          <p:cNvPr id="43" name="Connector 42"/>
          <p:cNvCxnSpPr/>
          <p:nvPr/>
        </p:nvCxnSpPr>
        <p:spPr>
          <a:xfrm>
            <a:off x="10789920" y="1527048"/>
            <a:ext cx="0" cy="118872"/>
          </a:xfrm>
          <a:prstGeom prst="line">
            <a:avLst/>
          </a:prstGeom>
          <a:ln w="15875">
            <a:solidFill>
              <a:schemeClr val="accent5"/>
            </a:solidFill>
          </a:ln>
        </p:spPr>
      </p:cxnSp>
      <p:cxnSp>
        <p:nvCxnSpPr>
          <p:cNvPr id="44" name="Connector 43"/>
          <p:cNvCxnSpPr/>
          <p:nvPr/>
        </p:nvCxnSpPr>
        <p:spPr>
          <a:xfrm flipH="1">
            <a:off x="2011680" y="1645920"/>
            <a:ext cx="8778240" cy="0"/>
          </a:xfrm>
          <a:prstGeom prst="line">
            <a:avLst/>
          </a:prstGeom>
          <a:ln w="15875">
            <a:solidFill>
              <a:schemeClr val="accent5"/>
            </a:solidFill>
          </a:ln>
        </p:spPr>
      </p:cxnSp>
      <p:cxnSp>
        <p:nvCxnSpPr>
          <p:cNvPr id="45" name="Connector 44"/>
          <p:cNvCxnSpPr/>
          <p:nvPr/>
        </p:nvCxnSpPr>
        <p:spPr>
          <a:xfrm>
            <a:off x="2011680" y="1645920"/>
            <a:ext cx="0" cy="640080"/>
          </a:xfrm>
          <a:prstGeom prst="line">
            <a:avLst/>
          </a:prstGeom>
          <a:ln w="15875">
            <a:solidFill>
              <a:schemeClr val="accent5"/>
            </a:solidFill>
            <a:tailEnd type="triangle"/>
          </a:ln>
        </p:spPr>
      </p:cxnSp>
      <p:sp>
        <p:nvSpPr>
          <p:cNvPr id="46" name="Rounded Rectangle 45"/>
          <p:cNvSpPr/>
          <p:nvPr/>
        </p:nvSpPr>
        <p:spPr>
          <a:xfrm>
            <a:off x="548640" y="1764792"/>
            <a:ext cx="11091672" cy="3758184"/>
          </a:xfrm>
          <a:prstGeom prst="roundRect">
            <a:avLst>
              <a:gd name="adj" fmla="val 2433"/>
            </a:avLst>
          </a:prstGeom>
          <a:solidFill>
            <a:schemeClr val="accent1">
              <a:alpha val="5000"/>
            </a:schemeClr>
          </a:solidFill>
          <a:ln w="15875">
            <a:solidFill>
              <a:schemeClr val="accent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77440" y="1837944"/>
            <a:ext cx="90342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1">
                <a:solidFill>
                  <a:schemeClr val="accent1"/>
                </a:solidFill>
              </a:rPr>
              <a:t xml:space="preserve">Orchestrator </a:t>
            </a:r>
            <a:r>
              <a:rPr sz="1050" b="0">
                <a:solidFill>
                  <a:schemeClr val="accent1"/>
                </a:solidFill>
                <a:latin typeface="Consolas"/>
              </a:rPr>
              <a:t xml:space="preserve">(orchestrator.py)  </a:t>
            </a:r>
            <a:r>
              <a:rPr sz="1200" b="1">
                <a:solidFill>
                  <a:schemeClr val="tx1"/>
                </a:solidFill>
              </a:rPr>
              <a:t xml:space="preserve">Components: </a:t>
            </a:r>
            <a:r>
              <a:rPr sz="1200" b="0">
                <a:solidFill>
                  <a:schemeClr val="tx1"/>
                </a:solidFill>
              </a:rPr>
              <a:t xml:space="preserve">loop controller (up to 50 iterations), memory of the opportunities already tried, decision logger, final checker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" y="2286000"/>
            <a:ext cx="2487168" cy="246888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6112" y="2359152"/>
            <a:ext cx="224942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chemeClr val="tx1"/>
                </a:solidFill>
              </a:rPr>
              <a:t xml:space="preserve">1  Code Analysis Specialist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112" y="2596896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chemeClr val="accent1"/>
                </a:solidFill>
                <a:latin typeface="Consolas"/>
              </a:rPr>
              <a:t xml:space="preserve">code_analyzer.py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6112" y="2807208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>
                <a:solidFill>
                  <a:schemeClr val="accent5"/>
                </a:solidFill>
              </a:rPr>
              <a:t xml:space="preserve">In: </a:t>
            </a:r>
            <a:r>
              <a:rPr sz="1050" b="0">
                <a:solidFill>
                  <a:schemeClr val="tx2"/>
                </a:solidFill>
              </a:rPr>
              <a:t xml:space="preserve">the current TAC program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" y="3035808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>
                <a:solidFill>
                  <a:schemeClr val="accent1"/>
                </a:solidFill>
              </a:rPr>
              <a:t xml:space="preserve">Components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" y="3236976"/>
            <a:ext cx="224942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Control-flow graph builder</a:t>
            </a:r>
          </a:p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Liveness analysis</a:t>
            </a:r>
          </a:p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Available-copies analysis</a:t>
            </a:r>
          </a:p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Six detectors: constant fold, algebraic, dead code, CSE, strength reduction, copy propagation</a:t>
            </a:r>
          </a:p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Priority ranker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" y="4480560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050" b="1">
                <a:solidFill>
                  <a:schemeClr val="accent2"/>
                </a:solidFill>
              </a:rPr>
              <a:t xml:space="preserve">Out: </a:t>
            </a:r>
            <a:r>
              <a:rPr sz="1050" b="0">
                <a:solidFill>
                  <a:schemeClr val="tx1"/>
                </a:solidFill>
              </a:rPr>
              <a:t xml:space="preserve">opportunities ranked by priority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93008" y="2286000"/>
            <a:ext cx="2487168" cy="246888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11880" y="2359152"/>
            <a:ext cx="224942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chemeClr val="tx1"/>
                </a:solidFill>
              </a:rPr>
              <a:t xml:space="preserve">2  Optimization Specialist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11880" y="2596896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chemeClr val="accent1"/>
                </a:solidFill>
                <a:latin typeface="Consolas"/>
              </a:rPr>
              <a:t xml:space="preserve">optimization_specialist.py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11880" y="2807208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>
                <a:solidFill>
                  <a:schemeClr val="accent5"/>
                </a:solidFill>
              </a:rPr>
              <a:t xml:space="preserve">In: </a:t>
            </a:r>
            <a:r>
              <a:rPr sz="1050" b="0">
                <a:solidFill>
                  <a:schemeClr val="tx2"/>
                </a:solidFill>
              </a:rPr>
              <a:t xml:space="preserve">the program and its opportunities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11880" y="3035808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>
                <a:solidFill>
                  <a:schemeClr val="accent1"/>
                </a:solidFill>
              </a:rPr>
              <a:t xml:space="preserve">Components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11880" y="3236976"/>
            <a:ext cx="224942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Router: rule, hybrid or llm mode</a:t>
            </a:r>
          </a:p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Rule-based optimizer (optimizer_rule.py)</a:t>
            </a:r>
          </a:p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LLM optimizer (optimizer_llm.py)</a:t>
            </a:r>
          </a:p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LLM backends: Gemini, Groq, Ollama</a:t>
            </a:r>
          </a:p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Prompt builder and TAC reply parser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11880" y="4480560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050" b="1">
                <a:solidFill>
                  <a:schemeClr val="accent2"/>
                </a:solidFill>
              </a:rPr>
              <a:t xml:space="preserve">Out: </a:t>
            </a:r>
            <a:r>
              <a:rPr sz="1050" b="0">
                <a:solidFill>
                  <a:schemeClr val="tx1"/>
                </a:solidFill>
              </a:rPr>
              <a:t xml:space="preserve">one candidate program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3264408" y="3520440"/>
            <a:ext cx="228600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</p:cxnSp>
      <p:sp>
        <p:nvSpPr>
          <p:cNvPr id="63" name="Rounded Rectangle 62"/>
          <p:cNvSpPr/>
          <p:nvPr/>
        </p:nvSpPr>
        <p:spPr>
          <a:xfrm>
            <a:off x="6208776" y="2286000"/>
            <a:ext cx="2487168" cy="246888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27648" y="2359152"/>
            <a:ext cx="224942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chemeClr val="tx1"/>
                </a:solidFill>
              </a:rPr>
              <a:t xml:space="preserve">3  Verification Module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27648" y="2596896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chemeClr val="accent1"/>
                </a:solidFill>
                <a:latin typeface="Consolas"/>
              </a:rPr>
              <a:t xml:space="preserve">verifier.py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27648" y="2807208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>
                <a:solidFill>
                  <a:schemeClr val="accent5"/>
                </a:solidFill>
              </a:rPr>
              <a:t xml:space="preserve">In: </a:t>
            </a:r>
            <a:r>
              <a:rPr sz="1050" b="0">
                <a:solidFill>
                  <a:schemeClr val="tx2"/>
                </a:solidFill>
              </a:rPr>
              <a:t xml:space="preserve">current program + candidate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27648" y="3035808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>
                <a:solidFill>
                  <a:schemeClr val="accent1"/>
                </a:solidFill>
              </a:rPr>
              <a:t xml:space="preserve">Components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27648" y="3236976"/>
            <a:ext cx="224942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Input-set generator: random, edge, boundary, small-scope, pairwise</a:t>
            </a:r>
          </a:p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Reference TAC interpreter</a:t>
            </a:r>
          </a:p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Differential tester</a:t>
            </a:r>
          </a:p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Symbolic polynomial checker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27648" y="4480560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050" b="1">
                <a:solidFill>
                  <a:schemeClr val="accent2"/>
                </a:solidFill>
              </a:rPr>
              <a:t xml:space="preserve">Out: </a:t>
            </a:r>
            <a:r>
              <a:rPr sz="1050" b="0">
                <a:solidFill>
                  <a:schemeClr val="tx1"/>
                </a:solidFill>
              </a:rPr>
              <a:t xml:space="preserve">PASS or FAIL, with the reason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980176" y="3520440"/>
            <a:ext cx="228600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</p:cxnSp>
      <p:sp>
        <p:nvSpPr>
          <p:cNvPr id="71" name="Rounded Rectangle 70"/>
          <p:cNvSpPr/>
          <p:nvPr/>
        </p:nvSpPr>
        <p:spPr>
          <a:xfrm>
            <a:off x="8924544" y="2286000"/>
            <a:ext cx="2487168" cy="2468880"/>
          </a:xfrm>
          <a:prstGeom prst="roundRect">
            <a:avLst>
              <a:gd name="adj" fmla="val 2592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043416" y="2359152"/>
            <a:ext cx="224942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1">
                <a:solidFill>
                  <a:schemeClr val="tx1"/>
                </a:solidFill>
              </a:rPr>
              <a:t xml:space="preserve">4  Cost Evaluator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43416" y="2596896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chemeClr val="accent1"/>
                </a:solidFill>
                <a:latin typeface="Consolas"/>
              </a:rPr>
              <a:t xml:space="preserve">cost_evaluator.py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43416" y="2807208"/>
            <a:ext cx="22494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>
                <a:solidFill>
                  <a:schemeClr val="accent5"/>
                </a:solidFill>
              </a:rPr>
              <a:t xml:space="preserve">In: </a:t>
            </a:r>
            <a:r>
              <a:rPr sz="1050" b="0">
                <a:solidFill>
                  <a:schemeClr val="tx2"/>
                </a:solidFill>
              </a:rPr>
              <a:t xml:space="preserve">program + verified candidate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43416" y="3035808"/>
            <a:ext cx="22494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1">
                <a:solidFill>
                  <a:schemeClr val="accent1"/>
                </a:solidFill>
              </a:rPr>
              <a:t xml:space="preserve">Components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43416" y="3236976"/>
            <a:ext cx="224942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Counters: instructions, arithmetic ops, temporaries, copies, branches</a:t>
            </a:r>
          </a:p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Weight table: 1.0, 2.0, 0.5, 1.5, 1.0</a:t>
            </a:r>
          </a:p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Weighted-cost calculator</a:t>
            </a:r>
          </a:p>
          <a:p>
            <a:pPr marL="228600" indent="-228600">
              <a:spcAft>
                <a:spcPts val="150"/>
              </a:spcAft>
              <a:buChar char="•"/>
            </a:pPr>
            <a:r>
              <a:rPr sz="1050" b="0">
                <a:solidFill>
                  <a:schemeClr val="tx1"/>
                </a:solidFill>
              </a:rPr>
              <a:t xml:space="preserve">Improvement comparator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43416" y="4480560"/>
            <a:ext cx="2249424" cy="23774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050" b="1">
                <a:solidFill>
                  <a:schemeClr val="accent2"/>
                </a:solidFill>
              </a:rPr>
              <a:t xml:space="preserve">Out: </a:t>
            </a:r>
            <a:r>
              <a:rPr sz="1050" b="0">
                <a:solidFill>
                  <a:schemeClr val="tx1"/>
                </a:solidFill>
              </a:rPr>
              <a:t xml:space="preserve">cheaper, or no cost gain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8695944" y="3520440"/>
            <a:ext cx="228600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</p:cxnSp>
      <p:sp>
        <p:nvSpPr>
          <p:cNvPr id="79" name="Rounded Rectangle 78"/>
          <p:cNvSpPr/>
          <p:nvPr/>
        </p:nvSpPr>
        <p:spPr>
          <a:xfrm>
            <a:off x="777240" y="4901184"/>
            <a:ext cx="10634472" cy="512064"/>
          </a:xfrm>
          <a:prstGeom prst="roundRect">
            <a:avLst>
              <a:gd name="adj" fmla="val 14285"/>
            </a:avLst>
          </a:prstGeom>
          <a:solidFill>
            <a:schemeClr val="accent2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60120" y="4901184"/>
            <a:ext cx="102687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>
                <a:solidFill>
                  <a:schemeClr val="accent2"/>
                </a:solidFill>
              </a:rPr>
              <a:t xml:space="preserve">5  Decision.  </a:t>
            </a:r>
            <a:r>
              <a:rPr sz="1100" b="1">
                <a:solidFill>
                  <a:schemeClr val="tx1"/>
                </a:solidFill>
              </a:rPr>
              <a:t xml:space="preserve">ACCEPT: </a:t>
            </a:r>
            <a:r>
              <a:rPr sz="1100" b="0">
                <a:solidFill>
                  <a:schemeClr val="tx1"/>
                </a:solidFill>
              </a:rPr>
              <a:t xml:space="preserve">the candidate becomes the current program.  </a:t>
            </a:r>
            <a:r>
              <a:rPr sz="1100" b="1">
                <a:solidFill>
                  <a:schemeClr val="tx1"/>
                </a:solidFill>
              </a:rPr>
              <a:t xml:space="preserve">REJECT: </a:t>
            </a:r>
            <a:r>
              <a:rPr sz="1100" b="0">
                <a:solidFill>
                  <a:schemeClr val="tx1"/>
                </a:solidFill>
              </a:rPr>
              <a:t xml:space="preserve">the next opportunity is tried, or the same step goes to the other proposer.  Either way the loop returns to the Code Analysis Specialist.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10168128" y="4754880"/>
            <a:ext cx="0" cy="146304"/>
          </a:xfrm>
          <a:prstGeom prst="line">
            <a:avLst/>
          </a:prstGeom>
          <a:ln w="19050">
            <a:solidFill>
              <a:schemeClr val="accent2"/>
            </a:solidFill>
            <a:tailEnd type="triangle"/>
          </a:ln>
        </p:spPr>
      </p:cxnSp>
      <p:cxnSp>
        <p:nvCxnSpPr>
          <p:cNvPr id="82" name="Connector 81"/>
          <p:cNvCxnSpPr/>
          <p:nvPr/>
        </p:nvCxnSpPr>
        <p:spPr>
          <a:xfrm flipV="1">
            <a:off x="2020824" y="4754880"/>
            <a:ext cx="0" cy="146304"/>
          </a:xfrm>
          <a:prstGeom prst="line">
            <a:avLst/>
          </a:prstGeom>
          <a:ln w="19050">
            <a:solidFill>
              <a:schemeClr val="accent2"/>
            </a:solidFill>
            <a:tailEnd type="triangle"/>
          </a:ln>
        </p:spPr>
      </p:cxnSp>
      <p:cxnSp>
        <p:nvCxnSpPr>
          <p:cNvPr id="83" name="Connector 82"/>
          <p:cNvCxnSpPr/>
          <p:nvPr/>
        </p:nvCxnSpPr>
        <p:spPr>
          <a:xfrm>
            <a:off x="2263140" y="5413248"/>
            <a:ext cx="0" cy="310896"/>
          </a:xfrm>
          <a:prstGeom prst="line">
            <a:avLst/>
          </a:prstGeom>
          <a:ln w="19050">
            <a:solidFill>
              <a:schemeClr val="accent4"/>
            </a:solidFill>
            <a:tailEnd type="triangle"/>
          </a:ln>
        </p:spPr>
      </p:cxnSp>
      <p:sp>
        <p:nvSpPr>
          <p:cNvPr id="84" name="TextBox 83"/>
          <p:cNvSpPr txBox="1"/>
          <p:nvPr/>
        </p:nvSpPr>
        <p:spPr>
          <a:xfrm>
            <a:off x="2354580" y="5513832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1">
                <a:solidFill>
                  <a:schemeClr val="accent4"/>
                </a:solidFill>
              </a:rPr>
              <a:t xml:space="preserve">when nothing is left to try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77240" y="5724144"/>
            <a:ext cx="2971800" cy="45720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13816" y="5724144"/>
            <a:ext cx="28986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chemeClr val="tx1"/>
                </a:solidFill>
              </a:rPr>
              <a:t xml:space="preserve">Final check: optimized vs. original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3749040" y="5952744"/>
            <a:ext cx="320040" cy="0"/>
          </a:xfrm>
          <a:prstGeom prst="line">
            <a:avLst/>
          </a:prstGeom>
          <a:ln w="19050">
            <a:solidFill>
              <a:schemeClr val="accent4"/>
            </a:solidFill>
            <a:tailEnd type="triangle"/>
          </a:ln>
        </p:spPr>
      </p:cxnSp>
      <p:sp>
        <p:nvSpPr>
          <p:cNvPr id="88" name="Rounded Rectangle 87"/>
          <p:cNvSpPr/>
          <p:nvPr/>
        </p:nvSpPr>
        <p:spPr>
          <a:xfrm>
            <a:off x="4069080" y="5724144"/>
            <a:ext cx="1447038" cy="45720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105656" y="5724144"/>
            <a:ext cx="137388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chemeClr val="tx1"/>
                </a:solidFill>
              </a:rPr>
              <a:t xml:space="preserve">Optimized TAC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653278" y="5724144"/>
            <a:ext cx="1447038" cy="45720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689854" y="5724144"/>
            <a:ext cx="137388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chemeClr val="tx1"/>
                </a:solidFill>
              </a:rPr>
              <a:t xml:space="preserve">Decision log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237476" y="5724144"/>
            <a:ext cx="1447038" cy="45720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274052" y="5724144"/>
            <a:ext cx="137388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chemeClr val="tx1"/>
                </a:solidFill>
              </a:rPr>
              <a:t xml:space="preserve">Metrics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821674" y="5724144"/>
            <a:ext cx="1447038" cy="457200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858250" y="5724144"/>
            <a:ext cx="137388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>
                <a:solidFill>
                  <a:schemeClr val="tx1"/>
                </a:solidFill>
              </a:rPr>
              <a:t xml:space="preserve">7 charts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0268712" y="5952744"/>
            <a:ext cx="274320" cy="0"/>
          </a:xfrm>
          <a:prstGeom prst="line">
            <a:avLst/>
          </a:prstGeom>
          <a:ln w="19050">
            <a:solidFill>
              <a:schemeClr val="accent5"/>
            </a:solidFill>
            <a:tailEnd type="triangle"/>
          </a:ln>
        </p:spPr>
      </p:cxnSp>
      <p:sp>
        <p:nvSpPr>
          <p:cNvPr id="97" name="Rounded Rectangle 96"/>
          <p:cNvSpPr/>
          <p:nvPr/>
        </p:nvSpPr>
        <p:spPr>
          <a:xfrm>
            <a:off x="10543032" y="5724144"/>
            <a:ext cx="868680" cy="45720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5875">
            <a:solidFill>
              <a:schemeClr val="tx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579608" y="5724144"/>
            <a:ext cx="7955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chemeClr val="bg1"/>
                </a:solidFill>
              </a:rPr>
              <a:t xml:space="preserve">End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069080" y="553212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1">
                <a:solidFill>
                  <a:schemeClr val="accent5"/>
                </a:solidFill>
              </a:rPr>
              <a:t xml:space="preserve">Outputs of the run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 Flow Diagram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26" name="Picture 25" descr="review2_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45336"/>
            <a:ext cx="8092440" cy="4315968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8915400" y="1280160"/>
            <a:ext cx="2724912" cy="4846320"/>
          </a:xfrm>
          <a:prstGeom prst="roundRect">
            <a:avLst>
              <a:gd name="adj" fmla="val 2684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1508760"/>
            <a:ext cx="22677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accent1"/>
                </a:solidFill>
              </a:rPr>
              <a:t xml:space="preserve">What it shows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011680"/>
            <a:ext cx="2313432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1400"/>
              </a:spcAft>
              <a:buChar char="•"/>
            </a:pPr>
            <a:r>
              <a:rPr sz="1600" b="0">
                <a:solidFill>
                  <a:schemeClr val="tx1"/>
                </a:solidFill>
              </a:rPr>
              <a:t xml:space="preserve">Source code becomes a TAC program in the front end</a:t>
            </a:r>
          </a:p>
          <a:p>
            <a:pPr marL="228600" indent="-228600">
              <a:spcAft>
                <a:spcPts val="1400"/>
              </a:spcAft>
              <a:buChar char="•"/>
            </a:pPr>
            <a:r>
              <a:rPr sz="1600" b="0">
                <a:solidFill>
                  <a:schemeClr val="tx1"/>
                </a:solidFill>
              </a:rPr>
              <a:t xml:space="preserve">The Code Analyzer sends ranked opportunities to the Optimization Specialist</a:t>
            </a:r>
          </a:p>
          <a:p>
            <a:pPr marL="228600" indent="-228600">
              <a:spcAft>
                <a:spcPts val="1400"/>
              </a:spcAft>
              <a:buChar char="•"/>
            </a:pPr>
            <a:r>
              <a:rPr sz="1600" b="0">
                <a:solidFill>
                  <a:schemeClr val="tx1"/>
                </a:solidFill>
              </a:rPr>
              <a:t xml:space="preserve">The Specialist routes the step: Option A the rules, Option B an LLM</a:t>
            </a:r>
          </a:p>
          <a:p>
            <a:pPr marL="228600" indent="-228600">
              <a:spcAft>
                <a:spcPts val="1400"/>
              </a:spcAft>
              <a:buChar char="•"/>
            </a:pPr>
            <a:r>
              <a:rPr sz="1600" b="0">
                <a:solidFill>
                  <a:schemeClr val="tx1"/>
                </a:solidFill>
              </a:rPr>
              <a:t xml:space="preserve">Each candidate passes the Verifier, then the Cost Evaluator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Class Diagram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26" name="Picture 25" descr="review2_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1609"/>
            <a:ext cx="8092440" cy="4303422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8915400" y="1280160"/>
            <a:ext cx="2724912" cy="4846320"/>
          </a:xfrm>
          <a:prstGeom prst="roundRect">
            <a:avLst>
              <a:gd name="adj" fmla="val 2684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1508760"/>
            <a:ext cx="22677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accent1"/>
                </a:solidFill>
              </a:rPr>
              <a:t xml:space="preserve">What it shows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011680"/>
            <a:ext cx="2313432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1400"/>
              </a:spcAft>
              <a:buChar char="•"/>
            </a:pPr>
            <a:r>
              <a:rPr sz="1600" b="0">
                <a:solidFill>
                  <a:schemeClr val="tx1"/>
                </a:solidFill>
              </a:rPr>
              <a:t xml:space="preserve">The Orchestrator owns the four other components and writes to the Decision Logger</a:t>
            </a:r>
          </a:p>
          <a:p>
            <a:pPr marL="228600" indent="-228600">
              <a:spcAft>
                <a:spcPts val="1400"/>
              </a:spcAft>
              <a:buChar char="•"/>
            </a:pPr>
            <a:r>
              <a:rPr sz="1600" b="0">
                <a:solidFill>
                  <a:schemeClr val="tx1"/>
                </a:solidFill>
              </a:rPr>
              <a:t xml:space="preserve">The Optimization Specialist owns the rule-based optimizer and holds one LLM backend</a:t>
            </a:r>
          </a:p>
          <a:p>
            <a:pPr marL="228600" indent="-228600">
              <a:spcAft>
                <a:spcPts val="1400"/>
              </a:spcAft>
              <a:buChar char="•"/>
            </a:pPr>
            <a:r>
              <a:rPr sz="1600" b="0">
                <a:solidFill>
                  <a:schemeClr val="tx1"/>
                </a:solidFill>
              </a:rPr>
              <a:t xml:space="preserve">Gemini, Groq and Ollama share one base class: same prompt, same reply parser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Routing: Rule-Based or LLM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3547872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9808" y="1481328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09" y="1602029"/>
            <a:ext cx="261518" cy="26151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417320" y="14630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accent5"/>
                </a:solidFill>
                <a:latin typeface="Consolas"/>
              </a:rPr>
              <a:t xml:space="preserve">--optimizer </a:t>
            </a:r>
            <a:r>
              <a:rPr sz="1400" b="1">
                <a:solidFill>
                  <a:schemeClr val="accent1"/>
                </a:solidFill>
                <a:latin typeface="Consolas"/>
              </a:rPr>
              <a:t xml:space="preserve">rule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175564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tx1"/>
                </a:solidFill>
              </a:rPr>
              <a:t xml:space="preserve">Rule-based 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2267712"/>
            <a:ext cx="3145536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Always the highest-priority opportunity from the analyzer. The default: instant and deterministic.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22369" y="1280160"/>
            <a:ext cx="3547872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23537" y="1481328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238" y="1602029"/>
            <a:ext cx="261518" cy="26151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191049" y="14630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accent5"/>
                </a:solidFill>
                <a:latin typeface="Consolas"/>
              </a:rPr>
              <a:t xml:space="preserve">--optimizer </a:t>
            </a:r>
            <a:r>
              <a:rPr sz="1400" b="1">
                <a:solidFill>
                  <a:schemeClr val="accent1"/>
                </a:solidFill>
                <a:latin typeface="Consolas"/>
              </a:rPr>
              <a:t xml:space="preserve">hybrid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91049" y="175564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tx1"/>
                </a:solidFill>
              </a:rPr>
              <a:t xml:space="preserve">Rules first, LLM second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3537" y="2267712"/>
            <a:ext cx="3145536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The LLM is asked when a rule proposal is turned down, or when the rules have nothing left to try.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6098" y="1280160"/>
            <a:ext cx="3547872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97266" y="1481328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7966" y="1602029"/>
            <a:ext cx="261518" cy="26151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964778" y="146304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accent5"/>
                </a:solidFill>
                <a:latin typeface="Consolas"/>
              </a:rPr>
              <a:t xml:space="preserve">--optimizer </a:t>
            </a:r>
            <a:r>
              <a:rPr sz="1400" b="1">
                <a:solidFill>
                  <a:schemeClr val="accent1"/>
                </a:solidFill>
                <a:latin typeface="Consolas"/>
              </a:rPr>
              <a:t xml:space="preserve">llm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4778" y="175564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tx1"/>
                </a:solidFill>
              </a:rPr>
              <a:t xml:space="preserve">LLM first, rules second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97266" y="2267712"/>
            <a:ext cx="3145536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The rules take over when the LLM is not running, out of call budget, or its proposal is turned down.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3730752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chemeClr val="tx1"/>
                </a:solidFill>
              </a:rPr>
              <a:t xml:space="preserve">Every routing decision is written to the decision log with its reason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4114800"/>
            <a:ext cx="11091672" cy="2057400"/>
          </a:xfrm>
          <a:prstGeom prst="roundRect">
            <a:avLst>
              <a:gd name="adj" fmla="val 3555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8096" y="4334256"/>
            <a:ext cx="10652760" cy="1618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--- Iteration 21 ---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 xml:space="preserve">  [ANALYZE] No more opportunities found.</a:t>
            </a:r>
          </a:p>
          <a:p>
            <a:pPr>
              <a:spcAft>
                <a:spcPts val="100"/>
              </a:spcAft>
            </a:pPr>
            <a:r>
              <a:rPr sz="1250" b="1">
                <a:solidFill>
                  <a:srgbClr val="F5C06B"/>
                </a:solidFill>
                <a:latin typeface="Consolas"/>
              </a:rPr>
              <a:t xml:space="preserve">  [ROUTE]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 LLM optimizer (groq openai/gpt-oss-120b): the rules have nothing left to try</a:t>
            </a:r>
          </a:p>
          <a:p>
            <a:pPr>
              <a:spcAft>
                <a:spcPts val="100"/>
              </a:spcAft>
            </a:pPr>
            <a:r>
              <a:rPr sz="1250" b="1">
                <a:solidFill>
                  <a:srgbClr val="8FB8F0"/>
                </a:solidFill>
                <a:latin typeface="Consolas"/>
              </a:rPr>
              <a:t xml:space="preserve">  [LLM]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   LLM proposal: Dead code elimination: the loop only assigns the constant 42 to acc repeatedly ...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 xml:space="preserve">  [VERIFY]  </a:t>
            </a:r>
            <a:r>
              <a:rPr sz="1250" b="1">
                <a:solidFill>
                  <a:srgbClr val="7FD27F"/>
                </a:solidFill>
                <a:latin typeface="Consolas"/>
              </a:rPr>
              <a:t xml:space="preserve">PASS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(differential: 25/25 inputs matched, symbolic: skipped (control flow))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 xml:space="preserve">  [COST]    Before: 20.0, After: 4.5 (reduction: 77.5%)</a:t>
            </a:r>
          </a:p>
          <a:p>
            <a:pPr>
              <a:spcAft>
                <a:spcPts val="100"/>
              </a:spcAft>
            </a:pPr>
            <a:r>
              <a:rPr sz="1250" b="1">
                <a:solidFill>
                  <a:srgbClr val="7FD27F"/>
                </a:solidFill>
                <a:latin typeface="Consolas"/>
              </a:rPr>
              <a:t xml:space="preserve">  [ACCEPT]</a:t>
            </a:r>
            <a:r>
              <a:rPr sz="1250" b="0">
                <a:solidFill>
                  <a:srgbClr val="7FD27F"/>
                </a:solidFill>
                <a:latin typeface="Consolas"/>
              </a:rPr>
              <a:t xml:space="preserve">  Change accepted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Three LLM Backends, One Interface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3547872" cy="3154680"/>
          </a:xfrm>
          <a:prstGeom prst="roundRect">
            <a:avLst>
              <a:gd name="adj" fmla="val 2318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9808" y="1481328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09" y="1602029"/>
            <a:ext cx="261518" cy="26151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417320" y="1444752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chemeClr val="tx1"/>
                </a:solidFill>
              </a:rPr>
              <a:t xml:space="preserve">Gemini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182880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1">
                <a:solidFill>
                  <a:schemeClr val="accent1"/>
                </a:solidFill>
                <a:latin typeface="Consolas"/>
              </a:rPr>
              <a:t xml:space="preserve">gemini-3.1-flash-lite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2331720"/>
            <a:ext cx="31089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Runs in Google's cloud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Free API key (.gemini_key)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Called through the google-genai SDK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Strongest results so far: 91.5%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22369" y="1280160"/>
            <a:ext cx="3547872" cy="3154680"/>
          </a:xfrm>
          <a:prstGeom prst="roundRect">
            <a:avLst>
              <a:gd name="adj" fmla="val 2318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23537" y="1481328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238" y="1602029"/>
            <a:ext cx="261518" cy="26151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191049" y="1444752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chemeClr val="tx1"/>
                </a:solidFill>
              </a:rPr>
              <a:t xml:space="preserve">Groq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91049" y="182880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1">
                <a:solidFill>
                  <a:schemeClr val="accent1"/>
                </a:solidFill>
                <a:latin typeface="Consolas"/>
              </a:rPr>
              <a:t xml:space="preserve">openai/gpt-oss-120b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0969" y="2331720"/>
            <a:ext cx="31089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Runs in Groq's cloud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Free API key (.groq_key)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Plain HTTP, no SDK to install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Moves to the next model when a daily quota is spent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6098" y="1280160"/>
            <a:ext cx="3547872" cy="3154680"/>
          </a:xfrm>
          <a:prstGeom prst="roundRect">
            <a:avLst>
              <a:gd name="adj" fmla="val 2318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97266" y="1481328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966" y="1602029"/>
            <a:ext cx="261518" cy="26151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964778" y="1444752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chemeClr val="tx1"/>
                </a:solidFill>
              </a:rPr>
              <a:t xml:space="preserve">Ollama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4778" y="1828800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50" b="1">
                <a:solidFill>
                  <a:schemeClr val="accent1"/>
                </a:solidFill>
                <a:latin typeface="Consolas"/>
              </a:rPr>
              <a:t xml:space="preserve">qwen2.5-coder:7b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4698" y="2331720"/>
            <a:ext cx="31089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Runs on this laptop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No key and no internet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Plain HTTP to the local server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Falls back to the CPU if the GPU runner crashes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709160"/>
            <a:ext cx="11091672" cy="1463040"/>
          </a:xfrm>
          <a:prstGeom prst="roundRect">
            <a:avLst>
              <a:gd name="adj" fmla="val 50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77240" y="5184648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305349"/>
            <a:ext cx="261518" cy="26151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508760" y="4846320"/>
            <a:ext cx="9902952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chemeClr val="accent1"/>
                </a:solidFill>
                <a:latin typeface="Consolas"/>
              </a:rPr>
              <a:t xml:space="preserve">--llm-provider auto </a:t>
            </a:r>
            <a:r>
              <a:rPr sz="1400" b="0">
                <a:solidFill>
                  <a:schemeClr val="tx1"/>
                </a:solidFill>
              </a:rPr>
              <a:t xml:space="preserve">tries Gemini, then Groq, then Ollama, and uses the first one that is configured and reachable. </a:t>
            </a:r>
            <a:r>
              <a:rPr sz="1400" b="1">
                <a:solidFill>
                  <a:schemeClr val="accent1"/>
                </a:solidFill>
                <a:latin typeface="Consolas"/>
              </a:rPr>
              <a:t xml:space="preserve">--offline </a:t>
            </a:r>
            <a:r>
              <a:rPr sz="1400" b="0">
                <a:solidFill>
                  <a:schemeClr val="tx1"/>
                </a:solidFill>
              </a:rPr>
              <a:t xml:space="preserve">always uses Ollama.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chemeClr val="tx1"/>
                </a:solidFill>
              </a:rPr>
              <a:t xml:space="preserve">All three share one prompt, one reply parser and the same verification and cost gates.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Implementation: Tools &amp; Technologies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6949440" cy="4828032"/>
        </p:xfrm>
        <a:graphic>
          <a:graphicData uri="http://schemas.openxmlformats.org/drawingml/2006/table">
            <a:tbl>
              <a:tblPr/>
              <a:tblGrid>
                <a:gridCol w="1417320"/>
                <a:gridCol w="2514600"/>
                <a:gridCol w="3017520"/>
              </a:tblGrid>
              <a:tr h="60350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Python 3.10+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match statements, dataclasses, type hints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Cloud LLMs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Gemini, Groq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Free-tier proposers (SDK and plain HTTP)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Local LLM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Ollama + qwen2.5-coder:7b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Offline proposer, no key needed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Visualization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Matplotlib, Seaborn, Plotly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Bar, line, scatter, heatmap, pie, Sankey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pytest (336 tests)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Unit, integration, stand-in LLM servers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Live demo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demo.py (C subset)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Walks a real C program through the loop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350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Numerical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NumPy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Trend lines and statistics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7726680" y="1280160"/>
            <a:ext cx="3913632" cy="4828032"/>
          </a:xfrm>
          <a:prstGeom prst="roundRect">
            <a:avLst>
              <a:gd name="adj" fmla="val 1869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0" y="148132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tx1"/>
                </a:solidFill>
              </a:rPr>
              <a:t xml:space="preserve">Project structure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1965960"/>
            <a:ext cx="347472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300" b="1">
                <a:solidFill>
                  <a:schemeClr val="accent1"/>
                </a:solidFill>
                <a:latin typeface="Consolas"/>
              </a:rPr>
              <a:t xml:space="preserve">src/frontend/  </a:t>
            </a:r>
            <a:r>
              <a:rPr sz="1400" b="0">
                <a:solidFill>
                  <a:schemeClr val="tx2"/>
                </a:solidFill>
              </a:rPr>
              <a:t xml:space="preserve">Lexer, Parser, AST, TAC generator, C front end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chemeClr val="accent1"/>
                </a:solidFill>
                <a:latin typeface="Consolas"/>
              </a:rPr>
              <a:t xml:space="preserve">src/tac/  </a:t>
            </a:r>
            <a:r>
              <a:rPr sz="1400" b="0">
                <a:solidFill>
                  <a:schemeClr val="tx2"/>
                </a:solidFill>
              </a:rPr>
              <a:t xml:space="preserve">Instructions, interpreter, dataflow analysis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chemeClr val="accent1"/>
                </a:solidFill>
                <a:latin typeface="Consolas"/>
              </a:rPr>
              <a:t xml:space="preserve">src/agents/  </a:t>
            </a:r>
            <a:r>
              <a:rPr sz="1400" b="0">
                <a:solidFill>
                  <a:schemeClr val="tx2"/>
                </a:solidFill>
              </a:rPr>
              <a:t xml:space="preserve">Orchestrator, Code Analyzer, Optimization Specialist, rule + LLM optimizers, Verifier, Cost Evaluator, Decision Logger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chemeClr val="accent1"/>
                </a:solidFill>
                <a:latin typeface="Consolas"/>
              </a:rPr>
              <a:t xml:space="preserve">src/visualization/  </a:t>
            </a:r>
            <a:r>
              <a:rPr sz="1400" b="0">
                <a:solidFill>
                  <a:schemeClr val="tx2"/>
                </a:solidFill>
              </a:rPr>
              <a:t xml:space="preserve">7 charts, metrics report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chemeClr val="accent1"/>
                </a:solidFill>
                <a:latin typeface="Consolas"/>
              </a:rPr>
              <a:t xml:space="preserve">tests/  </a:t>
            </a:r>
            <a:r>
              <a:rPr sz="1400" b="0">
                <a:solidFill>
                  <a:schemeClr val="tx2"/>
                </a:solidFill>
              </a:rPr>
              <a:t xml:space="preserve">336 tests, one module per component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Implementation: The Five Components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3547872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9808" y="1481328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09" y="1602029"/>
            <a:ext cx="261518" cy="26151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417320" y="1554480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tx1"/>
                </a:solidFill>
              </a:rPr>
              <a:t xml:space="preserve">1. Orchestrator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2148840"/>
            <a:ext cx="316382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Runs the loop, logs every decision, stops when nothing is left (or after 50 iterations), then re-verifies the result against the original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22369" y="1280160"/>
            <a:ext cx="3547872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23537" y="1481328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238" y="1602029"/>
            <a:ext cx="261518" cy="26151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191049" y="1554480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tx1"/>
                </a:solidFill>
              </a:rPr>
              <a:t xml:space="preserve">2. Code Analysis Specialist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3537" y="2148840"/>
            <a:ext cx="316382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Dataflow analysis (CFG, liveness, available copies). Ranks 6 types: Fold 100 → Algebraic 90 → Dead Code 80 → CSE 70 → Strength 60 → Copy Prop 50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6098" y="1280160"/>
            <a:ext cx="3547872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97266" y="1481328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7966" y="1602029"/>
            <a:ext cx="261518" cy="26151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964778" y="1554480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tx1"/>
                </a:solidFill>
              </a:rPr>
              <a:t xml:space="preserve">3. Optimization Specialist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7266" y="2148840"/>
            <a:ext cx="316382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Routes each step to the rule-based optimizer or to an LLM (Gemini, Groq or Ollama) and returns one candidate program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32304" y="3776472"/>
            <a:ext cx="3547872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633472" y="397764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4173" y="4098341"/>
            <a:ext cx="261518" cy="26151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3300984" y="4050792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tx1"/>
                </a:solidFill>
              </a:rPr>
              <a:t xml:space="preserve">4. Verification Module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33472" y="4645152"/>
            <a:ext cx="316382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Differential testing on random, edge, boundary, small-scope and pairwise inputs, plus a symbolic check for straight-line code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08776" y="3776472"/>
            <a:ext cx="3547872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409944" y="397764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0645" y="4098341"/>
            <a:ext cx="261518" cy="26151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077456" y="4050792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>
                <a:solidFill>
                  <a:schemeClr val="tx1"/>
                </a:solidFill>
              </a:rPr>
              <a:t xml:space="preserve">5. Cost Evaluator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9944" y="4645152"/>
            <a:ext cx="316382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cost = 1.0·instructions + 2.0·arithmetic + 0.5·temps + 1.5·copies + 1.0·branches. A change must strictly lower 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Code: The Orchestrator Loop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7315200" cy="4892040"/>
          </a:xfrm>
          <a:prstGeom prst="roundRect">
            <a:avLst>
              <a:gd name="adj" fmla="val 1495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1481328"/>
            <a:ext cx="6912864" cy="4489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9CA3AF"/>
                </a:solidFill>
                <a:latin typeface="Consolas"/>
              </a:rPr>
              <a:t xml:space="preserve"># src/agents/orchestrator.py  (trimmed)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iteration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range(1, self.max_iterations + 1):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1. ANALYZE (leaving out opportunities already turned down)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opportunities = [o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o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self.analyzer.analyze(current)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 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self._opportunity_key(o)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not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attempted]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logger.log_analysis(iteration, opportunities)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2-5. PROPOSE -&gt; VERIFY -&gt; EVALUATE -&gt; ACCEPT/REJECT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tried, outcome = [],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None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while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outcome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not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(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"accepted"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,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"unverifiable"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):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decision = specialist.route(current, opportunities, llm_calls, tried)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decision.route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is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None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break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        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nobody can propose anything more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tried.append(decision.route)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proposal = specialist.propose(current, decision, opportunities)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outcome = self._judge(iteration, current, proposal, logger, proposals)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outcome ==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"accepted"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current = proposal.candidate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attempted.clear()        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new opportunities may appear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outcome !=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"accepted"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and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not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opportunities: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break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            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converged: nothing left to try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1280160"/>
            <a:ext cx="3547872" cy="4892040"/>
          </a:xfrm>
          <a:prstGeom prst="roundRect">
            <a:avLst>
              <a:gd name="adj" fmla="val 206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481328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accent1"/>
                </a:solidFill>
              </a:rPr>
              <a:t xml:space="preserve">How it works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1965960"/>
            <a:ext cx="3090672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One iteration is one step: analyze, propose, verify, evaluate, decide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The specialist picks the route; if that proposal is turned down it may hand the same step to the other proposer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An accepted change becomes the current program and clears the "already tried" list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The loop ends when nothing was accepted and no opportunity is left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Code: The Verify and Cost Gates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7086600" cy="4892040"/>
          </a:xfrm>
          <a:prstGeom prst="roundRect">
            <a:avLst>
              <a:gd name="adj" fmla="val 1495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1481328"/>
            <a:ext cx="6684264" cy="4489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9CA3AF"/>
                </a:solidFill>
                <a:latin typeface="Consolas"/>
              </a:rPr>
              <a:t xml:space="preserve"># src/agents/orchestrator.py  (trimmed)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8FB8F0"/>
                </a:solidFill>
                <a:latin typeface="Consolas"/>
              </a:rPr>
              <a:t xml:space="preserve">def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_judge(self, iteration, current, proposal, logger, proposals):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3. VERIFY: the same gate for rule-based and LLM proposals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ver_result = self.verifier.verify(current, proposal.candidate)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logger.log_verification(iteration, ver_result)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not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ver_result.passed: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logger.log_reject(iteration,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"Verification failed"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"invalid"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4. EVALUATE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old_cost = self.cost_evaluator.evaluate(current)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new_cost = self.cost_evaluator.evaluate(proposal.candidate)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logger.log_cost(iteration, old_cost, new_cost)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5. ACCEPT / REJECT: the cost must strictly drop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not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self.cost_evaluator.is_improvement(old_cost, new_cost):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logger.log_reject(iteration,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"No cost improvement"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"rejected"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logger.log_accept(iteration,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"Cost reduced"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"accepted"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1280160"/>
            <a:ext cx="3776472" cy="2834640"/>
          </a:xfrm>
          <a:prstGeom prst="roundRect">
            <a:avLst>
              <a:gd name="adj" fmla="val 2580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65008" y="1481328"/>
            <a:ext cx="3374136" cy="2432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150" b="0">
                <a:solidFill>
                  <a:srgbClr val="9CA3AF"/>
                </a:solidFill>
                <a:latin typeface="Consolas"/>
              </a:rPr>
              <a:t xml:space="preserve"># src/agents/cost_evaluator.py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WEIGHTS = {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150" b="0">
                <a:solidFill>
                  <a:srgbClr val="7FD27F"/>
                </a:solidFill>
                <a:latin typeface="Consolas"/>
              </a:rPr>
              <a:t xml:space="preserve">"instruction_count"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: 1.0,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150" b="0">
                <a:solidFill>
                  <a:srgbClr val="7FD27F"/>
                </a:solidFill>
                <a:latin typeface="Consolas"/>
              </a:rPr>
              <a:t xml:space="preserve">"arithmetic_ops"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:    2.0,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150" b="0">
                <a:solidFill>
                  <a:srgbClr val="7FD27F"/>
                </a:solidFill>
                <a:latin typeface="Consolas"/>
              </a:rPr>
              <a:t xml:space="preserve">"temp_vars"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:         0.5,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150" b="0">
                <a:solidFill>
                  <a:srgbClr val="7FD27F"/>
                </a:solidFill>
                <a:latin typeface="Consolas"/>
              </a:rPr>
              <a:t xml:space="preserve">"memory_ops"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:        1.5,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150" b="0">
                <a:solidFill>
                  <a:srgbClr val="7FD27F"/>
                </a:solidFill>
                <a:latin typeface="Consolas"/>
              </a:rPr>
              <a:t xml:space="preserve">"branch_ops"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:        1.0,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}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8FB8F0"/>
                </a:solidFill>
                <a:latin typeface="Consolas"/>
              </a:rPr>
              <a:t xml:space="preserve">def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is_improvement(self, old, new):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15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150" b="0">
                <a:solidFill>
                  <a:srgbClr val="E5E7EB"/>
                </a:solidFill>
                <a:latin typeface="Consolas"/>
              </a:rPr>
              <a:t xml:space="preserve"> (new.weighted_total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         &lt; old.weighted_total)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4297680"/>
            <a:ext cx="3776472" cy="187452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2440" y="4462272"/>
            <a:ext cx="3319272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Rule-based and LLM proposals share this path: an LLM answer gets no shortcut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A correct change that is not cheaper is still rejected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Code: The Routing Decision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7315200" cy="4892040"/>
          </a:xfrm>
          <a:prstGeom prst="roundRect">
            <a:avLst>
              <a:gd name="adj" fmla="val 1495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1481328"/>
            <a:ext cx="6912864" cy="4489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9CA3AF"/>
                </a:solidFill>
                <a:latin typeface="Consolas"/>
              </a:rPr>
              <a:t xml:space="preserve"># src/agents/optimization_specialist.py  (trimmed)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8FB8F0"/>
                </a:solidFill>
                <a:latin typeface="Consolas"/>
              </a:rPr>
              <a:t xml:space="preserve">def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route(self, program, opportunities, llm_calls=0, tried=()):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""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"Decide who proposes next for ``program``."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""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order = ([Route.RULE, Route.LLM]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self.mode !=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"llm"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else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[Route.LLM, Route.RULE])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not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self.llm_attached: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order = [Route.RULE]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passed_over, llm_note = [],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""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route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order: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route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tried: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name =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"rule-based"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route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is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Route.RULE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else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"LLM"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passed_over.append(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f"the {name} proposal was turned down"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elif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route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is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Route.RULE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and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not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opportunities: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passed_over.append(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"the rules have nothing left to try"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elif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route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is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Route.LLM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and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(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    llm_note := self._llm_blocker(program, llm_calls)):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passed_over.append(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f"LLM not used, {llm_note}"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else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reason = self._reason(route, opportunities, passed_over)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RoutingDecision(route, reason, llm_note)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RoutingDecision(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None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,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"; 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.join(passed_over), llm_note)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1280160"/>
            <a:ext cx="3547872" cy="4892040"/>
          </a:xfrm>
          <a:prstGeom prst="roundRect">
            <a:avLst>
              <a:gd name="adj" fmla="val 206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481328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accent1"/>
                </a:solidFill>
              </a:rPr>
              <a:t xml:space="preserve">How it works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1965960"/>
            <a:ext cx="3090672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The mode sets the order: rules first (hybrid) or LLM first (llm)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A route is skipped if its proposal was just turned down, the rules have nothing, or the LLM is blocked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LLM blockers: not running, call budget used up, or the program is already provably minimal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Each decision carries its reason, which becomes a [ROUTE] line in the log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Code: Finding an Opportunity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7315200" cy="4892040"/>
          </a:xfrm>
          <a:prstGeom prst="roundRect">
            <a:avLst>
              <a:gd name="adj" fmla="val 1495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1481328"/>
            <a:ext cx="6912864" cy="4489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9CA3AF"/>
                </a:solidFill>
                <a:latin typeface="Consolas"/>
              </a:rPr>
              <a:t xml:space="preserve"># src/agents/code_analyzer.py  (trimmed)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8FB8F0"/>
                </a:solidFill>
                <a:latin typeface="Consolas"/>
              </a:rPr>
              <a:t xml:space="preserve">def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_strength_reduction(self, instrs):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out = []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i, ins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enumerate(instrs):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ins.op != TACOp.BINARY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or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ins.operator !=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"*"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continue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is_literal(ins.arg2)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and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is_variable(ins.arg1):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var, const = ins.arg1, int(ins.arg2)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elif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is_literal(ins.arg1)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and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is_variable(ins.arg2):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var, const = ins.arg2, int(ins.arg1)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else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continue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const &lt; 2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or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const &amp; (const - 1):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continue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   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not a power of two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k = const.bit_length() - 1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k &gt; MAX_SHIFT: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continue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   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x &lt;&lt; k would be an invalid shift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k == 1: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new = {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"operator"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: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"+"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,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"arg1"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: var,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"arg2"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: var}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x*2 -&gt; x+x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else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new = {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"operator"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: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"&lt;&lt;"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,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"arg1"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: var,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"arg2"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: str(k)}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out.append(_make(OpportunityType.STRENGTH_REDUCTION, i, ...))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out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1280160"/>
            <a:ext cx="3547872" cy="4892040"/>
          </a:xfrm>
          <a:prstGeom prst="roundRect">
            <a:avLst>
              <a:gd name="adj" fmla="val 206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481328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accent1"/>
                </a:solidFill>
              </a:rPr>
              <a:t xml:space="preserve">How it works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1965960"/>
            <a:ext cx="3090672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Each of the six detectors returns Opportunity objects: type, priority, location, description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Here: x × 2 becomes x + x, and x × 2^k becomes a shift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The k &gt; 64 guard came out of fuzz testing: the interpreter rejects larger shifts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The rule-based optimizer then applies exactly one opportunity to a copy of the program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Code: The Prompt Sent to the LLM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7315200" cy="4892040"/>
          </a:xfrm>
          <a:prstGeom prst="roundRect">
            <a:avLst>
              <a:gd name="adj" fmla="val 1495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1481328"/>
            <a:ext cx="6912864" cy="4489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You are a compiler optimization expert. Given this Three-Address Code (TAC),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propose exactly ONE semantics-preserving optimization.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Original TAC: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{tac_string}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Rules: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1. The optimized code MUST produce identical output for ALL possible inputs.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2. Apply exactly one optimization: constant folding, dead code elimination,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common subexpression elimination, algebraic simplification, strength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 reduction, or copy propagation.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3. Return ONLY the modified TAC inside &lt;tac&gt; tags, nothing else outside.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4. Explain your optimization in one line inside &lt;reasoning&gt; tags.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TAC syntax (one instruction per line, keep exactly this syntax):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x = y            x = a op b   (op: + - * / % &lt;&lt; == != &lt; &gt; &lt;= &gt;= &amp;&amp; ||)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x = -a           x = !a       L0:      goto L0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  if a goto L0     ifFalse a goto L0     print a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Variables that are read before being written are program inputs. Integer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division truncates toward zero; dividing by zero is a runtime error.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Format: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&lt;reasoning&gt;your explanation&lt;/reasoning&gt;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&lt;tac&gt;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modified TAC here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E5E7EB"/>
                </a:solidFill>
                <a:latin typeface="Consolas"/>
              </a:rPr>
              <a:t xml:space="preserve">&lt;/tac&gt;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1280160"/>
            <a:ext cx="3547872" cy="4892040"/>
          </a:xfrm>
          <a:prstGeom prst="roundRect">
            <a:avLst>
              <a:gd name="adj" fmla="val 206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481328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accent1"/>
                </a:solidFill>
              </a:rPr>
              <a:t xml:space="preserve">How it works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1965960"/>
            <a:ext cx="3090672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One prompt for all three LLMs, so their results are comparable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It asks for exactly one change, in strict TAC syntax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The reply must carry &lt;reasoning&gt; and &lt;tac&gt; blocks; anything else is discarded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The model's answer is only a suggestion: it still has to pass the verifier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Blank lines are removed here to fit the slide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Code: Calling the LLM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7315200" cy="4892040"/>
          </a:xfrm>
          <a:prstGeom prst="roundRect">
            <a:avLst>
              <a:gd name="adj" fmla="val 1495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1481328"/>
            <a:ext cx="6912864" cy="4489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9CA3AF"/>
                </a:solidFill>
                <a:latin typeface="Consolas"/>
              </a:rPr>
              <a:t xml:space="preserve"># src/agents/optimizer_llm.py  (trimmed)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8FB8F0"/>
                </a:solidFill>
                <a:latin typeface="Consolas"/>
              </a:rPr>
              <a:t xml:space="preserve">def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propose(self, program):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not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self.available: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None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,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f"LLM unavailable: {self.unavailable_reason}"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try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text = self._complete(self._build_prompt(program))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except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_LLMUnavailable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as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exc:   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quota spent, server gone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self._disable(str(exc))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None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,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f"LLM unavailable: {self.unavailable_reason}"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except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_LLMSkip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as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exc:          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only this call failed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None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, str(exc)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self._parse_text(text, program)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8FB8F0"/>
                </a:solidFill>
                <a:latin typeface="Consolas"/>
              </a:rPr>
              <a:t xml:space="preserve">def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_parse_text(text, original):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tac_match = _TAC_RE.search(text)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not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tac_match: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None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,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"no &lt;tac&gt; block in LLM response"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candidate = parse_llm_tac(tac_match.group(1))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candidate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is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None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None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,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"could not parse LLM TAC"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candidate == original: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None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, 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"LLM returned unchanged TAC"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candidate, reasoning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1280160"/>
            <a:ext cx="3547872" cy="4892040"/>
          </a:xfrm>
          <a:prstGeom prst="roundRect">
            <a:avLst>
              <a:gd name="adj" fmla="val 206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481328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accent1"/>
                </a:solidFill>
              </a:rPr>
              <a:t xml:space="preserve">How it works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1965960"/>
            <a:ext cx="3090672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A backend only implements _complete(prompt): Gemini through its SDK, Groq and Ollama through plain HTTP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Two kinds of failure: skip this one proposal, or switch the LLM off for the rest of the run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Unparseable or unchanged TAC never reaches the verifier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If the LLM switches off, the run continues rule-based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Code: The Verifier's Input Sets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7315200" cy="4892040"/>
          </a:xfrm>
          <a:prstGeom prst="roundRect">
            <a:avLst>
              <a:gd name="adj" fmla="val 1495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1481328"/>
            <a:ext cx="6912864" cy="4489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200" b="0">
                <a:solidFill>
                  <a:srgbClr val="9CA3AF"/>
                </a:solidFill>
                <a:latin typeface="Consolas"/>
              </a:rPr>
              <a:t xml:space="preserve"># src/agents/verifier.py  (trimmed)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8FB8F0"/>
                </a:solidFill>
                <a:latin typeface="Consolas"/>
              </a:rPr>
              <a:t xml:space="preserve">def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input_sets(self, variables, constants=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None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):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rng = random.Random(self.seed)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lo, hi = self.value_range                   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-100 .. 100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sets = [{v: rng.randint(lo, hi)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v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variables}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_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range(self.num_random)]    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20 random sets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edge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(0, 1, -1, 99, -99):            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5 edge cases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sets.append({v: edge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v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variables})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pool = []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variables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and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constants:                 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c-1, c, c+1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pool = sorted({k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c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sorted(constants)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   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k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(c - 1, c, c + 1)})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sets.extend({v: k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v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variables}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k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pool)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sets.extend(self._small_scope_sets(variables, rng))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sets.extend(self._pairwise_sets(variables, pool))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sets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8FB8F0"/>
                </a:solidFill>
                <a:latin typeface="Consolas"/>
              </a:rPr>
              <a:t xml:space="preserve">def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_small_scope_sets(self, variables, rng):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values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SMALL_SCOPES:                    </a:t>
            </a:r>
            <a:r>
              <a:rPr sz="1200" b="0">
                <a:solidFill>
                  <a:srgbClr val="9CA3AF"/>
                </a:solidFill>
                <a:latin typeface="Consolas"/>
              </a:rPr>
              <a:t xml:space="preserve"># widest range first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if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len(values) ** len(variables) &lt;= self.max_small_scope: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[dict(zip(variables, combo))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combo </a:t>
            </a:r>
            <a:r>
              <a:rPr sz="1200" b="0">
                <a:solidFill>
                  <a:srgbClr val="8FB8F0"/>
                </a:solidFill>
                <a:latin typeface="Consolas"/>
              </a:rPr>
              <a:t xml:space="preserve">in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        itertools.product(values, repeat=len(variables))]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1280160"/>
            <a:ext cx="3547872" cy="4892040"/>
          </a:xfrm>
          <a:prstGeom prst="roundRect">
            <a:avLst>
              <a:gd name="adj" fmla="val 206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481328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accent1"/>
                </a:solidFill>
              </a:rPr>
              <a:t xml:space="preserve">How it works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1965960"/>
            <a:ext cx="3090672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Original and candidate run on every set; printed output and failure mode must match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Small scope: every combination of small values, so one input can be zero while another is not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Pairwise: every two inputs meet every two boundary values</a:t>
            </a:r>
          </a:p>
          <a:p>
            <a:pPr marL="228600" indent="-228600">
              <a:spcAft>
                <a:spcPts val="900"/>
              </a:spcAft>
              <a:buChar char="•"/>
            </a:pPr>
            <a:r>
              <a:rPr sz="1400" b="0">
                <a:solidFill>
                  <a:schemeClr val="tx1"/>
                </a:solidFill>
              </a:rPr>
              <a:t xml:space="preserve">No inputs at all: one execution, so a match is a proof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Verification Deep Dive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7772400" cy="3401568"/>
        </p:xfrm>
        <a:graphic>
          <a:graphicData uri="http://schemas.openxmlformats.org/drawingml/2006/table">
            <a:tbl>
              <a:tblPr/>
              <a:tblGrid>
                <a:gridCol w="1600200"/>
                <a:gridCol w="3246120"/>
                <a:gridCol w="2926080"/>
              </a:tblGrid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Input sets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What is tried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What it catches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Random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20 sets, values in -100..100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General differences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Edge cases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All inputs 0, 1, -1, 99, -99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Zero and sign handling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Boundary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c-1, c, c+1 for every literal c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Off-by-one comparisons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accent1"/>
                          </a:solidFill>
                          <a:latin typeface="Calibri"/>
                        </a:rPr>
                        <a:t>Small scope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Every combination of small values (one input: -128..128)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&amp;&amp; against ||, a branch on a flag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accent1"/>
                          </a:solidFill>
                          <a:latin typeface="Calibri"/>
                        </a:rPr>
                        <a:t>Pairwise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Every two inputs × every two boundary values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Two inputs that must line up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48640" y="4800600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chemeClr val="accent1"/>
                </a:solidFill>
              </a:rPr>
              <a:t xml:space="preserve">Small scope</a:t>
            </a:r>
            <a:r>
              <a:rPr sz="1400" b="0">
                <a:solidFill>
                  <a:schemeClr val="tx2"/>
                </a:solidFill>
              </a:rPr>
              <a:t xml:space="preserve"> and </a:t>
            </a:r>
            <a:r>
              <a:rPr sz="1400" b="1">
                <a:solidFill>
                  <a:schemeClr val="accent1"/>
                </a:solidFill>
              </a:rPr>
              <a:t xml:space="preserve">pairwise</a:t>
            </a:r>
            <a:r>
              <a:rPr sz="1400" b="0">
                <a:solidFill>
                  <a:schemeClr val="tx2"/>
                </a:solidFill>
              </a:rPr>
              <a:t xml:space="preserve"> were added after mutation testing exposed a gap.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49640" y="1280160"/>
            <a:ext cx="3090672" cy="1051560"/>
          </a:xfrm>
          <a:prstGeom prst="roundRect">
            <a:avLst>
              <a:gd name="adj" fmla="val 6956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732520" y="155448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32520" y="15544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chemeClr val="bg1"/>
                </a:solidFill>
              </a:rPr>
              <a:t xml:space="preserve"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1389888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chemeClr val="tx1"/>
                </a:solidFill>
              </a:rPr>
              <a:t xml:space="preserve">Differential testing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1691640"/>
            <a:ext cx="21762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>
                <a:solidFill>
                  <a:schemeClr val="tx2"/>
                </a:solidFill>
              </a:rPr>
              <a:t xml:space="preserve">Output and failure mode must match on every input set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49640" y="2468880"/>
            <a:ext cx="3090672" cy="1051560"/>
          </a:xfrm>
          <a:prstGeom prst="roundRect">
            <a:avLst>
              <a:gd name="adj" fmla="val 6956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32520" y="274320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32520" y="2743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chemeClr val="bg1"/>
                </a:solidFill>
              </a:rPr>
              <a:t xml:space="preserve"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2578608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chemeClr val="tx1"/>
                </a:solidFill>
              </a:rPr>
              <a:t xml:space="preserve">Symbolic check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2880360"/>
            <a:ext cx="21762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>
                <a:solidFill>
                  <a:schemeClr val="tx2"/>
                </a:solidFill>
              </a:rPr>
              <a:t xml:space="preserve">Straight-line code: canonical polynomials, so x·2 = x+x = x&lt;&lt;1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49640" y="3657600"/>
            <a:ext cx="3090672" cy="1051560"/>
          </a:xfrm>
          <a:prstGeom prst="roundRect">
            <a:avLst>
              <a:gd name="adj" fmla="val 6956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732520" y="393192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32520" y="39319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chemeClr val="bg1"/>
                </a:solidFill>
              </a:rPr>
              <a:t xml:space="preserve"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3767328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chemeClr val="tx1"/>
                </a:solidFill>
              </a:rPr>
              <a:t xml:space="preserve">Cost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4069080"/>
            <a:ext cx="21762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>
                <a:solidFill>
                  <a:schemeClr val="tx2"/>
                </a:solidFill>
              </a:rPr>
              <a:t xml:space="preserve">A correct change is still rejected unless the cost strictly drops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212080"/>
            <a:ext cx="11091672" cy="960120"/>
          </a:xfrm>
          <a:prstGeom prst="roundRect">
            <a:avLst>
              <a:gd name="adj" fmla="val 7619"/>
            </a:avLst>
          </a:prstGeom>
          <a:solidFill>
            <a:schemeClr val="accent2">
              <a:alpha val="12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212080"/>
            <a:ext cx="1054303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chemeClr val="accent2"/>
                </a:solidFill>
              </a:rPr>
              <a:t xml:space="preserve">Strength of the guarantee: </a:t>
            </a:r>
            <a:r>
              <a:rPr sz="1400" b="0">
                <a:solidFill>
                  <a:schemeClr val="tx1"/>
                </a:solidFill>
              </a:rPr>
              <a:t xml:space="preserve">proven for programs with no inputs and for straight-line code; tested on hundreds of input sets for branching code with inputs. The finished program is re-verified against the original.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Validation: Testing the System Itself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2606040" cy="2286000"/>
          </a:xfrm>
          <a:prstGeom prst="roundRect">
            <a:avLst>
              <a:gd name="adj" fmla="val 32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444752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4000" b="1">
                <a:solidFill>
                  <a:schemeClr val="accent1"/>
                </a:solidFill>
              </a:rPr>
              <a:t xml:space="preserve">5,100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28600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random TAC programs: 20,968 rule proposals checked on inputs the verifier does not use, none unsound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76879" y="1280160"/>
            <a:ext cx="2606040" cy="2286000"/>
          </a:xfrm>
          <a:prstGeom prst="roundRect">
            <a:avLst>
              <a:gd name="adj" fmla="val 32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05479" y="1444752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4000" b="1">
                <a:solidFill>
                  <a:schemeClr val="accent1"/>
                </a:solidFill>
              </a:rPr>
              <a:t xml:space="preserve">800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05479" y="228600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deliberately broken programs: none slips past the verifier now (13 of the first 400 did before)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5118" y="1280160"/>
            <a:ext cx="2606040" cy="2286000"/>
          </a:xfrm>
          <a:prstGeom prst="roundRect">
            <a:avLst>
              <a:gd name="adj" fmla="val 320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3718" y="1444752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4000" b="1">
                <a:solidFill>
                  <a:schemeClr val="accent1"/>
                </a:solidFill>
              </a:rPr>
              <a:t xml:space="preserve">64,620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3718" y="228600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re-executions of the Gemini results on small-scope and random inputs, no mismatch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33358" y="1280160"/>
            <a:ext cx="2606040" cy="2286000"/>
          </a:xfrm>
          <a:prstGeom prst="roundRect">
            <a:avLst>
              <a:gd name="adj" fmla="val 3200"/>
            </a:avLst>
          </a:prstGeom>
          <a:solidFill>
            <a:schemeClr val="accent2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61958" y="1444752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4000" b="1">
                <a:solidFill>
                  <a:schemeClr val="accent2"/>
                </a:solidFill>
              </a:rPr>
              <a:t xml:space="preserve">383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61958" y="228600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recorded Gemini replies replayed through the stronger verifier: the same decision every 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79476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tx1"/>
                </a:solidFill>
              </a:rPr>
              <a:t xml:space="preserve">Bugs found and fixed</a:t>
            </a:r>
          </a:p>
        </p:txBody>
      </p:sp>
      <p:sp>
        <p:nvSpPr>
          <p:cNvPr id="39" name="Oval 38"/>
          <p:cNvSpPr/>
          <p:nvPr/>
        </p:nvSpPr>
        <p:spPr>
          <a:xfrm>
            <a:off x="548640" y="4352544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462272"/>
            <a:ext cx="237744" cy="23774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88720" y="42976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chemeClr val="tx1"/>
                </a:solidFill>
              </a:rPr>
              <a:t xml:space="preserve">Verifier input gap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" y="4626864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 xml:space="preserve">Wrong changes that only showed for certain zero / non-zero input mixes could pass</a:t>
            </a:r>
          </a:p>
        </p:txBody>
      </p:sp>
      <p:sp>
        <p:nvSpPr>
          <p:cNvPr id="43" name="Oval 42"/>
          <p:cNvSpPr/>
          <p:nvPr/>
        </p:nvSpPr>
        <p:spPr>
          <a:xfrm>
            <a:off x="6217920" y="4352544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4462272"/>
            <a:ext cx="237744" cy="23774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858000" y="42976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chemeClr val="tx1"/>
                </a:solidFill>
              </a:rPr>
              <a:t xml:space="preserve">Strength reduction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4626864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 xml:space="preserve">x × 2^k was rewritten to a shift even for k &gt; 64, which fails at run time</a:t>
            </a:r>
          </a:p>
        </p:txBody>
      </p:sp>
      <p:sp>
        <p:nvSpPr>
          <p:cNvPr id="47" name="Oval 46"/>
          <p:cNvSpPr/>
          <p:nvPr/>
        </p:nvSpPr>
        <p:spPr>
          <a:xfrm>
            <a:off x="548640" y="5285232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5394960"/>
            <a:ext cx="237744" cy="23774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188720" y="523036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chemeClr val="tx1"/>
                </a:solidFill>
              </a:rPr>
              <a:t xml:space="preserve">Ollama on old GPU drivers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88720" y="5559552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 xml:space="preserve">The GPU runner crashed on load; the call now repeats on the CPU</a:t>
            </a:r>
          </a:p>
        </p:txBody>
      </p:sp>
      <p:sp>
        <p:nvSpPr>
          <p:cNvPr id="51" name="Oval 50"/>
          <p:cNvSpPr/>
          <p:nvPr/>
        </p:nvSpPr>
        <p:spPr>
          <a:xfrm>
            <a:off x="6217920" y="5285232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5394960"/>
            <a:ext cx="237744" cy="23774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858000" y="523036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chemeClr val="tx1"/>
                </a:solidFill>
              </a:rPr>
              <a:t xml:space="preserve">Metrics table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5559552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chemeClr val="tx2"/>
                </a:solidFill>
              </a:rPr>
              <a:t xml:space="preserve">The LLM validity rate read "n/a %" when an LLM made no proposals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Demo: A Real C Program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28016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chemeClr val="tx1"/>
                </a:solidFill>
              </a:rPr>
              <a:t xml:space="preserve">1  The C program (demo_programs/3_loop.c)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1691640"/>
            <a:ext cx="5394960" cy="3429000"/>
          </a:xfrm>
          <a:prstGeom prst="roundRect">
            <a:avLst>
              <a:gd name="adj" fmla="val 2133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1892808"/>
            <a:ext cx="4992624" cy="30266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300" b="0">
                <a:solidFill>
                  <a:srgbClr val="8FB8F0"/>
                </a:solidFill>
                <a:latin typeface="Consolas"/>
              </a:rPr>
              <a:t xml:space="preserve">#include</a:t>
            </a:r>
            <a:r>
              <a:rPr sz="1300" b="0">
                <a:solidFill>
                  <a:srgbClr val="E5E7EB"/>
                </a:solidFill>
                <a:latin typeface="Consolas"/>
              </a:rPr>
              <a:t xml:space="preserve"> </a:t>
            </a:r>
            <a:r>
              <a:rPr sz="1300" b="0">
                <a:solidFill>
                  <a:srgbClr val="7FD27F"/>
                </a:solidFill>
                <a:latin typeface="Consolas"/>
              </a:rPr>
              <a:t xml:space="preserve">&lt;stdio.h&gt;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/* A loop with work that does not need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 to be redone every time. */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8FB8F0"/>
                </a:solidFill>
                <a:latin typeface="Consolas"/>
              </a:rPr>
              <a:t xml:space="preserve">int</a:t>
            </a:r>
            <a:r>
              <a:rPr sz="1300" b="0">
                <a:solidFill>
                  <a:srgbClr val="E5E7EB"/>
                </a:solidFill>
                <a:latin typeface="Consolas"/>
              </a:rPr>
              <a:t xml:space="preserve"> main() {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300" b="0">
                <a:solidFill>
                  <a:srgbClr val="8FB8F0"/>
                </a:solidFill>
                <a:latin typeface="Consolas"/>
              </a:rPr>
              <a:t xml:space="preserve">int</a:t>
            </a:r>
            <a:r>
              <a:rPr sz="1300" b="0">
                <a:solidFill>
                  <a:srgbClr val="E5E7EB"/>
                </a:solidFill>
                <a:latin typeface="Consolas"/>
              </a:rPr>
              <a:t xml:space="preserve"> sum = 0;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300" b="0">
                <a:solidFill>
                  <a:srgbClr val="8FB8F0"/>
                </a:solidFill>
                <a:latin typeface="Consolas"/>
              </a:rPr>
              <a:t xml:space="preserve">for</a:t>
            </a:r>
            <a:r>
              <a:rPr sz="1300" b="0">
                <a:solidFill>
                  <a:srgbClr val="E5E7EB"/>
                </a:solidFill>
                <a:latin typeface="Consolas"/>
              </a:rPr>
              <a:t xml:space="preserve"> (</a:t>
            </a:r>
            <a:r>
              <a:rPr sz="1300" b="0">
                <a:solidFill>
                  <a:srgbClr val="8FB8F0"/>
                </a:solidFill>
                <a:latin typeface="Consolas"/>
              </a:rPr>
              <a:t xml:space="preserve">int</a:t>
            </a:r>
            <a:r>
              <a:rPr sz="1300" b="0">
                <a:solidFill>
                  <a:srgbClr val="E5E7EB"/>
                </a:solidFill>
                <a:latin typeface="Consolas"/>
              </a:rPr>
              <a:t xml:space="preserve"> i = 0; i &lt; 10; i++) {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      </a:t>
            </a:r>
            <a:r>
              <a:rPr sz="1300" b="0">
                <a:solidFill>
                  <a:srgbClr val="8FB8F0"/>
                </a:solidFill>
                <a:latin typeface="Consolas"/>
              </a:rPr>
              <a:t xml:space="preserve">int</a:t>
            </a:r>
            <a:r>
              <a:rPr sz="1300" b="0">
                <a:solidFill>
                  <a:srgbClr val="E5E7EB"/>
                </a:solidFill>
                <a:latin typeface="Consolas"/>
              </a:rPr>
              <a:t xml:space="preserve"> step = 2 + 3;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      sum += step * 1;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  }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  printf(</a:t>
            </a:r>
            <a:r>
              <a:rPr sz="1300" b="0">
                <a:solidFill>
                  <a:srgbClr val="7FD27F"/>
                </a:solidFill>
                <a:latin typeface="Consolas"/>
              </a:rPr>
              <a:t xml:space="preserve">"%d\n"</a:t>
            </a:r>
            <a:r>
              <a:rPr sz="1300" b="0">
                <a:solidFill>
                  <a:srgbClr val="E5E7EB"/>
                </a:solidFill>
                <a:latin typeface="Consolas"/>
              </a:rPr>
              <a:t xml:space="preserve">, sum);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  </a:t>
            </a:r>
            <a:r>
              <a:rPr sz="1300" b="0">
                <a:solidFill>
                  <a:srgbClr val="8FB8F0"/>
                </a:solidFill>
                <a:latin typeface="Consolas"/>
              </a:rPr>
              <a:t xml:space="preserve">return</a:t>
            </a:r>
            <a:r>
              <a:rPr sz="1300" b="0">
                <a:solidFill>
                  <a:srgbClr val="E5E7EB"/>
                </a:solidFill>
                <a:latin typeface="Consolas"/>
              </a:rPr>
              <a:t xml:space="preserve"> 0;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5352" y="128016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chemeClr val="tx1"/>
                </a:solidFill>
              </a:rPr>
              <a:t xml:space="preserve">2  Front end: C → AST → Three-Address Code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5352" y="1691640"/>
            <a:ext cx="5394960" cy="3429000"/>
          </a:xfrm>
          <a:prstGeom prst="roundRect">
            <a:avLst>
              <a:gd name="adj" fmla="val 2133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2" y="1874520"/>
            <a:ext cx="24688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 0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t0 = 0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 1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sum = t0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 2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t1 = 0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 3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i = t1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 4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L0: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 5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t2 = 10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 6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t3 = i &lt; t2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 7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ifFalse t3 goto L1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 8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t4 = 2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 9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t5 = 3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10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t6 = t4 + t5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88552" y="1874520"/>
            <a:ext cx="24688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11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step = t6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12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t7 = 1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13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t8 = step * t7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14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t9 = sum + t8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15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sum = t9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16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t10 = 1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17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t11 = i + t10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18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i = t11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19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goto L0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20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L1: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9CA3AF"/>
                </a:solidFill>
                <a:latin typeface="Consolas"/>
              </a:rPr>
              <a:t xml:space="preserve">21 | </a:t>
            </a:r>
            <a:r>
              <a:rPr sz="1250" b="0">
                <a:solidFill>
                  <a:srgbClr val="E5E7EB"/>
                </a:solidFill>
                <a:latin typeface="Consolas"/>
              </a:rPr>
              <a:t xml:space="preserve">  print sum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73952" y="4279392"/>
            <a:ext cx="4937760" cy="0"/>
          </a:xfrm>
          <a:prstGeom prst="line">
            <a:avLst/>
          </a:prstGeom>
          <a:ln w="12700">
            <a:solidFill>
              <a:srgbClr val="374151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6473952" y="438912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E5E7EB"/>
                </a:solidFill>
                <a:latin typeface="Consolas"/>
              </a:rPr>
              <a:t xml:space="preserve">22 instructions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· 4 arithmetic · 12 temporaries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12 copies · 2 branches · </a:t>
            </a:r>
            <a:r>
              <a:rPr sz="1200" b="1">
                <a:solidFill>
                  <a:srgbClr val="F5C06B"/>
                </a:solidFill>
                <a:latin typeface="Consolas"/>
              </a:rPr>
              <a:t xml:space="preserve">weighted cost = 56.0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303520"/>
            <a:ext cx="11091672" cy="868680"/>
          </a:xfrm>
          <a:prstGeom prst="roundRect">
            <a:avLst>
              <a:gd name="adj" fmla="val 8421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49808" y="5486400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09" y="5607101"/>
            <a:ext cx="261518" cy="26151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463040" y="5303520"/>
            <a:ext cx="994867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chemeClr val="accent1"/>
                </a:solidFill>
                <a:latin typeface="Consolas"/>
              </a:rPr>
              <a:t xml:space="preserve">py demo.py demo_programs/3_loop.c --use-llm --llm-provider groq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chemeClr val="tx1"/>
                </a:solidFill>
              </a:rPr>
              <a:t xml:space="preserve">The demo walks one program through all six stages, pausing between them. What follows is a real run.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Demo: The Agent at Work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11091672" cy="4892040"/>
          </a:xfrm>
          <a:prstGeom prst="roundRect">
            <a:avLst>
              <a:gd name="adj" fmla="val 1495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508760"/>
            <a:ext cx="10634472" cy="4434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300" b="1">
                <a:solidFill>
                  <a:srgbClr val="8FB8F0"/>
                </a:solidFill>
                <a:latin typeface="Consolas"/>
              </a:rPr>
              <a:t xml:space="preserve">STAGE 3  Agent loop: Analyze -&gt; Propose -&gt; Verify -&gt; Evaluate -&gt; Accept/Reject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9CA3AF"/>
                </a:solidFill>
                <a:latin typeface="Consolas"/>
              </a:rPr>
              <a:t xml:space="preserve">  Routing: hybrid (rules first, the LLM when they are turned down or run out)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9CA3AF"/>
                </a:solidFill>
                <a:latin typeface="Consolas"/>
              </a:rPr>
              <a:t xml:space="preserve">  LLM: groq openai/gpt-oss-120b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[ 1] COPY_PROPAGATION   t0 = 0 -&gt; uses of t0 -&gt; 0 at instr 1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       verified  cost 56.0 -&gt; 53.0   </a:t>
            </a:r>
            <a:r>
              <a:rPr sz="1300" b="1">
                <a:solidFill>
                  <a:srgbClr val="7FD27F"/>
                </a:solidFill>
                <a:latin typeface="Consolas"/>
              </a:rPr>
              <a:t xml:space="preserve">ACCEPTED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[ 6] CONSTANT_FOLD      t6 = 2 + 3 -&gt; t6 = 5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       verified  cost 41.0 -&gt; 40.5   </a:t>
            </a:r>
            <a:r>
              <a:rPr sz="1300" b="1">
                <a:solidFill>
                  <a:srgbClr val="7FD27F"/>
                </a:solidFill>
                <a:latin typeface="Consolas"/>
              </a:rPr>
              <a:t xml:space="preserve">ACCEPTED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9CA3AF"/>
                </a:solidFill>
                <a:latin typeface="Consolas"/>
              </a:rPr>
              <a:t xml:space="preserve">  ...  steps 2 to 13: copy propagation and folding, each verified and accepted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[14] COPY_PROPAGATION   t11 = i + 1; i = t11 -&gt; i = i + 1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       verified  cost 22.5 -&gt; 19.5   </a:t>
            </a:r>
            <a:r>
              <a:rPr sz="1300" b="1">
                <a:solidFill>
                  <a:srgbClr val="7FD27F"/>
                </a:solidFill>
                <a:latin typeface="Consolas"/>
              </a:rPr>
              <a:t xml:space="preserve">ACCEPTED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9CA3AF"/>
                </a:solidFill>
                <a:latin typeface="Consolas"/>
              </a:rPr>
              <a:t xml:space="preserve">       No more opportunities found.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9CA3AF"/>
                </a:solidFill>
                <a:latin typeface="Consolas"/>
              </a:rPr>
              <a:t xml:space="preserve">       route to LLM optimizer (groq openai/gpt-oss-120b): the rules have nothing left to try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[15] LLM (Groq)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       Algebraic simplification: the loop adds a constant 5 exactly ten times,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       so replace it with sum = 5*10 = 50 and eliminate the dead loop.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       verified  cost 19.5 -&gt; 3.5    </a:t>
            </a:r>
            <a:r>
              <a:rPr sz="1300" b="1">
                <a:solidFill>
                  <a:srgbClr val="7FD27F"/>
                </a:solidFill>
                <a:latin typeface="Consolas"/>
              </a:rPr>
              <a:t xml:space="preserve">ACCEPTED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[16] COPY_PROPAGATION   sum = 50 -&gt; uses of sum -&gt; 50 at instr 1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       verified  cost 3.5 -&gt; 1.0     </a:t>
            </a:r>
            <a:r>
              <a:rPr sz="1300" b="1">
                <a:solidFill>
                  <a:srgbClr val="7FD27F"/>
                </a:solidFill>
                <a:latin typeface="Consolas"/>
              </a:rPr>
              <a:t xml:space="preserve">ACCEPTED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9CA3AF"/>
                </a:solidFill>
                <a:latin typeface="Consolas"/>
              </a:rPr>
              <a:t xml:space="preserve">       LLM not consulted: program is only constant prints (provably minimal)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E5E7EB"/>
                </a:solidFill>
                <a:latin typeface="Consolas"/>
              </a:rPr>
              <a:t xml:space="preserve">  finished in 17 iterations (0.9 s)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Demo: Result and Proof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3547872" cy="1600200"/>
          </a:xfrm>
          <a:prstGeom prst="roundRect">
            <a:avLst>
              <a:gd name="adj" fmla="val 4571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444752"/>
            <a:ext cx="309067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600" b="1">
                <a:solidFill>
                  <a:schemeClr val="accent1"/>
                </a:solidFill>
              </a:rPr>
              <a:t xml:space="preserve">56.0 → 1.0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286000"/>
            <a:ext cx="30906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weighted cost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017520"/>
            <a:ext cx="3547872" cy="1600200"/>
          </a:xfrm>
          <a:prstGeom prst="roundRect">
            <a:avLst>
              <a:gd name="adj" fmla="val 4571"/>
            </a:avLst>
          </a:prstGeom>
          <a:solidFill>
            <a:schemeClr val="accent2">
              <a:alpha val="1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182112"/>
            <a:ext cx="3090672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600" b="1">
                <a:solidFill>
                  <a:schemeClr val="accent2"/>
                </a:solidFill>
              </a:rPr>
              <a:t xml:space="preserve">98.2%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023360"/>
            <a:ext cx="309067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2"/>
                </a:solidFill>
              </a:rPr>
              <a:t xml:space="preserve">cost reduction, 22 instructions down to 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754880"/>
            <a:ext cx="3547872" cy="1417320"/>
          </a:xfrm>
          <a:prstGeom prst="roundRect">
            <a:avLst>
              <a:gd name="adj" fmla="val 5161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873752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9CA3AF"/>
                </a:solidFill>
                <a:latin typeface="Consolas"/>
              </a:rPr>
              <a:t xml:space="preserve">Optimized TAC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7FD27F"/>
                </a:solidFill>
                <a:latin typeface="Consolas"/>
              </a:rPr>
              <a:t xml:space="preserve">print 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25112" y="12801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chemeClr val="tx1"/>
                </a:solidFill>
              </a:rPr>
              <a:t xml:space="preserve">4  Suggestions made by the agent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4325112" y="1691640"/>
          <a:ext cx="7315200" cy="1828800"/>
        </p:xfrm>
        <a:graphic>
          <a:graphicData uri="http://schemas.openxmlformats.org/drawingml/2006/table">
            <a:tbl>
              <a:tblPr/>
              <a:tblGrid>
                <a:gridCol w="2377440"/>
                <a:gridCol w="1234440"/>
                <a:gridCol w="1234440"/>
                <a:gridCol w="1234440"/>
                <a:gridCol w="123444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Suggested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Verified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Invalid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Rule-based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LLM (Groq)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accent2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4325112" y="37033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chemeClr val="tx1"/>
                </a:solidFill>
              </a:rPr>
              <a:t xml:space="preserve">6  Proof: both versions are run and compared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25112" y="4114800"/>
            <a:ext cx="7315200" cy="2057400"/>
          </a:xfrm>
          <a:prstGeom prst="roundRect">
            <a:avLst>
              <a:gd name="adj" fmla="val 3555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4315968"/>
            <a:ext cx="6912864" cy="1655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250" b="1">
                <a:solidFill>
                  <a:srgbClr val="8FB8F0"/>
                </a:solidFill>
                <a:latin typeface="Consolas"/>
              </a:rPr>
              <a:t xml:space="preserve">STAGE 6  Proof: the optimized program behaves the same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 xml:space="preserve">  original : prints [50]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 xml:space="preserve">  optimized: prints [50]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 xml:space="preserve">  </a:t>
            </a:r>
            <a:r>
              <a:rPr sz="1250" b="1">
                <a:solidFill>
                  <a:srgbClr val="7FD27F"/>
                </a:solidFill>
                <a:latin typeface="Consolas"/>
              </a:rPr>
              <a:t xml:space="preserve">identical output</a:t>
            </a:r>
          </a:p>
          <a:p>
            <a:pPr>
              <a:spcAft>
                <a:spcPts val="100"/>
              </a:spcAft>
            </a:pPr>
            <a:r>
              <a:rPr sz="1250" b="0">
                <a:solidFill>
                  <a:srgbClr val="E5E7EB"/>
                </a:solidFill>
                <a:latin typeface="Consolas"/>
              </a:rPr>
              <a:t xml:space="preserve">  verifier, final check against the original: </a:t>
            </a:r>
            <a:r>
              <a:rPr sz="1250" b="1">
                <a:solidFill>
                  <a:srgbClr val="7FD27F"/>
                </a:solidFill>
                <a:latin typeface="Consolas"/>
              </a:rPr>
              <a:t xml:space="preserve">PASS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Key Metrics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11091672" cy="4878324"/>
        </p:xfrm>
        <a:graphic>
          <a:graphicData uri="http://schemas.openxmlformats.org/drawingml/2006/table">
            <a:tbl>
              <a:tblPr/>
              <a:tblGrid>
                <a:gridCol w="3410712"/>
                <a:gridCol w="1920240"/>
                <a:gridCol w="1920240"/>
                <a:gridCol w="1920240"/>
                <a:gridCol w="1920240"/>
              </a:tblGrid>
              <a:tr h="44348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Rules only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Rules + Gemini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Rules + Groq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Rules + Ollama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Average cost reduction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82.49%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accent1"/>
                          </a:solidFill>
                          <a:latin typeface="Calibri"/>
                        </a:rPr>
                        <a:t>91.50%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90.89%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83.28%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348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Programs with &gt;30% reduction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500 / 500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500 / 500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500 / 500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500 / 500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348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Total proposals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10,628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10,978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11,085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10,805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348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10,517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10,828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10,925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10,579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348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Verification pass rate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100.00%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99.76%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99.95%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98.95%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348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Acceptance rate (of verified)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98.96%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98.87%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98.61%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98.94%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348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Steps to convergence (mean)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22.2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22.7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22.9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22.3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348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LLM validity rate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92.35%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98.11%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42.93%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348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Wrong LLM proposals blocked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348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False positives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accent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accent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accent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accent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Cost Reduction by Category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11091672" cy="4114800"/>
        </p:xfrm>
        <a:graphic>
          <a:graphicData uri="http://schemas.openxmlformats.org/drawingml/2006/table">
            <a:tbl>
              <a:tblPr/>
              <a:tblGrid>
                <a:gridCol w="2423160"/>
                <a:gridCol w="1280160"/>
                <a:gridCol w="1847088"/>
                <a:gridCol w="1847088"/>
                <a:gridCol w="1847088"/>
                <a:gridCol w="1847088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Programs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Rules only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Rules + Gemini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Rules + Groq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Rules + Ollama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Arithmetic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96.0%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96.0%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96.0%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96.0%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Nested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98.1%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98.2%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98.3%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98.2%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Repeated expr.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80.7%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81.7%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80.9%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80.7%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Dead code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97.4%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97.4%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97.4%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97.4%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Loops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65.0%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93.3%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93.4%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66.1%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Conditionals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73.9%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84.1%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83.5%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75.2%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Mixed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77.9%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91.6%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89.3%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80.0%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82.5%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91.5%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90.9%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83.3%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48640" y="5532120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chemeClr val="tx1"/>
                </a:solidFill>
              </a:rPr>
              <a:t xml:space="preserve">The rules alone already do well on straight-line code. LLMs matter where the rules cannot remove a loop or a branch.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chemeClr val="tx1"/>
                </a:solidFill>
              </a:rPr>
              <a:t xml:space="preserve">Programs improved over rules only:  </a:t>
            </a:r>
            <a:r>
              <a:rPr sz="1400" b="0">
                <a:solidFill>
                  <a:schemeClr val="tx1"/>
                </a:solidFill>
              </a:rPr>
              <a:t xml:space="preserve">Gemini 196  ·  Groq 181  ·  Ollama 32</a:t>
            </a:r>
            <a:r>
              <a:rPr sz="1400" b="0">
                <a:solidFill>
                  <a:schemeClr val="tx1"/>
                </a:solidFill>
              </a:rPr>
              <a:t xml:space="preserve">  ·  none worse in any run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Four Configurations Compared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548640" y="1280160"/>
          <a:ext cx="11091672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chemeClr val="tx1"/>
                </a:solidFill>
              </a:rPr>
              <a:t xml:space="preserve">Average cost reduction per category. Loops, conditionals and mixed programs are where an LLM adds the most.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Rules Only vs. Rules + Groq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548640" y="1280160"/>
          <a:ext cx="80924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8915400" y="1280160"/>
            <a:ext cx="2724912" cy="4846320"/>
          </a:xfrm>
          <a:prstGeom prst="roundRect">
            <a:avLst>
              <a:gd name="adj" fmla="val 2684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1508760"/>
            <a:ext cx="22677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accent1"/>
                </a:solidFill>
              </a:rPr>
              <a:t xml:space="preserve">What it shows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011680"/>
            <a:ext cx="2313432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1400"/>
              </a:spcAft>
              <a:buChar char="•"/>
            </a:pPr>
            <a:r>
              <a:rPr sz="1600" b="1">
                <a:solidFill>
                  <a:schemeClr val="tx1"/>
                </a:solidFill>
              </a:rPr>
              <a:t xml:space="preserve">Loops: </a:t>
            </a:r>
            <a:r>
              <a:rPr sz="1600" b="0">
                <a:solidFill>
                  <a:schemeClr val="tx1"/>
                </a:solidFill>
              </a:rPr>
              <a:t xml:space="preserve">65.0% → 93.4%</a:t>
            </a:r>
          </a:p>
          <a:p>
            <a:pPr marL="228600" indent="-228600">
              <a:spcAft>
                <a:spcPts val="1400"/>
              </a:spcAft>
              <a:buChar char="•"/>
            </a:pPr>
            <a:r>
              <a:rPr sz="1600" b="1">
                <a:solidFill>
                  <a:schemeClr val="tx1"/>
                </a:solidFill>
              </a:rPr>
              <a:t xml:space="preserve">Conditionals: </a:t>
            </a:r>
            <a:r>
              <a:rPr sz="1600" b="0">
                <a:solidFill>
                  <a:schemeClr val="tx1"/>
                </a:solidFill>
              </a:rPr>
              <a:t xml:space="preserve">73.9% → 83.5%</a:t>
            </a:r>
          </a:p>
          <a:p>
            <a:pPr marL="228600" indent="-228600">
              <a:spcAft>
                <a:spcPts val="1400"/>
              </a:spcAft>
              <a:buChar char="•"/>
            </a:pPr>
            <a:r>
              <a:rPr sz="1600" b="1">
                <a:solidFill>
                  <a:schemeClr val="tx1"/>
                </a:solidFill>
              </a:rPr>
              <a:t xml:space="preserve">Mixed: </a:t>
            </a:r>
            <a:r>
              <a:rPr sz="1600" b="0">
                <a:solidFill>
                  <a:schemeClr val="tx1"/>
                </a:solidFill>
              </a:rPr>
              <a:t xml:space="preserve">77.9% → 89.3%</a:t>
            </a:r>
          </a:p>
          <a:p>
            <a:pPr marL="228600" indent="-228600">
              <a:spcAft>
                <a:spcPts val="1400"/>
              </a:spcAft>
              <a:buChar char="•"/>
            </a:pPr>
            <a:r>
              <a:rPr sz="1600" b="1">
                <a:solidFill>
                  <a:schemeClr val="tx1"/>
                </a:solidFill>
              </a:rPr>
              <a:t xml:space="preserve">181 programs improved</a:t>
            </a:r>
            <a:r>
              <a:rPr sz="1600" b="0">
                <a:solidFill>
                  <a:schemeClr val="tx1"/>
                </a:solidFill>
              </a:rPr>
              <a:t xml:space="preserve">, none got worse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Rules Only vs. Rules + Ollama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548640" y="1280160"/>
          <a:ext cx="80924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8915400" y="1280160"/>
            <a:ext cx="2724912" cy="4846320"/>
          </a:xfrm>
          <a:prstGeom prst="roundRect">
            <a:avLst>
              <a:gd name="adj" fmla="val 2684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1508760"/>
            <a:ext cx="22677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accent1"/>
                </a:solidFill>
              </a:rPr>
              <a:t xml:space="preserve">What it shows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011680"/>
            <a:ext cx="2313432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1400"/>
              </a:spcAft>
              <a:buChar char="•"/>
            </a:pPr>
            <a:r>
              <a:rPr sz="1600" b="1">
                <a:solidFill>
                  <a:schemeClr val="tx1"/>
                </a:solidFill>
              </a:rPr>
              <a:t xml:space="preserve">Loops: </a:t>
            </a:r>
            <a:r>
              <a:rPr sz="1600" b="0">
                <a:solidFill>
                  <a:schemeClr val="tx1"/>
                </a:solidFill>
              </a:rPr>
              <a:t xml:space="preserve">65.0% → 66.1%</a:t>
            </a:r>
          </a:p>
          <a:p>
            <a:pPr marL="228600" indent="-228600">
              <a:spcAft>
                <a:spcPts val="1400"/>
              </a:spcAft>
              <a:buChar char="•"/>
            </a:pPr>
            <a:r>
              <a:rPr sz="1600" b="1">
                <a:solidFill>
                  <a:schemeClr val="tx1"/>
                </a:solidFill>
              </a:rPr>
              <a:t xml:space="preserve">Conditionals: </a:t>
            </a:r>
            <a:r>
              <a:rPr sz="1600" b="0">
                <a:solidFill>
                  <a:schemeClr val="tx1"/>
                </a:solidFill>
              </a:rPr>
              <a:t xml:space="preserve">73.9% → 75.2%</a:t>
            </a:r>
          </a:p>
          <a:p>
            <a:pPr marL="228600" indent="-228600">
              <a:spcAft>
                <a:spcPts val="1400"/>
              </a:spcAft>
              <a:buChar char="•"/>
            </a:pPr>
            <a:r>
              <a:rPr sz="1600" b="1">
                <a:solidFill>
                  <a:schemeClr val="tx1"/>
                </a:solidFill>
              </a:rPr>
              <a:t xml:space="preserve">Mixed: </a:t>
            </a:r>
            <a:r>
              <a:rPr sz="1600" b="0">
                <a:solidFill>
                  <a:schemeClr val="tx1"/>
                </a:solidFill>
              </a:rPr>
              <a:t xml:space="preserve">77.9% → 80.0%</a:t>
            </a:r>
          </a:p>
          <a:p>
            <a:pPr marL="228600" indent="-228600">
              <a:spcAft>
                <a:spcPts val="1400"/>
              </a:spcAft>
              <a:buChar char="•"/>
            </a:pPr>
            <a:r>
              <a:rPr sz="1600" b="1">
                <a:solidFill>
                  <a:schemeClr val="tx1"/>
                </a:solidFill>
              </a:rPr>
              <a:t xml:space="preserve">32 programs improved</a:t>
            </a:r>
            <a:r>
              <a:rPr sz="1600" b="0">
                <a:solidFill>
                  <a:schemeClr val="tx1"/>
                </a:solidFill>
              </a:rPr>
              <a:t xml:space="preserve">, none got worse</a:t>
            </a:r>
          </a:p>
          <a:p>
            <a:pPr marL="228600" indent="-228600">
              <a:spcAft>
                <a:spcPts val="1400"/>
              </a:spcAft>
              <a:buChar char="•"/>
            </a:pPr>
            <a:r>
              <a:rPr sz="1600" b="0">
                <a:solidFill>
                  <a:schemeClr val="tx1"/>
                </a:solidFill>
              </a:rPr>
              <a:t xml:space="preserve">A small local model: modest gains, but with no internet at all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Results: Comparing the Three LLMs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80160"/>
          <a:ext cx="11091672" cy="4882896"/>
        </p:xfrm>
        <a:graphic>
          <a:graphicData uri="http://schemas.openxmlformats.org/drawingml/2006/table">
            <a:tbl>
              <a:tblPr/>
              <a:tblGrid>
                <a:gridCol w="3383280"/>
                <a:gridCol w="2569464"/>
                <a:gridCol w="2569464"/>
                <a:gridCol w="2569464"/>
              </a:tblGrid>
              <a:tr h="40690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Gemini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Groq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Ollama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gemini-3.1-flash-lite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gpt-oss-120b (+1 fallback)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qwen2.5-coder:7b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Runs on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Google cloud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Groq cloud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This laptop (CPU)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Average cost reduction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91.50%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90.89%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tx1"/>
                          </a:solidFill>
                          <a:latin typeface="Calibri"/>
                        </a:rPr>
                        <a:t>83.28%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Programs improved over rules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196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181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Calls to the model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383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359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328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Usable proposals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340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318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198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262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248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Wrong, blocked by the verifier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Validity rate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92.35%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98.11%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42.93%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Full-run time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43 min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42 min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2 h 14 min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690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chemeClr val="tx1"/>
                          </a:solidFill>
                          <a:latin typeface="Calibri"/>
                        </a:rPr>
                        <a:t>False positives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accent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accent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chemeClr val="accent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Example: Agent Decision Log with Routing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11091672" cy="4892040"/>
          </a:xfrm>
          <a:prstGeom prst="roundRect">
            <a:avLst>
              <a:gd name="adj" fmla="val 1495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1508760"/>
            <a:ext cx="800100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8FB8F0"/>
                </a:solidFill>
                <a:latin typeface="Consolas"/>
              </a:rPr>
              <a:t xml:space="preserve">=== Program: loops_001.src ===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9CA3AF"/>
                </a:solidFill>
                <a:latin typeface="Consolas"/>
              </a:rPr>
              <a:t xml:space="preserve">--- Iteration 20 ---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[ANALYZE] Found 1 opportunity: COPY_PROPAGATION (priority=50)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F5C06B"/>
                </a:solidFill>
                <a:latin typeface="Consolas"/>
              </a:rPr>
              <a:t xml:space="preserve">  [ROUTE]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  Rule-based optimizer: highest-priority opportunity is COPY_PROPAGATION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[PROPOSE] COPY_PROPAGATION at instr 10: t15 = acc -&gt; uses of t15 -&gt; acc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[VERIFY]  </a:t>
            </a:r>
            <a:r>
              <a:rPr sz="1200" b="1">
                <a:solidFill>
                  <a:srgbClr val="7FD27F"/>
                </a:solidFill>
                <a:latin typeface="Consolas"/>
              </a:rPr>
              <a:t xml:space="preserve">PASS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(differential: 25/25 inputs matched)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[COST]    Before: 23.0, After: 20.0 (reduction: 13.0%)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7FD27F"/>
                </a:solidFill>
                <a:latin typeface="Consolas"/>
              </a:rPr>
              <a:t xml:space="preserve">  [ACCEPT]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  Change accepted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9CA3AF"/>
                </a:solidFill>
                <a:latin typeface="Consolas"/>
              </a:rPr>
              <a:t xml:space="preserve">--- Iteration 21 ---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[ANALYZE] No more opportunities found.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F5C06B"/>
                </a:solidFill>
                <a:latin typeface="Consolas"/>
              </a:rPr>
              <a:t xml:space="preserve">  [ROUTE]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  LLM optimizer (groq openai/gpt-oss-120b): the rules have nothing left to try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8FB8F0"/>
                </a:solidFill>
                <a:latin typeface="Consolas"/>
              </a:rPr>
              <a:t xml:space="preserve">  [LLM]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    Dead code elimination: the loop only assigns the constant 42 to acc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          repeatedly, so it can be replaced by a single assignment.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[VERIFY]  </a:t>
            </a:r>
            <a:r>
              <a:rPr sz="1200" b="1">
                <a:solidFill>
                  <a:srgbClr val="7FD27F"/>
                </a:solidFill>
                <a:latin typeface="Consolas"/>
              </a:rPr>
              <a:t xml:space="preserve">PASS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(differential: 25/25 inputs matched)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[COST]    Before: 20.0, After: 4.5 (reduction: 77.5%)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7FD27F"/>
                </a:solidFill>
                <a:latin typeface="Consolas"/>
              </a:rPr>
              <a:t xml:space="preserve">  [ACCEPT]</a:t>
            </a:r>
            <a:r>
              <a:rPr sz="1200" b="0">
                <a:solidFill>
                  <a:srgbClr val="7FD27F"/>
                </a:solidFill>
                <a:latin typeface="Consolas"/>
              </a:rPr>
              <a:t xml:space="preserve">  Change accepted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9CA3AF"/>
                </a:solidFill>
                <a:latin typeface="Consolas"/>
              </a:rPr>
              <a:t xml:space="preserve">--- Iteration 23 ---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 [ANALYZE] No more opportunities found.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9CA3AF"/>
                </a:solidFill>
                <a:latin typeface="Consolas"/>
              </a:rPr>
              <a:t xml:space="preserve">  [INFO]</a:t>
            </a:r>
            <a:r>
              <a:rPr sz="1200" b="0">
                <a:solidFill>
                  <a:srgbClr val="E5E7EB"/>
                </a:solidFill>
                <a:latin typeface="Consolas"/>
              </a:rPr>
              <a:t xml:space="preserve">    LLM not consulted: program is only constant prints (provably minimal)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8FB8F0"/>
                </a:solidFill>
                <a:latin typeface="Consolas"/>
              </a:rPr>
              <a:t xml:space="preserve">=== RESULT === 72.5 -&gt; 2.0 (97.2% reduction)   Output match: PASS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06840" y="1554480"/>
            <a:ext cx="0" cy="4343400"/>
          </a:xfrm>
          <a:prstGeom prst="line">
            <a:avLst/>
          </a:prstGeom>
          <a:ln w="12700">
            <a:solidFill>
              <a:srgbClr val="374151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9235440" y="1508760"/>
            <a:ext cx="2240280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9CA3AF"/>
                </a:solidFill>
                <a:latin typeface="Consolas"/>
              </a:rPr>
              <a:t xml:space="preserve">Original TAC (28)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t0 = 0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acc = t0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t1 = 0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i = t1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L0: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t2 = 11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t3 = i &lt; t2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ifFalse t3 goto L1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t4 = 2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t5 = 1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t6 = t4 + t5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h = t6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...  (16 more)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 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7FD27F"/>
                </a:solidFill>
                <a:latin typeface="Consolas"/>
              </a:rPr>
              <a:t xml:space="preserve">Optimized TAC (2)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print 42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E5E7EB"/>
                </a:solidFill>
                <a:latin typeface="Consolas"/>
              </a:rPr>
              <a:t xml:space="preserve">print 42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Project Status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3547872" cy="4892040"/>
          </a:xfrm>
          <a:prstGeom prst="roundRect">
            <a:avLst>
              <a:gd name="adj" fmla="val 206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7240" y="1481328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591056"/>
            <a:ext cx="237744" cy="23774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371600" y="1527048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tx1"/>
                </a:solidFill>
              </a:rPr>
              <a:t xml:space="preserve">System built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2148840"/>
            <a:ext cx="31089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11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Front end: C and mini-language to TAC</a:t>
            </a:r>
          </a:p>
          <a:p>
            <a:pPr marL="228600" indent="-228600">
              <a:spcAft>
                <a:spcPts val="11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Orchestrator loop + decision logging</a:t>
            </a:r>
          </a:p>
          <a:p>
            <a:pPr marL="228600" indent="-228600">
              <a:spcAft>
                <a:spcPts val="11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Code Analyzer with 6 optimization types</a:t>
            </a:r>
          </a:p>
          <a:p>
            <a:pPr marL="228600" indent="-228600">
              <a:spcAft>
                <a:spcPts val="11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Optimization Specialist router</a:t>
            </a:r>
          </a:p>
          <a:p>
            <a:pPr marL="228600" indent="-228600">
              <a:spcAft>
                <a:spcPts val="11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Three LLM backends: Gemini, Groq, Ollama</a:t>
            </a:r>
          </a:p>
          <a:p>
            <a:pPr marL="228600" indent="-228600">
              <a:spcAft>
                <a:spcPts val="11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Offline mode with a local model</a:t>
            </a:r>
          </a:p>
          <a:p>
            <a:pPr marL="228600" indent="-228600">
              <a:spcAft>
                <a:spcPts val="11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Live C demo front end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22369" y="1280160"/>
            <a:ext cx="3547872" cy="4892040"/>
          </a:xfrm>
          <a:prstGeom prst="roundRect">
            <a:avLst>
              <a:gd name="adj" fmla="val 206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50969" y="1481328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697" y="1591056"/>
            <a:ext cx="237744" cy="23774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145329" y="1527048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tx1"/>
                </a:solidFill>
              </a:rPr>
              <a:t xml:space="preserve">Tested and measured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0969" y="2148840"/>
            <a:ext cx="31089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11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Differential + symbolic verification</a:t>
            </a:r>
          </a:p>
          <a:p>
            <a:pPr marL="228600" indent="-228600">
              <a:spcAft>
                <a:spcPts val="11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Small-scope and pairwise inputs</a:t>
            </a:r>
          </a:p>
          <a:p>
            <a:pPr marL="228600" indent="-228600">
              <a:spcAft>
                <a:spcPts val="11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336 automated tests, all passing</a:t>
            </a:r>
          </a:p>
          <a:p>
            <a:pPr marL="228600" indent="-228600">
              <a:spcAft>
                <a:spcPts val="11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5,100 random programs fuzzed</a:t>
            </a:r>
          </a:p>
          <a:p>
            <a:pPr marL="228600" indent="-228600">
              <a:spcAft>
                <a:spcPts val="11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800 mutation tests: none slips through</a:t>
            </a:r>
          </a:p>
          <a:p>
            <a:pPr marL="228600" indent="-228600">
              <a:spcAft>
                <a:spcPts val="11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500-program dataset, 4 full runs</a:t>
            </a:r>
          </a:p>
          <a:p>
            <a:pPr marL="228600" indent="-228600">
              <a:spcAft>
                <a:spcPts val="11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7 charts and the 6 required metrics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6098" y="1280160"/>
            <a:ext cx="3547872" cy="4892040"/>
          </a:xfrm>
          <a:prstGeom prst="roundRect">
            <a:avLst>
              <a:gd name="adj" fmla="val 2061"/>
            </a:avLst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24698" y="1481328"/>
            <a:ext cx="457200" cy="45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4426" y="1591056"/>
            <a:ext cx="237744" cy="23774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919058" y="1527048"/>
            <a:ext cx="2560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tx1"/>
                </a:solidFill>
              </a:rPr>
              <a:t xml:space="preserve">Possible next steps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4698" y="2148840"/>
            <a:ext cx="31089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28600" indent="-228600">
              <a:spcAft>
                <a:spcPts val="11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Execution time in the cost model</a:t>
            </a:r>
          </a:p>
          <a:p>
            <a:pPr marL="228600" indent="-228600">
              <a:spcAft>
                <a:spcPts val="11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Prompt tuning for small local models</a:t>
            </a:r>
          </a:p>
          <a:p>
            <a:pPr marL="228600" indent="-228600">
              <a:spcAft>
                <a:spcPts val="11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Ollama on the GPU (driver update)</a:t>
            </a:r>
          </a:p>
          <a:p>
            <a:pPr marL="228600" indent="-228600">
              <a:spcAft>
                <a:spcPts val="1100"/>
              </a:spcAft>
              <a:buChar char="•"/>
            </a:pPr>
            <a:r>
              <a:rPr sz="1500" b="0">
                <a:solidFill>
                  <a:schemeClr val="tx1"/>
                </a:solidFill>
              </a:rPr>
              <a:t xml:space="preserve">Larger, real-world-style programs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3547872" cy="1783080"/>
          </a:xfrm>
          <a:prstGeom prst="roundRect">
            <a:avLst>
              <a:gd name="adj" fmla="val 4102"/>
            </a:avLst>
          </a:prstGeom>
          <a:solidFill>
            <a:schemeClr val="bg1">
              <a:alpha val="9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1417320"/>
            <a:ext cx="30906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>
                <a:solidFill>
                  <a:schemeClr val="accent6"/>
                </a:solidFill>
              </a:rPr>
              <a:t xml:space="preserve">82.5%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148840"/>
            <a:ext cx="3090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>
                <a:solidFill>
                  <a:schemeClr val="bg1"/>
                </a:solidFill>
              </a:rPr>
              <a:t xml:space="preserve">average cost reduction with the rules alone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22369" y="1280160"/>
            <a:ext cx="3547872" cy="1783080"/>
          </a:xfrm>
          <a:prstGeom prst="roundRect">
            <a:avLst>
              <a:gd name="adj" fmla="val 4102"/>
            </a:avLst>
          </a:prstGeom>
          <a:solidFill>
            <a:schemeClr val="bg1">
              <a:alpha val="9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50969" y="1417320"/>
            <a:ext cx="30906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>
                <a:solidFill>
                  <a:schemeClr val="accent6"/>
                </a:solidFill>
              </a:rPr>
              <a:t xml:space="preserve">91.5%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0969" y="2148840"/>
            <a:ext cx="3090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>
                <a:solidFill>
                  <a:schemeClr val="bg1"/>
                </a:solidFill>
              </a:rPr>
              <a:t xml:space="preserve">with Gemini proposals, the best configuration so far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6098" y="1280160"/>
            <a:ext cx="3547872" cy="1783080"/>
          </a:xfrm>
          <a:prstGeom prst="roundRect">
            <a:avLst>
              <a:gd name="adj" fmla="val 4102"/>
            </a:avLst>
          </a:prstGeom>
          <a:solidFill>
            <a:schemeClr val="bg1">
              <a:alpha val="9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4698" y="1417320"/>
            <a:ext cx="30906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>
                <a:solidFill>
                  <a:schemeClr val="accent6"/>
                </a:solidFill>
              </a:rPr>
              <a:t xml:space="preserve">90.9%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4698" y="2148840"/>
            <a:ext cx="3090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>
                <a:solidFill>
                  <a:schemeClr val="bg1"/>
                </a:solidFill>
              </a:rPr>
              <a:t xml:space="preserve">with Groq's gpt-oss models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291840"/>
            <a:ext cx="3547872" cy="1783080"/>
          </a:xfrm>
          <a:prstGeom prst="roundRect">
            <a:avLst>
              <a:gd name="adj" fmla="val 4102"/>
            </a:avLst>
          </a:prstGeom>
          <a:solidFill>
            <a:schemeClr val="bg1">
              <a:alpha val="9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3429000"/>
            <a:ext cx="30906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>
                <a:solidFill>
                  <a:schemeClr val="accent6"/>
                </a:solidFill>
              </a:rPr>
              <a:t xml:space="preserve">83.3%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160520"/>
            <a:ext cx="3090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>
                <a:solidFill>
                  <a:schemeClr val="bg1"/>
                </a:solidFill>
              </a:rPr>
              <a:t xml:space="preserve">with a local model, completely offline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22369" y="3291840"/>
            <a:ext cx="3547872" cy="1783080"/>
          </a:xfrm>
          <a:prstGeom prst="roundRect">
            <a:avLst>
              <a:gd name="adj" fmla="val 4102"/>
            </a:avLst>
          </a:prstGeom>
          <a:solidFill>
            <a:schemeClr val="bg1">
              <a:alpha val="9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50969" y="3429000"/>
            <a:ext cx="30906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>
                <a:solidFill>
                  <a:srgbClr val="7FD27F"/>
                </a:solidFill>
              </a:rPr>
              <a:t xml:space="preserve"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50969" y="4160520"/>
            <a:ext cx="3090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>
                <a:solidFill>
                  <a:schemeClr val="bg1"/>
                </a:solidFill>
              </a:rPr>
              <a:t xml:space="preserve">incorrect changes accepted in any run, re-checked on about 64,000 executions per run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96098" y="3291840"/>
            <a:ext cx="3547872" cy="1783080"/>
          </a:xfrm>
          <a:prstGeom prst="roundRect">
            <a:avLst>
              <a:gd name="adj" fmla="val 4102"/>
            </a:avLst>
          </a:prstGeom>
          <a:solidFill>
            <a:schemeClr val="bg1">
              <a:alpha val="9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4698" y="3429000"/>
            <a:ext cx="30906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>
                <a:solidFill>
                  <a:schemeClr val="accent6"/>
                </a:solidFill>
              </a:rPr>
              <a:t xml:space="preserve">13 → 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4698" y="4160520"/>
            <a:ext cx="3090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>
                <a:solidFill>
                  <a:schemeClr val="bg1"/>
                </a:solidFill>
              </a:rPr>
              <a:t xml:space="preserve">wrong changes slipping past the verifier once mutation testing exposed the gap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394960"/>
            <a:ext cx="110916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chemeClr val="accent6"/>
                </a:solidFill>
              </a:rPr>
              <a:t xml:space="preserve">Key insight: </a:t>
            </a:r>
            <a:r>
              <a:rPr sz="1800" b="0">
                <a:solidFill>
                  <a:schemeClr val="bg1"/>
                </a:solidFill>
              </a:rPr>
              <a:t xml:space="preserve">an LLM is a useful proposer whether it runs in the cloud or on a laptop, as long as every suggestion is verified before it is trusted.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iler Optimization">
  <a:themeElements>
    <a:clrScheme name="Compiler Optimization">
      <a:dk1>
        <a:srgbClr val="1B2A41"/>
      </a:dk1>
      <a:lt1>
        <a:srgbClr val="FFFFFF"/>
      </a:lt1>
      <a:dk2>
        <a:srgbClr val="4A5568"/>
      </a:dk2>
      <a:lt2>
        <a:srgbClr val="EEF3FA"/>
      </a:lt2>
      <a:accent1>
        <a:srgbClr val="2A78D6"/>
      </a:accent1>
      <a:accent2>
        <a:srgbClr val="0B8A0B"/>
      </a:accent2>
      <a:accent3>
        <a:srgbClr val="C23434"/>
      </a:accent3>
      <a:accent4>
        <a:srgbClr val="C98500"/>
      </a:accent4>
      <a:accent5>
        <a:srgbClr val="6B7A90"/>
      </a:accent5>
      <a:accent6>
        <a:srgbClr val="BFD6F6"/>
      </a:accent6>
      <a:hlink>
        <a:srgbClr val="2A78D6"/>
      </a:hlink>
      <a:folHlink>
        <a:srgbClr val="4A3AA7"/>
      </a:folHlink>
    </a:clrScheme>
    <a:fontScheme name="Compiler Optimizatio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3296</Words>
  <Application>Microsoft Office PowerPoint</Application>
  <PresentationFormat>Widescreen</PresentationFormat>
  <Paragraphs>527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Consolas</vt:lpstr>
      <vt:lpstr>Compiler Optimization</vt:lpstr>
      <vt:lpstr>PowerPoint Presentation</vt:lpstr>
      <vt:lpstr>Introduction</vt:lpstr>
      <vt:lpstr>Objectives</vt:lpstr>
      <vt:lpstr>Literature Review</vt:lpstr>
      <vt:lpstr>Research Gaps</vt:lpstr>
      <vt:lpstr>Proposed Methodology</vt:lpstr>
      <vt:lpstr>Dataset: 500 Programs, 7 Categories</vt:lpstr>
      <vt:lpstr>System Architecture</vt:lpstr>
      <vt:lpstr>Agent Workflow: The Optimization Loop</vt:lpstr>
      <vt:lpstr>Implementation: Tools &amp; Technologies</vt:lpstr>
      <vt:lpstr>Implementation: The Five Agents</vt:lpstr>
      <vt:lpstr>Verification Deep Dive</vt:lpstr>
      <vt:lpstr>Results: Key Metrics</vt:lpstr>
      <vt:lpstr>Results: Cost Reduction by Category</vt:lpstr>
      <vt:lpstr>Results: Proposal Flow</vt:lpstr>
      <vt:lpstr>Results: Outcomes by Optimization Type</vt:lpstr>
      <vt:lpstr>Results: Share of Accepted Optimizations</vt:lpstr>
      <vt:lpstr>Results: Cost Over Iterations</vt:lpstr>
      <vt:lpstr>Results: Agent Steps vs. Improvement</vt:lpstr>
      <vt:lpstr>Results: Where Each Optimization Was Applied</vt:lpstr>
      <vt:lpstr>Results: Rules Only vs. Rules + Gemini</vt:lpstr>
      <vt:lpstr>Example: Agent Decision Log</vt:lpstr>
      <vt:lpstr>Project Status</vt:lpstr>
      <vt:lpstr>Conclusion</vt:lpstr>
      <vt:lpstr>References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LLM/Agent-Guided Compiler Code Optimization</dc:title>
  <dc:subject>Compiler Design Project</dc:subject>
  <dc:creator>PptxGenJS</dc:creator>
  <cp:lastModifiedBy>Microsoft account</cp:lastModifiedBy>
  <cp:revision>4</cp:revision>
  <dcterms:created xsi:type="dcterms:W3CDTF">2026-10-06T06:12:19Z</dcterms:created>
  <dcterms:modified xsi:type="dcterms:W3CDTF">2026-10-06T07:24:14Z</dcterms:modified>
</cp:coreProperties>
</file>