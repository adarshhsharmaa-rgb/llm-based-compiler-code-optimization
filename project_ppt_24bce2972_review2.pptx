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2"/>
    <p:sldId id="282" r:id="rId33"/>
    <p:sldId id="259" r:id="rId5"/>
    <p:sldId id="260" r:id="rId6"/>
    <p:sldId id="261" r:id="rId7"/>
    <p:sldId id="262" r:id="rId8"/>
    <p:sldId id="283" r:id="rId34"/>
    <p:sldId id="284" r:id="rId35"/>
    <p:sldId id="285" r:id="rId36"/>
    <p:sldId id="264" r:id="rId1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5" r:id="rId56"/>
    <p:sldId id="306" r:id="rId57"/>
    <p:sldId id="307" r:id="rId58"/>
    <p:sldId id="308" r:id="rId59"/>
    <p:sldId id="309" r:id="rId60"/>
    <p:sldId id="310" r:id="rId61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 1 Comments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1591056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1744675"/>
            <a:ext cx="332842" cy="33284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37360" y="1463040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1"/>
                </a:solidFill>
              </a:rPr>
              <a:t xml:space="preserve">1.  </a:t>
            </a:r>
            <a:r>
              <a:rPr sz="1900" b="1">
                <a:solidFill>
                  <a:schemeClr val="tx1"/>
                </a:solidFill>
              </a:rPr>
              <a:t xml:space="preserve">Edit the system architecture to incorporate the features of its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1993392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1"/>
                </a:solidFill>
              </a:rPr>
              <a:t xml:space="preserve">What was done: </a:t>
            </a:r>
            <a:r>
              <a:rPr sz="1450" b="0">
                <a:solidFill>
                  <a:schemeClr val="tx1"/>
                </a:solidFill>
              </a:rPr>
              <a:t xml:space="preserve">The architecture slide and the report figure now list the components inside every agent and show where a run ends: final check, outputs, end.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907792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3218688"/>
            <a:ext cx="640080" cy="6400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3372307"/>
            <a:ext cx="332842" cy="33284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737360" y="3090672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4"/>
                </a:solidFill>
              </a:rPr>
              <a:t xml:space="preserve">2.  </a:t>
            </a:r>
            <a:r>
              <a:rPr sz="1900" b="1">
                <a:solidFill>
                  <a:schemeClr val="tx1"/>
                </a:solidFill>
              </a:rPr>
              <a:t xml:space="preserve">Add more LLMs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621024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4"/>
                </a:solidFill>
              </a:rPr>
              <a:t xml:space="preserve">What was done: </a:t>
            </a:r>
            <a:r>
              <a:rPr sz="1450" b="0">
                <a:solidFill>
                  <a:schemeClr val="tx1"/>
                </a:solidFill>
              </a:rPr>
              <a:t xml:space="preserve">Three LLM backends now sit behind one router: Google Gemini, Groq, and a local Ollama model that works offline.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535424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999939"/>
            <a:ext cx="332842" cy="33284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37360" y="4718304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2"/>
                </a:solidFill>
              </a:rPr>
              <a:t xml:space="preserve">3.  </a:t>
            </a:r>
            <a:r>
              <a:rPr sz="1900" b="1">
                <a:solidFill>
                  <a:schemeClr val="tx1"/>
                </a:solidFill>
              </a:rPr>
              <a:t xml:space="preserve">Add more analysing figures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5248656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2"/>
                </a:solidFill>
              </a:rPr>
              <a:t xml:space="preserve">What was done: </a:t>
            </a:r>
            <a:r>
              <a:rPr sz="1450" b="0">
                <a:solidFill>
                  <a:schemeClr val="tx1"/>
                </a:solidFill>
              </a:rPr>
              <a:t xml:space="preserve">Added the class and data-flow diagrams, a comparison chart for each LLM against the rules, and result tables for all four configurations.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527048"/>
            <a:ext cx="0" cy="118872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645920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645920"/>
            <a:ext cx="0" cy="64008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764792"/>
            <a:ext cx="11091672" cy="3758184"/>
          </a:xfrm>
          <a:prstGeom prst="roundRect">
            <a:avLst>
              <a:gd name="adj" fmla="val 2433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837944"/>
            <a:ext cx="9034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050" b="0">
                <a:solidFill>
                  <a:schemeClr val="accent1"/>
                </a:solidFill>
                <a:latin typeface="Consolas"/>
              </a:rPr>
              <a:t xml:space="preserve">(orchestrator.py)  </a:t>
            </a:r>
            <a:r>
              <a:rPr sz="1200" b="1">
                <a:solidFill>
                  <a:schemeClr val="tx1"/>
                </a:solidFill>
              </a:rPr>
              <a:t xml:space="preserve">Components: </a:t>
            </a:r>
            <a:r>
              <a:rPr sz="1200" b="0">
                <a:solidFill>
                  <a:schemeClr val="tx1"/>
                </a:solidFill>
              </a:rPr>
              <a:t xml:space="preserve">loop controller (up to 50 iterations), memory of the opportunities already tried, decision logger, final checker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code_analyzer.py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Control-flow graph builder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Available-copies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Priority 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93008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11880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optimization_specialist.py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1880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Router: rule, hybrid or llm mode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Rule-based optimizer (optimizer_rule.py)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LLM optimizer (optimizer_llm.py)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LLM backends: Gemini, Groq, Ollama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Prompt builder and TAC reply parser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1880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64408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3" name="Rounded Rectangle 62"/>
          <p:cNvSpPr/>
          <p:nvPr/>
        </p:nvSpPr>
        <p:spPr>
          <a:xfrm>
            <a:off x="6208776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verifier.py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7648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Input-set generator: random, edge, boundary, small-scope, pairwise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Reference TAC interpreter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Differential tester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polynomial checker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7648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or FAIL, with the reason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80176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1" name="Rounded Rectangle 70"/>
          <p:cNvSpPr/>
          <p:nvPr/>
        </p:nvSpPr>
        <p:spPr>
          <a:xfrm>
            <a:off x="8924544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43416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cost_evaluator.py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3416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43416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43416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Counters: instructions, arithmetic ops, temporaries, copies, branches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Weight table: 1.0, 2.0, 0.5, 1.5, 1.0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Weighted-cost calculator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Improvement comparator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3416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cheaper, or no cost gain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695944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9" name="Rounded Rectangle 78"/>
          <p:cNvSpPr/>
          <p:nvPr/>
        </p:nvSpPr>
        <p:spPr>
          <a:xfrm>
            <a:off x="777240" y="4901184"/>
            <a:ext cx="10634472" cy="512064"/>
          </a:xfrm>
          <a:prstGeom prst="roundRect">
            <a:avLst>
              <a:gd name="adj" fmla="val 1428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0120" y="4901184"/>
            <a:ext cx="1026871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Either way the loop returns to the Code Analysis Specialist.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168128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2" name="Connector 81"/>
          <p:cNvCxnSpPr/>
          <p:nvPr/>
        </p:nvCxnSpPr>
        <p:spPr>
          <a:xfrm flipV="1">
            <a:off x="2020824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3" name="Connector 82"/>
          <p:cNvCxnSpPr/>
          <p:nvPr/>
        </p:nvCxnSpPr>
        <p:spPr>
          <a:xfrm>
            <a:off x="2263140" y="5413248"/>
            <a:ext cx="0" cy="310896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4" name="TextBox 83"/>
          <p:cNvSpPr txBox="1"/>
          <p:nvPr/>
        </p:nvSpPr>
        <p:spPr>
          <a:xfrm>
            <a:off x="2354580" y="55138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4"/>
                </a:solidFill>
              </a:rPr>
              <a:t xml:space="preserve">when nothing is left to try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7240" y="5724144"/>
            <a:ext cx="2971800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3816" y="5724144"/>
            <a:ext cx="2898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chemeClr val="tx1"/>
                </a:solidFill>
              </a:rPr>
              <a:t xml:space="preserve">Final check: optimized vs. original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749040" y="5952744"/>
            <a:ext cx="320040" cy="0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8" name="Rounded Rectangle 87"/>
          <p:cNvSpPr/>
          <p:nvPr/>
        </p:nvSpPr>
        <p:spPr>
          <a:xfrm>
            <a:off x="4069080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05656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Optimized TAC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53278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89854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Decision log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7476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74052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Metrics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821674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58250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7 charts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0268712" y="5952744"/>
            <a:ext cx="27432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97" name="Rounded Rectangle 96"/>
          <p:cNvSpPr/>
          <p:nvPr/>
        </p:nvSpPr>
        <p:spPr>
          <a:xfrm>
            <a:off x="10543032" y="5724144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579608" y="5724144"/>
            <a:ext cx="795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</a:rPr>
              <a:t xml:space="preserve">End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532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5"/>
                </a:solidFill>
              </a:rPr>
              <a:t xml:space="preserve">Outputs of the run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336 tests, one module per component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Front end: C and mini-language to TAC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Code Analyzer with 6 optimization types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Optimization Specialist router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Three LLM backends: Gemini, Groq, Ollama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Offline mode with a local model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Live C demo front 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Tested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Differential + symbolic verification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Small-scope and pairwise inputs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336 automated tests, all passing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5,100 random programs fuzzed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800 mutation tests: none slips through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500-program dataset, 4 full runs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7 charts and the 6 required metrics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Possible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Execution time in the cost model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Prompt tuning for small local models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Ollama on the GPU (driver update)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Larger, real-world-style programs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with the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91.5%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Gemini proposals, the best configuration so far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90.9%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Groq's gpt-oss models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a local model, completely offline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incorrect changes accepted in any run, re-checked on about 64,000 executions per run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13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changes slipping past the verifier once mutation testing exposed the gap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 LLM is a useful proposer whether it runs in the cloud or on a laptop, as long as every suggestion is verified before it is trusted.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