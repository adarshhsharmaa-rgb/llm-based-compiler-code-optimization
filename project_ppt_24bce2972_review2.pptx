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1" r:id="rId32"/>
    <p:sldId id="259" r:id="rId5"/>
    <p:sldId id="260" r:id="rId6"/>
    <p:sldId id="261" r:id="rId7"/>
    <p:sldId id="262" r:id="rId8"/>
    <p:sldId id="282" r:id="rId33"/>
    <p:sldId id="283" r:id="rId34"/>
    <p:sldId id="284" r:id="rId35"/>
    <p:sldId id="264" r:id="rId10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04" r:id="rId55"/>
    <p:sldId id="305" r:id="rId56"/>
    <p:sldId id="306" r:id="rId57"/>
    <p:sldId id="307" r:id="rId58"/>
    <p:sldId id="308" r:id="rId59"/>
    <p:sldId id="309" r:id="rId60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BB240C-8067-9E2B-824A-E4A7E8DEF879}">
          <p14:sldIdLst>
            <p14:sldId id="256"/>
            <p14:sldId id="257"/>
            <p14:sldId id="258"/>
          </p14:sldIdLst>
        </p14:section>
        <p14:section name="Background" id="{F9562233-FE51-C6C4-56C2-8A373D787C4E}">
          <p14:sldIdLst>
            <p14:sldId id="259"/>
            <p14:sldId id="260"/>
          </p14:sldIdLst>
        </p14:section>
        <p14:section name="Methodology" id="{EF1158AA-F2C7-B2F5-FEEC-092E87CCD064}">
          <p14:sldIdLst>
            <p14:sldId id="261"/>
            <p14:sldId id="262"/>
          </p14:sldIdLst>
        </p14:section>
        <p14:section name="Architecture &amp; Implementation" id="{30F24689-2566-C13B-35AE-40BE5E901817}">
          <p14:sldIdLst>
            <p14:sldId id="263"/>
            <p14:sldId id="264"/>
            <p14:sldId id="265"/>
            <p14:sldId id="266"/>
            <p14:sldId id="267"/>
          </p14:sldIdLst>
        </p14:section>
        <p14:section name="Results" id="{28D50B11-C353-BEAB-544F-28D48D7B1B30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Status &amp; Conclusion" id="{2449FF5C-1812-AB45-9F1C-A8BF21328349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Gemini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81.7</c:v>
                </c:pt>
                <c:pt idx="3">
                  <c:v>97.4</c:v>
                </c:pt>
                <c:pt idx="4">
                  <c:v>93.3</c:v>
                </c:pt>
                <c:pt idx="5">
                  <c:v>84.1</c:v>
                </c:pt>
                <c:pt idx="6">
                  <c:v>91.6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229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One-line pitch: an agent that optimizes compiler intermediate code on its own, and never accepts a change it cannot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combines classical compiler techniques with an LLM. Unlike LLM Compiler, which picks pass orderings, our agent proposes actual code transformations and checks each one before accepting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is addressed by one part of the design: the agent loop (gap 1), cheap rule-based search (gap 2), the verifier (gaps 3 and 5), and code-level proposals (gap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seven steps. Stress that the verifier sits between every proposal and the program: nothing changes unless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is generated, not hand-written, so the experiment can be reproduced exactly from the fixed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flowchart top to bottom. Point out the two rejection paths (invalid, and no cost gain) and that both loop back to analysis without changing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flow left to right: sources, verification, then the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 proposals never failed verification; every invalid proposal came from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10,828 accepted changes, about 60% are copy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ends when the agent finds nothing more to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line in each panel is a linear trend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Darker cells mean the optimization was applied more often in that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adds most where the six rules are weakest: loops and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Automated LLM/Agent-Guided Compiler Code Optimization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6"/>
                </a:solidFill>
              </a:rPr>
              <a:t>COMPILER DESIGN PROJECT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LLM/Agent-Guided Compiler Code Optimization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</a:rPr>
              <a:t>A multi-agent system for autonomous TAC analysis, transformation and verification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1"/>
                </a:solidFill>
              </a:rPr>
              <a:t>Team: </a:t>
            </a:r>
            <a:r>
              <a:rPr lang="en-US" sz="1600" dirty="0" smtClean="0">
                <a:solidFill>
                  <a:schemeClr val="bg1"/>
                </a:solidFill>
              </a:rPr>
              <a:t>ADARSH SHARMA BADHAI[24BCE2972]</a:t>
            </a:r>
            <a:r>
              <a:rPr lang="en-US" sz="1600" dirty="0" smtClean="0">
                <a:solidFill>
                  <a:schemeClr val="bg1"/>
                </a:solidFill>
              </a:rPr>
              <a:t>  ·  NIRUPAM RAUT[24BAI0345]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October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26680" y="1417320"/>
            <a:ext cx="3913632" cy="4206240"/>
          </a:xfrm>
          <a:prstGeom prst="roundRect">
            <a:avLst>
              <a:gd name="adj" fmla="val 1869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0100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Before (naive TAC)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0116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 = 3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 = 5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 = t0 + t1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t2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x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3703320"/>
            <a:ext cx="347472" cy="3474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0100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After (agent-optimized)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4572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7FD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8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Literature Review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4956048"/>
        </p:xfrm>
        <a:graphic>
          <a:graphicData uri="http://schemas.openxmlformats.org/drawingml/2006/table">
            <a:tbl>
              <a:tblPr/>
              <a:tblGrid>
                <a:gridCol w="2514600"/>
                <a:gridCol w="4288536"/>
                <a:gridCol w="4288536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to our 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compiler 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Aho, Lam, Sethi &amp; Ullman: Compilers: Principles, Techniques, and Tools (2006)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for constant folding, DCE, CSE, copy propagation and dataflow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Massalin (1987); Schkufza, Sharma &amp; Aiken: STOKE (2013); Phothilimthana et al. (2016)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for optimal instruction sequences; uses testing to check candidates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validation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Pnueli, Siegel &amp; Singerman (1998); Necula (2000)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that compiler output matches the source: the idea behind our verifier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for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al.: Codex (2021); Rozière et al.: Code Llama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that generate and transform code; we use Gemini as a proposer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 compilation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Cummins et al.: CompilerGym (2022); Cummins et al.: LLM Compiler (2024)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 and LLM agents choosing compiler flags and pass orderings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al.: AutoGen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orchestration; inspired our Orchestrator + specialist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Research Gaps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813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441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Fixed pass order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73352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Classical compilers don't decide which optimization to try or check whether it helped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134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Superoptimizers are slow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42616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STOKE-style search is thorough but limited to small code blocks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41985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826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correctness guarantee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11880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 code tools (Codex, Code Llama) can introduce bugs silently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87952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891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2519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level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581144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LLM-for-compiler work targets pass ordering and flags, not code transformations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157216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3583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2212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verification gate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50408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Few systems check every LLM suggestion before accepting it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543800" y="1280160"/>
            <a:ext cx="4096512" cy="4791456"/>
          </a:xfrm>
          <a:prstGeom prst="roundRect">
            <a:avLst>
              <a:gd name="adj" fmla="val 178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812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40" y="1714500"/>
            <a:ext cx="320040" cy="32004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818120" y="2331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Our contribution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28346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An agent that decides what to optimize, proposes transformations (rule-based + LLM), and accepts a change only after it is verified and shown to lower cost.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846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incorrect changes accepted in 10,978 proposals</a:t>
            </a:r>
            <a:endParaRPr lang="en-US" sz="1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Proposed 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0685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75338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7533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Parse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Source → AST → Three-Address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91775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560255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560255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217927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Analyze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0670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Find optimization opportunities, ranked by priority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7669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14517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14517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3764193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Propose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91625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Apply the top rule; or ask the LLM, as the router decides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6160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730088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73008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534910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37654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Differential testing + symbolic check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524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004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004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26" name="Text 24"/>
          <p:cNvSpPr txBox="1"/>
          <p:nvPr/>
        </p:nvSpPr>
        <p:spPr>
          <a:xfrm>
            <a:off x="693402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Evaluate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6145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Accept only if the weighted cost drops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63144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89992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89992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6</a:t>
            </a:r>
            <a:endParaRPr lang="en-US" sz="2080" dirty="0"/>
          </a:p>
        </p:txBody>
      </p:sp>
      <p:sp>
        <p:nvSpPr>
          <p:cNvPr id="31" name="Text 29"/>
          <p:cNvSpPr txBox="1"/>
          <p:nvPr/>
        </p:nvSpPr>
        <p:spPr>
          <a:xfrm>
            <a:off x="8518942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Repeat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546374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Until nothing is left (max 50 iterations)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0484837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484837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7</a:t>
            </a:r>
            <a:endParaRPr lang="en-US" sz="2080" dirty="0"/>
          </a:p>
        </p:txBody>
      </p:sp>
      <p:sp>
        <p:nvSpPr>
          <p:cNvPr id="35" name="Text 33"/>
          <p:cNvSpPr txBox="1"/>
          <p:nvPr/>
        </p:nvSpPr>
        <p:spPr>
          <a:xfrm>
            <a:off x="1010385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Final check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13129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Re-verify the result against the original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5006340"/>
            <a:ext cx="320040" cy="32004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691640" y="4645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Key design principle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691640" y="502920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The LLM is only a proposer. Its suggestions go through exactly the same verification and cost gates as the rule-based ones, so a wrong suggestion is caught and rejected.</a:t>
            </a:r>
            <a:endParaRPr lang="en-US" sz="17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Dataset: 500 Programs, 7 Categories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4641088"/>
        </p:xfrm>
        <a:graphic>
          <a:graphicData uri="http://schemas.openxmlformats.org/drawingml/2006/table">
            <a:tbl>
              <a:tblPr/>
              <a:tblGrid>
                <a:gridCol w="1965960"/>
                <a:gridCol w="777240"/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optimization targets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k = 1 + 14;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((a+b)*(c-d))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folding, copy propagation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a*b computed twice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subexpression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v = e*5; never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/ while with invariant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Folding inside loops, DCE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with x*1, x+0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 simplification,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280160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868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435608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Generated by dataset/generator.py with a fixed random seed, so it is reproducible</a:t>
            </a:r>
            <a:endParaRPr lang="en-US" sz="1500" dirty="0"/>
          </a:p>
        </p:txBody>
      </p:sp>
      <p:sp>
        <p:nvSpPr>
          <p:cNvPr id="3" name="Shape 4"/>
          <p:cNvSpPr/>
          <p:nvPr/>
        </p:nvSpPr>
        <p:spPr>
          <a:xfrm>
            <a:off x="8503920" y="2852928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31501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3008376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Some programs read input variables, tested with random and boundary values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503920" y="4425696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8686800" y="46085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0" y="472287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81160" y="4581144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Covers straight-line, branching, looping and nested code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Agent Workflow: The Optimization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298448"/>
            <a:ext cx="2743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Analyze TAC: find opportunities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002536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Any untried opportunity?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35224"/>
            <a:ext cx="27432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Pick top priority and propose (rules or an LLM)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6850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Verified correct?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5994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Cost lower?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513832"/>
            <a:ext cx="2743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ACCEPT: update program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801368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48840" y="2734056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258568" y="27340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8840" y="3483864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48840" y="44165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258568" y="4416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48840" y="53309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258568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77640" y="2093976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Final check vs. original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15000" y="2139696"/>
            <a:ext cx="731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37993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invalid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77640" y="47137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no cost gain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20440" y="2368296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40680" y="2368296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20440" y="40507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0440" y="49651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566160" y="2103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7856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Fail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7000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806440" y="40507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06440" y="49651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 flipV="1">
            <a:off x="6675120" y="1463040"/>
            <a:ext cx="0" cy="35021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flipH="1">
            <a:off x="3520440" y="1463040"/>
            <a:ext cx="3154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97764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rejected: try the next 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566928" y="57424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 flipV="1">
            <a:off x="566928" y="1627632"/>
            <a:ext cx="0" cy="41148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66928" y="16276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611880" y="5650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accepted: analyze again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866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330" y="1497330"/>
            <a:ext cx="251460" cy="25146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7772400" y="128016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Max 50 iterations per program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7086600" y="23225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448306"/>
            <a:ext cx="251460" cy="2514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7772400" y="2231136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accept: clear the "already tried" list, since new opportunities may appear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7086600" y="32735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330" y="3399282"/>
            <a:ext cx="251460" cy="25146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7772400" y="3182112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reject: remember it and try the next opportunity</a:t>
            </a:r>
            <a:endParaRPr lang="en-US" sz="1700" dirty="0"/>
          </a:p>
        </p:txBody>
      </p:sp>
      <p:sp>
        <p:nvSpPr>
          <p:cNvPr id="46" name="Shape 41"/>
          <p:cNvSpPr/>
          <p:nvPr/>
        </p:nvSpPr>
        <p:spPr>
          <a:xfrm>
            <a:off x="7086600" y="42245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330" y="4350258"/>
            <a:ext cx="251460" cy="25146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772400" y="4133088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In hybrid mode the LLM is asked when a rule is rejected or the rules run out</a:t>
            </a:r>
            <a:endParaRPr lang="en-US" sz="1700" dirty="0"/>
          </a:p>
        </p:txBody>
      </p:sp>
      <p:sp>
        <p:nvSpPr>
          <p:cNvPr id="49" name="Shape 43"/>
          <p:cNvSpPr/>
          <p:nvPr/>
        </p:nvSpPr>
        <p:spPr>
          <a:xfrm>
            <a:off x="7086600" y="51755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330" y="5301234"/>
            <a:ext cx="251460" cy="25146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7772400" y="5084064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At the end: re-verify the optimized TAC against the original</a:t>
            </a:r>
            <a:endParaRPr lang="en-US" sz="17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Proposal Flow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1_sankey_propos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374"/>
            <a:ext cx="8092440" cy="43198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10,978</a:t>
            </a:r>
            <a:r>
              <a:rPr lang="en-US" sz="1600" dirty="0">
                <a:solidFill>
                  <a:schemeClr val="tx1"/>
                </a:solidFill>
              </a:rPr>
              <a:t> proposals in total (10,638 rule-based, 340 from Gemini)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10,952</a:t>
            </a:r>
            <a:r>
              <a:rPr lang="en-US" sz="1600" dirty="0">
                <a:solidFill>
                  <a:schemeClr val="tx1"/>
                </a:solidFill>
              </a:rPr>
              <a:t> passed verification; </a:t>
            </a:r>
            <a:r>
              <a:rPr lang="en-US" sz="1600" b="1" dirty="0">
                <a:solidFill>
                  <a:schemeClr val="tx1"/>
                </a:solidFill>
              </a:rPr>
              <a:t>26</a:t>
            </a:r>
            <a:r>
              <a:rPr lang="en-US" sz="1600" dirty="0">
                <a:solidFill>
                  <a:schemeClr val="tx1"/>
                </a:solidFill>
              </a:rPr>
              <a:t> were invalid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10,828</a:t>
            </a:r>
            <a:r>
              <a:rPr lang="en-US" sz="1600" dirty="0">
                <a:solidFill>
                  <a:schemeClr val="tx1"/>
                </a:solidFill>
              </a:rPr>
              <a:t> accepted; 124 rejected for no cost gain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26 invalid proposals came from the LLM and were blocked by the verifier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Outcomes by Type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2_bar_outcomes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3375"/>
            <a:ext cx="8092440" cy="4639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</a:t>
            </a:r>
            <a:r>
              <a:rPr lang="en-US" sz="1600" dirty="0">
                <a:solidFill>
                  <a:schemeClr val="tx1"/>
                </a:solidFill>
              </a:rPr>
              <a:t> dominates: 6,465 accepted, because naive TAC creates many temporary copies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Strength reduction</a:t>
            </a:r>
            <a:r>
              <a:rPr lang="en-US" sz="1600" dirty="0">
                <a:solidFill>
                  <a:schemeClr val="tx1"/>
                </a:solidFill>
              </a:rPr>
              <a:t> has the most rule rejections (62): x*2 → x+x doesn't lower cost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LLM proposals:</a:t>
            </a:r>
            <a:r>
              <a:rPr lang="en-US" sz="1600" dirty="0">
                <a:solidFill>
                  <a:schemeClr val="tx1"/>
                </a:solidFill>
              </a:rPr>
              <a:t> 262 accepted, 52 no gain, 26 invalid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Accepted Optimizations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4_pie_accepted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8710"/>
            <a:ext cx="8092440" cy="47892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 59.7%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Dead Code 17.5%, Constant Fold 16.7%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2.4%, Algebraic 1.6%, CSE 1.4%, Strength Reduction 0.8%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steps are few, but each one is large: a single step can replace a whole loop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Over Iterations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3_line_cost_over_it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4106"/>
            <a:ext cx="8092440" cy="483842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representative program from each main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Cost falls steadily with each accepted optimization until no opportunities remain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sharp drop in loops_024 is a Gemini step: </a:t>
            </a:r>
            <a:r>
              <a:rPr lang="en-US" sz="1600" b="1" dirty="0">
                <a:solidFill>
                  <a:schemeClr val="tx1"/>
                </a:solidFill>
              </a:rPr>
              <a:t>"adds −1 twelve times" → total − 12</a:t>
            </a:r>
            <a:r>
              <a:rPr lang="en-US" sz="1600" dirty="0">
                <a:solidFill>
                  <a:schemeClr val="tx1"/>
                </a:solidFill>
              </a:rPr>
              <a:t>, cutting cost by 66.7% at once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Steps vs. Improvement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5_scatter_steps_vs_improv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4454"/>
            <a:ext cx="8092440" cy="397773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panel per category; grey dots are all other programs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Overall trend: </a:t>
            </a:r>
            <a:r>
              <a:rPr lang="en-US" sz="1600" b="1" dirty="0">
                <a:solidFill>
                  <a:schemeClr val="tx1"/>
                </a:solidFill>
              </a:rPr>
              <a:t>+0.41 percentage points per step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Programs that take more steps tend to reach higher reductions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Where Optimizations Applied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6_heatmap_category_vs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0793"/>
            <a:ext cx="8092440" cy="466505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Copy propagation is the most applied in every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Nested programs have the most constant folds (</a:t>
            </a:r>
            <a:r>
              <a:rPr lang="en-US" sz="1600" b="1" dirty="0">
                <a:solidFill>
                  <a:schemeClr val="tx1"/>
                </a:solidFill>
              </a:rPr>
              <a:t>527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Mixed programs have the most dead-code removals (</a:t>
            </a:r>
            <a:r>
              <a:rPr lang="en-US" sz="1600" b="1" dirty="0">
                <a:solidFill>
                  <a:schemeClr val="tx1"/>
                </a:solidFill>
              </a:rPr>
              <a:t>463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Gemini helped mostly in loops (87), conditionals (62) and mixed (99)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Gemini</a:t>
            </a:r>
            <a:endParaRPr lang="en-US" sz="3200" dirty="0"/>
          </a:p>
        </p:txBody>
      </p:sp>
      <p:pic>
        <p:nvPicPr>
          <p:cNvPr id="3" name="Image 0" descr="D:\nirupam\Desktop\compiler_project\presentation\plots\7_comparison_rule_vs_l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97366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Loops: </a:t>
            </a:r>
            <a:r>
              <a:rPr lang="en-US" sz="1600" dirty="0">
                <a:solidFill>
                  <a:schemeClr val="tx1"/>
                </a:solidFill>
              </a:rPr>
              <a:t>65.1% → 93.3%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Conditionals: </a:t>
            </a:r>
            <a:r>
              <a:rPr lang="en-US" sz="1600" dirty="0">
                <a:solidFill>
                  <a:schemeClr val="tx1"/>
                </a:solidFill>
              </a:rPr>
              <a:t>73.9% → 84.1%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Mixed: </a:t>
            </a:r>
            <a:r>
              <a:rPr lang="en-US" sz="1600" dirty="0">
                <a:solidFill>
                  <a:schemeClr val="tx1"/>
                </a:solidFill>
              </a:rPr>
              <a:t>77.9% → 91.6%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196 programs improved</a:t>
            </a:r>
            <a:r>
              <a:rPr lang="en-US" sz="1600" dirty="0">
                <a:solidFill>
                  <a:schemeClr val="tx1"/>
                </a:solidFill>
              </a:rPr>
              <a:t>, none got worse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[1]  Aho, A.V., Lam, M.S., Sethi, R. &amp; Ullman, J.D. (2006). Compilers: Principles, Techniques, and Tools (2nd ed.). Pearson.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[2]  Massalin, H. (1987). Superoptimizer: A Look at the Smallest Program.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[3]  Schkufza, E., Sharma, R. &amp; Aiken, A. (2013). Stochastic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[4]  Phothilimthana, P.M. et al. (2016). Scaling up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[5]  Pnueli, A., Siegel, M. &amp; Singerman, E. (1998). Translation Validation. TACAS.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[6]  Necula, G.C. (2000). Translation Validation for an Optimizing Compiler. PLDI.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[7]  Chen, M. et al. (2021). Evaluating Large Language Models Trained on Code. arXiv:2107.03374.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[8]  Rozière, B. et al. (2023). Code Llama: Open Foundation Models for Code. arXiv:2308.12950.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[9]  Cummins, C. et al. (2022). CompilerGym: Robust, Performant Compiler Optimization Environments for AI Research. CGO.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[10]  Cummins, C. et al. (2024). Meta Large Language Model Compiler: Foundation Models of Compiler Optimization. arXiv:2407.02524.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[11]  Wu, Q. et al. (2023). AutoGen: Enabling Next-Gen LLM Applications via Multi-Agent Conversation. arXiv:2308.08155.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[12]  Gemini Team, Google (2023). Gemini: A Family of Highly Capable Multimodal Models. arXiv:2312.11805.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[13]  Ollama (2026). Ollama: run large language models locally. https://ollama.com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[14]  Groq (2026). GroqCloud API documentation. https://console.groq.com/docs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4864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530706"/>
            <a:ext cx="285293" cy="28529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9844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Agent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Five components as separate classes with clear interfaces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737714"/>
            <a:ext cx="285293" cy="28529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9844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Orchestrator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Analyze → Propose → Verify → Evaluate → Accept/Reject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944722"/>
            <a:ext cx="285293" cy="28529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9844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6 optimization types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844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Folding, algebraic, dead code, CSE, strength reduction, copy propagation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5151730"/>
            <a:ext cx="285293" cy="28529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9844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Dual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hundreds of input sets + symbolic equivalence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30706"/>
            <a:ext cx="285293" cy="2852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6772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Cost-gated acceptance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Accept only if verified correct AND cheaper</a:t>
            </a:r>
          </a:p>
        </p:txBody>
      </p:sp>
      <p:sp>
        <p:nvSpPr>
          <p:cNvPr id="46" name="Oval 45"/>
          <p:cNvSpPr/>
          <p:nvPr/>
        </p:nvSpPr>
        <p:spPr>
          <a:xfrm>
            <a:off x="621792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2737714"/>
            <a:ext cx="285293" cy="28529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6772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proposers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Gemini, Groq and a local Ollama model behind one router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3944722"/>
            <a:ext cx="285293" cy="285293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96772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Offline mode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6772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whole agent runs with no internet connection</a:t>
            </a:r>
          </a:p>
        </p:txBody>
      </p:sp>
      <p:sp>
        <p:nvSpPr>
          <p:cNvPr id="54" name="Oval 53"/>
          <p:cNvSpPr/>
          <p:nvPr/>
        </p:nvSpPr>
        <p:spPr>
          <a:xfrm>
            <a:off x="621792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5151730"/>
            <a:ext cx="285293" cy="28529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6772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Full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programs, the 6 required metrics, 7 charts, 4 configurations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Source program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8646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5222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Lexer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40280" y="1399032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4308653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5229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Parser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20286" y="1399032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6188659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5235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AST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00293" y="1399032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8068666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05242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TAC Generator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80299" y="1399032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9948672" y="1188720"/>
            <a:ext cx="1691640" cy="420624"/>
          </a:xfrm>
          <a:prstGeom prst="roundRect">
            <a:avLst>
              <a:gd name="adj" fmla="val 15217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188720"/>
            <a:ext cx="1618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TAC program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60306" y="1399032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cxnSp>
        <p:nvCxnSpPr>
          <p:cNvPr id="43" name="Connector 42"/>
          <p:cNvCxnSpPr/>
          <p:nvPr/>
        </p:nvCxnSpPr>
        <p:spPr>
          <a:xfrm>
            <a:off x="10789920" y="1609344"/>
            <a:ext cx="0" cy="13716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011680" y="1746504"/>
            <a:ext cx="8778240" cy="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2011680" y="1746504"/>
            <a:ext cx="0" cy="740664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6" name="Rounded Rectangle 45"/>
          <p:cNvSpPr/>
          <p:nvPr/>
        </p:nvSpPr>
        <p:spPr>
          <a:xfrm>
            <a:off x="548640" y="1883664"/>
            <a:ext cx="11091672" cy="4279392"/>
          </a:xfrm>
          <a:prstGeom prst="roundRect">
            <a:avLst>
              <a:gd name="adj" fmla="val 2136"/>
            </a:avLst>
          </a:prstGeom>
          <a:solidFill>
            <a:schemeClr val="accent1">
              <a:alpha val="5000"/>
            </a:schemeClr>
          </a:solidFill>
          <a:ln w="15875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1975104"/>
            <a:ext cx="9034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chemeClr val="accent1"/>
                </a:solidFill>
              </a:rPr>
              <a:t xml:space="preserve">Orchestrator </a:t>
            </a:r>
            <a:r>
              <a:rPr sz="1050" b="0">
                <a:solidFill>
                  <a:schemeClr val="accent1"/>
                </a:solidFill>
                <a:latin typeface="Consolas"/>
              </a:rPr>
              <a:t xml:space="preserve">(orchestrator.py)  </a:t>
            </a:r>
            <a:r>
              <a:rPr sz="1200" b="0">
                <a:solidFill>
                  <a:schemeClr val="tx1"/>
                </a:solidFill>
              </a:rPr>
              <a:t xml:space="preserve">runs the loop for up to 50 iterations, remembers what was already tried, logs every decision and re-verifies the final program against the original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1  Code Analysis Specialist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code_analyzer.py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current TAC program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Builds the control-flow graph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Liveness and available-copies dataflow analyses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Six detectors: constant fold, algebraic, dead code, CSE, strength reduction, copy propagation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Leaves out opportunities already turned down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opportunities ranked by priority, 100 down to 50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93008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11880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2  Optimization Specialist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11880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optimization_specialist.py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program and its opportunities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1880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Routes the step by mode: rule, hybrid or llm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Option A: the rule-based optimizer applies the top opportunity to a copy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Option B: an LLM (Gemini, Groq or Ollama) answers one shared prompt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The reply is parsed back into TAC; unusable replies are dropped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one candidate program with its reasoning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264408" y="3849624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1" name="Rounded Rectangle 60"/>
          <p:cNvSpPr/>
          <p:nvPr/>
        </p:nvSpPr>
        <p:spPr>
          <a:xfrm>
            <a:off x="6208776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27648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3  Verification Module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7648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verifier.py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current program + candidate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27648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Runs both on random, edge, boundary, small-scope and pairwise inputs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Compares printed output and failure mode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Symbolic check for straight-line code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Both timing out: cannot be verified, so 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PASS or FAIL, with the reason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80176" y="3849624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8" name="Rounded Rectangle 67"/>
          <p:cNvSpPr/>
          <p:nvPr/>
        </p:nvSpPr>
        <p:spPr>
          <a:xfrm>
            <a:off x="8924544" y="2487168"/>
            <a:ext cx="2487168" cy="2724912"/>
          </a:xfrm>
          <a:prstGeom prst="roundRect">
            <a:avLst>
              <a:gd name="adj" fmla="val 2573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2569464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4  Cost Evaluator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43416" y="2816352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cost_evaluator.py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3416" y="30358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program + verified candidate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43416" y="3383280"/>
            <a:ext cx="22494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Counts instructions, arithmetic ops, temporaries, copies and branches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Weights them 1.0, 2.0, 0.5, 1.5 and 1.0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Compares the two weighted totals</a:t>
            </a:r>
          </a:p>
          <a:p>
            <a:pPr marL="228600" indent="-228600">
              <a:spcAft>
                <a:spcPts val="20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A change counts only if the cost strictly drops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43416" y="4828032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ACCEPT, or REJECT for no cost gain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695944" y="3849624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5" name="Rounded Rectangle 74"/>
          <p:cNvSpPr/>
          <p:nvPr/>
        </p:nvSpPr>
        <p:spPr>
          <a:xfrm>
            <a:off x="777240" y="5376672"/>
            <a:ext cx="10634472" cy="676656"/>
          </a:xfrm>
          <a:prstGeom prst="roundRect">
            <a:avLst>
              <a:gd name="adj" fmla="val 1081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0120" y="5376672"/>
            <a:ext cx="10268712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chemeClr val="accent2"/>
                </a:solidFill>
              </a:rPr>
              <a:t xml:space="preserve">5  Decision.  </a:t>
            </a:r>
            <a:r>
              <a:rPr sz="1100" b="1">
                <a:solidFill>
                  <a:schemeClr val="tx1"/>
                </a:solidFill>
              </a:rPr>
              <a:t xml:space="preserve">ACCEPT: </a:t>
            </a:r>
            <a:r>
              <a:rPr sz="1100" b="0">
                <a:solidFill>
                  <a:schemeClr val="tx1"/>
                </a:solidFill>
              </a:rPr>
              <a:t xml:space="preserve">the candidate becomes the current program and the loop analyzes it again.  </a:t>
            </a:r>
            <a:r>
              <a:rPr sz="1100" b="1">
                <a:solidFill>
                  <a:schemeClr val="tx1"/>
                </a:solidFill>
              </a:rPr>
              <a:t xml:space="preserve">REJECT: </a:t>
            </a:r>
            <a:r>
              <a:rPr sz="1100" b="0">
                <a:solidFill>
                  <a:schemeClr val="tx1"/>
                </a:solidFill>
              </a:rPr>
              <a:t xml:space="preserve">the next opportunity is tried, or the same step goes to the other proposer.  </a:t>
            </a:r>
            <a:r>
              <a:rPr sz="1100" b="1">
                <a:solidFill>
                  <a:schemeClr val="tx1"/>
                </a:solidFill>
              </a:rPr>
              <a:t xml:space="preserve">When nothing is left: </a:t>
            </a:r>
            <a:r>
              <a:rPr sz="1100" b="0">
                <a:solidFill>
                  <a:schemeClr val="tx1"/>
                </a:solidFill>
              </a:rPr>
              <a:t xml:space="preserve">final check against the original, then the outputs: optimized TAC, decision log, metrics and 7 charts.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168128" y="5212080"/>
            <a:ext cx="0" cy="16459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2020824" y="5212080"/>
            <a:ext cx="0" cy="16459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 Flow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336"/>
            <a:ext cx="8092440" cy="431596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Source code becomes a TAC program in the front 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Code Analyzer sends ranked opportunities to the Optimization Specialist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Specialist routes the step: Option A the rules, Option B an LLM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Each candidate passes the Verifier, then the Cost Evaluator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609"/>
            <a:ext cx="8092440" cy="430342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Orchestrator owns the four other components and writes to the Decision Logger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Optimization Specialist owns the rule-based optimizer and holds one LLM backend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Gemini, Groq and Ollama share one base class: same prompt, same reply parser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Routing: Rule-Based or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Rule-based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Always the highest-priority opportunity from the analyzer. The default: instant and deterministic.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hybrid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Rules first, LLM second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3537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LLM is asked when a rule proposal is turned down, or when the rules have nothing left to 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llm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first, rules second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7266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rules take over when the LLM is not running, out of call budget, or its proposal is turned down.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730752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Every routing decision is written to the decision log with its reason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114800"/>
            <a:ext cx="11091672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334256"/>
            <a:ext cx="1065276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  LLM proposal: Dead code elimination: the loop only assigns the constant 42 to acc repeatedly ...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(differential: 25/25 inputs matched, symbolic: skipped (control flow))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LLM Backends, One Interface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gemini-3.1-flash-lite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Google's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(.gemini_key)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Called through the google-genai SDK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Strongest results so far: 91.5%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Groq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openai/gpt-oss-120b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0969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Groq's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(.groq_key)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HTTP, no SDK to install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Moves to the next model when a daily quota is spent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Ollama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qwen2.5-coder:7b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on this laptop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No key and no internet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 to the local server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Falls back to the CPU if the GPU runner crashes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305349"/>
            <a:ext cx="261518" cy="26151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508760" y="4846320"/>
            <a:ext cx="990295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chemeClr val="accent1"/>
                </a:solidFill>
                <a:latin typeface="Consolas"/>
              </a:rPr>
              <a:t xml:space="preserve">--llm-provider auto </a:t>
            </a:r>
            <a:r>
              <a:rPr sz="1400" b="0">
                <a:solidFill>
                  <a:schemeClr val="tx1"/>
                </a:solidFill>
              </a:rPr>
              <a:t xml:space="preserve">tries Gemini, then Groq, then Ollama, and uses the first one that is configured and reachable.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--offline </a:t>
            </a:r>
            <a:r>
              <a:rPr sz="1400" b="0">
                <a:solidFill>
                  <a:schemeClr val="tx1"/>
                </a:solidFill>
              </a:rPr>
              <a:t xml:space="preserve">always uses Ollama.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chemeClr val="tx1"/>
                </a:solidFill>
              </a:rPr>
              <a:t xml:space="preserve">All three share one prompt, one reply parser and the same verification and cost gates.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Tools &amp; Technologies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6949440" cy="4828032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3017520"/>
              </a:tblGrid>
              <a:tr h="60350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match statements, dataclasses, type hints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Cloud LLMs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Gemini,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Free-tier proposers (SDK and plain HTTP)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Local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Ollama + 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Offline proposer, no key needed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Visualization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Matplotlib, Seaborn, Plotly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Bar, line, scatter, heatmap, pie, Sankey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pytest (336 tests)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Unit, integration, stand-in LLM servers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Live demo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demo.py (C subset)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Walks a real C program through the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NumPy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Trend lines and statistics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726680" y="1280160"/>
            <a:ext cx="3913632" cy="4828032"/>
          </a:xfrm>
          <a:prstGeom prst="roundRect">
            <a:avLst>
              <a:gd name="adj" fmla="val 186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4813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Project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1965960"/>
            <a:ext cx="3474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src/frontend/  </a:t>
            </a:r>
            <a:r>
              <a:rPr sz="1400" b="0">
                <a:solidFill>
                  <a:schemeClr val="tx2"/>
                </a:solidFill>
              </a:rPr>
              <a:t xml:space="preserve">Lexer, Parser, AST, TAC generator, C front end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src/tac/  </a:t>
            </a:r>
            <a:r>
              <a:rPr sz="1400" b="0">
                <a:solidFill>
                  <a:schemeClr val="tx2"/>
                </a:solidFill>
              </a:rPr>
              <a:t xml:space="preserve">Instructions, interpreter, dataflow analysis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src/agents/  </a:t>
            </a:r>
            <a:r>
              <a:rPr sz="1400" b="0">
                <a:solidFill>
                  <a:schemeClr val="tx2"/>
                </a:solidFill>
              </a:rPr>
              <a:t xml:space="preserve">Orchestrator, Code Analyzer, Optimization Specialist, rule + LLM optimizers, Verifier, Cost Evaluator, Decision Logger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src/visualization/  </a:t>
            </a:r>
            <a:r>
              <a:rPr sz="1400" b="0">
                <a:solidFill>
                  <a:schemeClr val="tx2"/>
                </a:solidFill>
              </a:rPr>
              <a:t xml:space="preserve">7 charts, metrics report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tests/  </a:t>
            </a:r>
            <a:r>
              <a:rPr sz="1400" b="0">
                <a:solidFill>
                  <a:schemeClr val="tx2"/>
                </a:solidFill>
              </a:rPr>
              <a:t xml:space="preserve">336 tests, one module per component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The Five Components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1.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Runs the loop, logs every decision, stops when nothing is left (or after 50 iterations), then re-verifies the result against the original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91049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2. Code Analysis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3537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Dataflow analysis (CFG, liveness, available copies). Ranks 6 types: Fold 100 → Algebraic 90 → Dead Code 80 → CSE 70 → Strength 60 → Copy Prop 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64778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3. Optimization Specialist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7266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Routes each step to the rule-based optimizer or to an LLM (Gemini, Groq or Ollama) and returns one candidate program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2304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33472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173" y="4098341"/>
            <a:ext cx="261518" cy="26151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300984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4. Verification Module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3472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random, edge, boundary, small-scope and pairwise inputs, plus a symbolic check for straight-line code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08776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09944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645" y="4098341"/>
            <a:ext cx="261518" cy="26151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077456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5. Cost Evaluator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9944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= 1.0·instructions + 2.0·arithmetic + 0.5·temps + 1.5·copies + 1.0·branches. A change must strictly lower 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Orchestrator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iteration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range(1, self.max_iterations + 1):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1. ANALYZE (leaving out opportunities already turned down)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opportunities = [o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self.analyzer.analyze(current)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self._opportunity_key(o)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attempted]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logger.log_analysis(iteration,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2-5.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tried, outcome = [],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"unverifiable"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decision = specialist.route(current, opportunities, llm_calls, tried)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decision.route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nobody can propose anything more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tried.append(decision.route)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proposal = specialist.propose(current, decision,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==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current = proposal.candidate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attempted.clear()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new opportunities may appear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converged: nothing left to 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iteration is one step: analyze, propose, verify, evaluate, decide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specialist picks the route; if that proposal is turned down it may hand the same step to the other proposer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An accepted change becomes the current program and clears the "already tried" list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ends when nothing was accepted and no opportunity is left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Verify and Cost Gates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0866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6842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_judge(self, iteration, current, proposal, logger, proposals):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3. VERIFY: the same gate for rule-based and LLM proposals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ver_result = self.verifier.verify(current, 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logger.log_verification(iteration, ver_result)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ver_result.passed: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"Verification failed"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"invalid"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4. EVALUATE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old_cost = self.cost_evaluator.evaluate(current)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new_cost = self.cost_evaluator.evaluate(proposal.candidate)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logger.log_cost(iteration, old_cost, new_cost)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5. ACCEPT / REJECT: the cost must strictly drop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self.cost_evaluator.is_improvement(old_cost, new_cost):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cost improvement"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"rejected"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logger.log_accept(iteration,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"Cost reduced"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1280160"/>
            <a:ext cx="3776472" cy="2834640"/>
          </a:xfrm>
          <a:prstGeom prst="roundRect">
            <a:avLst>
              <a:gd name="adj" fmla="val 2580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1481328"/>
            <a:ext cx="3374136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src/agents/cost_evaluator.py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WEIGHTS = {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"instruction_count"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"arithmetic_ops"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2.0,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"temp_vars"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 0.5,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"memory_ops"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(new.weighted_total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&lt; old.weighted_total)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297680"/>
            <a:ext cx="37764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319272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Rule-based and LLM proposals share this path: an LLM answer gets no shortcut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correct change that is not cheaper is still rejected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Routing Decision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src/agents/optimization_specialist.py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route(self, program, opportunities, llm_calls=0, tried=()):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"Decide who proposes next for ``program``."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order = ([Route.RULE, Route.LLM]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self.mode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[Route.LLM, Route.RULE])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self.llm_attached: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order = [Route.RULE]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passed_over, llm_note = [],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order: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tried: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name 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"rule-based"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f"the {name} proposal was turned down"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"the rules have nothing left to try"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Route.LLM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llm_note := self._llm_blocker(program, llm_calls)):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not used, {llm_note}"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reason = self._reason(route, opportunities, passed_over)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RoutingDecision(route, reason, llm_note)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"; 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.join(passed_over), llm_note)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 sets the order: rules first (hybrid) or LLM first (llm)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route is skipped if its proposal was just turned down, the rules have nothing, or the LLM is blocked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blockers: not running, call budget used up, or the program is already provably minimal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decision carries its reason, which becomes a [ROUTE] line in the log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Finding an Opportunity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src/agents/code_analyzer.py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_strength_reduction(self, 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out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i, ins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enumerate(instrs):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 != TACOp.BINARY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ins.operator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"*"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is_literal(ins.arg2)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ins.arg1, int(ins.arg2)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is_literal(ins.arg1)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is_variable(ins.arg2):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ins.arg2, int(ins.arg1)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&lt; 2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&amp; (const - 1):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not a power of two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k = const.bit_length() - 1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&gt; MAX_SHIFT: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 &lt;&lt; k would be an invalid shift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== 1: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"+"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var}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x*2 -&gt; x+x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"&lt;&lt;"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str(k)}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out.append(_make(OpportunityType.STRENGTH_REDUCTION, i, ...))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of the six detectors returns Opportunity objects: type, priority, location, description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Here: x × 2 becomes x + x, and x × 2^k becomes a shift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k &gt; 64 guard came out of fuzz testing: the interpreter rejects larger shifts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rule-based optimizer then applies exactly one opportunity to a copy of the program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Prompt Sent to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 are a compiler optimization expert. Given this Three-Address Code (TAC),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exactly ONE semantics-preserving optimization.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Rules: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1. The optimized code MUST produce identical output for ALL possible inputs.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2. Apply exactly one optimization: constant folding, dead code elimination,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common subexpression elimination, algebraic simplification, strength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reduction, or copy propagation.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3. Return ONLY the modified TAC inside &lt;tac&gt; tags, nothing else outside.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4. Explain your optimization in one line inside &lt;reasoning&gt; tags.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TAC syntax (one instruction per line, keep exactly this syntax):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y            x = a op b   (op: + - * / % &lt;&lt; == != &lt; &gt; &lt;= &gt;= &amp;&amp; ||)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-a           x = !a       L0:      goto L0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if a goto L0     ifFalse a goto L0     print a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Variables that are read before being written are program inputs. Integer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division truncates toward zero; dividing by zero is a runtime error.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Format: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&lt;reasoning&gt;your explanation&lt;/reasoning&gt;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&lt;tac&gt;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modified TAC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&lt;/tac&gt;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prompt for all three LLMs, so their results are comparable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It asks for exactly one change, in strict TAC syntax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reply must carry &lt;reasoning&gt; and &lt;tac&gt; blocks; anything else is discarded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model's answer is only a suggestion: it still has to pass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Blank lines are removed here to fit the slide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Calling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src/agents/optimizer_llm.py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propose(self, program):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self.available: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text = self._complete(self._build_prompt(program))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_LLMUnavailable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quota spent, server gone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self._disable(str(exc))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_LLMSkip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only this call failed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str(exc)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self._parse_text(text, program)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_parse_text(text, original):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tac_match = _TAC_RE.search(text)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tac_match: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&lt;tac&gt; block in LLM response"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candidate = parse_llm_tac(tac_match.group(1))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"could not parse LLM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== original: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 returned unchanged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candidate, reasoning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backend only implements _complete(prompt): Gemini through its SDK, Groq and Ollama through plain HTTP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Two kinds of failure: skip this one proposal, or switch the LLM off for the rest of the run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Unparseable or unchanged TAC never reaches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If the LLM switches off, the run continues rule-based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Verifier's Input Sets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src/agents/verifier.py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input_sets(self, variables, constants=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rng = random.Random(self.seed)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lo, hi = self.value_range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-100 .. 100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 = [{v: rng.randint(lo, hi)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range(self.num_random)]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20 random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(0, 1, -1, 99, -99):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 edge cases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sets.append({v: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pool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constants: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c-1, c, c+1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pool = sorted({k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sorted(constants)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(c - 1, c, c + 1)})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sets.extend({v: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pool)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sets.extend(self._small_scope_sets(variables, rng))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sets.extend(self._pairwise_sets(variables, pool))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_small_scope_sets(self, variables, rng):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values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SMALL_SCOPES: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widest range first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len(values) ** len(variables) &lt;= self.max_small_scope: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[dict(zip(variables, combo))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combo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itertools.product(values, repeat=len(variables))]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Original and candidate run on every set; printed output and failure mode must match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Small scope: every combination of small values, so one input can be zero while another is not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Pairwise: every two inputs meet every two boundary values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No inputs at all: one execution, so a match is a proof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Verification Deep Dive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7772400" cy="3401568"/>
        </p:xfrm>
        <a:graphic>
          <a:graphicData uri="http://schemas.openxmlformats.org/drawingml/2006/table">
            <a:tbl>
              <a:tblPr/>
              <a:tblGrid>
                <a:gridCol w="1600200"/>
                <a:gridCol w="3246120"/>
                <a:gridCol w="29260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Input sets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is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20 sets, values in -100..100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General differences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Edge cases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All inputs 0, 1, -1, 99, -99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Zero and sign handling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c-1, c, c+1 for every literal 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Off-by-one comparisons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Small scope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combination of small values (one input: -128..128)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&amp;&amp; against ||, a branch on a flag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Pairwise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two inputs × every two boundary values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Two inputs that must line up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480060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 xml:space="preserve">Small scope</a:t>
            </a:r>
            <a:r>
              <a:rPr sz="1400" b="0">
                <a:solidFill>
                  <a:schemeClr val="tx2"/>
                </a:solidFill>
              </a:rPr>
              <a:t xml:space="preserve"> and </a:t>
            </a:r>
            <a:r>
              <a:rPr sz="1400" b="1">
                <a:solidFill>
                  <a:schemeClr val="accent1"/>
                </a:solidFill>
              </a:rPr>
              <a:t xml:space="preserve">pairwise</a:t>
            </a:r>
            <a:r>
              <a:rPr sz="1400" b="0">
                <a:solidFill>
                  <a:schemeClr val="tx2"/>
                </a:solidFill>
              </a:rPr>
              <a:t xml:space="preserve"> were added after mutation testing exposed a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128016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732520" y="155448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15544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138988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Differential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Output and failure mode must match on every input set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246888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32520" y="27432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743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257860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Symbolic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88036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Straight-line code: canonical polynomials, so x·2 = x+x = x&lt;&lt;1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49640" y="365760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32520" y="39319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76732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406908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A correct change is still rejected unless the cost strictly drops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2">
              <a:alpha val="12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chemeClr val="accent2"/>
                </a:solidFill>
              </a:rPr>
              <a:t xml:space="preserve">Strength of the guarantee: </a:t>
            </a:r>
            <a:r>
              <a:rPr sz="1400" b="0">
                <a:solidFill>
                  <a:schemeClr val="tx1"/>
                </a:solidFill>
              </a:rPr>
              <a:t xml:space="preserve">proven for programs with no inputs and for straight-line code; tested on hundreds of input sets for branching code with inputs. The finished program is re-verified against the original.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Testing the System Itself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5,100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random TAC programs: 20,968 rule proposals checked on inputs the verifier does not use, none unsound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6879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5479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479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deliberately broken programs: none slips past the verifier now (13 of the first 400 did before)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511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371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64,620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371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re-executions of the Gemini results on small-scope and random inputs, no mismatch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335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195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2"/>
                </a:solidFill>
              </a:rPr>
              <a:t xml:space="preserve">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195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recorded Gemini replies replayed through the stronger verifier: the same decision every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Bugs found and fixed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62272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8872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Verifier input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Wrong changes that only showed for certain zero / non-zero input mixes could pass</a:t>
            </a:r>
          </a:p>
        </p:txBody>
      </p:sp>
      <p:sp>
        <p:nvSpPr>
          <p:cNvPr id="43" name="Oval 42"/>
          <p:cNvSpPr/>
          <p:nvPr/>
        </p:nvSpPr>
        <p:spPr>
          <a:xfrm>
            <a:off x="621792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46227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Strength reduction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x × 2^k was rewritten to a shift even for k &gt; 64, which fails at run time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94960"/>
            <a:ext cx="237744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Ollama on old GPU drivers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GPU runner crashed on load; the call now repeats on the CPU</a:t>
            </a:r>
          </a:p>
        </p:txBody>
      </p:sp>
      <p:sp>
        <p:nvSpPr>
          <p:cNvPr id="51" name="Oval 50"/>
          <p:cNvSpPr/>
          <p:nvPr/>
        </p:nvSpPr>
        <p:spPr>
          <a:xfrm>
            <a:off x="621792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539496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Metrics table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LLM validity rate read "n/a %" when an LLM made no proposals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A Real C Program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1  The C program (demo_programs/3_loop.c)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1892808"/>
            <a:ext cx="4992624" cy="3026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/* A loop with work that does not need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to be redone every time. */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sum =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i = 0; i &lt; 10; i++)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step = 2 + 3;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sum += step * 1;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"%d\n"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, sum);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2  Front end: C → AST → Three-Address Code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t0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t2 = 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t3 = i &lt;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ifFalse t3 goto L1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t4 =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t5 = 3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t6 = t4 + t5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step = t6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t7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t8 = step * t7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t9 = sum + t8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t9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t10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t11 = i + t10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print sum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73952" y="4279392"/>
            <a:ext cx="4937760" cy="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473952" y="43891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5E7EB"/>
                </a:solidFill>
                <a:latin typeface="Consolas"/>
              </a:rPr>
              <a:t xml:space="preserve">22 instructions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· 4 arithmetic · 12 temporaries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12 copies · 2 branches · </a:t>
            </a:r>
            <a:r>
              <a:rPr sz="1200" b="1">
                <a:solidFill>
                  <a:srgbClr val="F5C06B"/>
                </a:solidFill>
                <a:latin typeface="Consolas"/>
              </a:rPr>
              <a:t xml:space="preserve">weighted cost = 56.0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808" y="54864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5607101"/>
            <a:ext cx="261518" cy="26151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5303520"/>
            <a:ext cx="9948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py demo.py demo_programs/3_loop.c --use-llm --llm-provider groq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demo walks one program through all six stages, pausing between them. What follows is a real run.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The Agent at Work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10634472" cy="4434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8FB8F0"/>
                </a:solidFill>
                <a:latin typeface="Consolas"/>
              </a:rPr>
              <a:t xml:space="preserve">STAGE 3  Agent loop: Analyze -&gt;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Routing: hybrid (rules first, the LLM when they are turned down or run out)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LLM: groq openai/gpt-oss-120b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[ 1] COPY_PROPAGATION   t0 = 0 -&gt; uses of t0 -&gt; 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56.0 -&gt; 53.0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[ 6] CONSTANT_FOLD      t6 = 2 + 3 -&gt; t6 = 5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41.0 -&gt; 40.5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...  steps 2 to 13: copy propagation and folding, each verified and 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[14] COPY_PROPAGATION   t11 = i + 1; i = t11 -&gt; i = i + 1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22.5 -&gt; 19.5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No more opportunities found.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route to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[15] LLM (Groq)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Algebraic simplification: the loop adds a constant 5 exactly ten times,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so replace it with sum = 5*10 = 50 and eliminate the dead loop.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19.5 -&gt; 3.5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[16] COPY_PROPAGATION   sum = 50 -&gt; uses of sum -&gt; 50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3.5 -&gt; 1.0 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LLM not consulted: program is only constant prints (provably minimal)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finished in 17 iterations (0.9 s)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Result and Proof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1"/>
                </a:solidFill>
              </a:rPr>
              <a:t xml:space="preserve">56.0 → 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weighted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01752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18211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2"/>
                </a:solidFill>
              </a:rPr>
              <a:t xml:space="preserve">98.2%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reduction, 22 instructions down to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75488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9CA3AF"/>
                </a:solidFill>
                <a:latin typeface="Consolas"/>
              </a:rPr>
              <a:t xml:space="preserve">Optimized TAC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FD27F"/>
                </a:solidFill>
                <a:latin typeface="Consolas"/>
              </a:rPr>
              <a:t xml:space="preserve">print 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4  Suggestions made by the agent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691640"/>
          <a:ext cx="7315200" cy="18288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Suggested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Invalid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Rule-based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(Groq)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3703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6  Proof: both versions are run and compared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4114800"/>
            <a:ext cx="7315200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4315968"/>
            <a:ext cx="6912864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STAGE 6  Proof: the optimized program behaves the same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original 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optimized: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identical output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78324"/>
        </p:xfrm>
        <a:graphic>
          <a:graphicData uri="http://schemas.openxmlformats.org/drawingml/2006/table">
            <a:tbl>
              <a:tblPr/>
              <a:tblGrid>
                <a:gridCol w="3410712"/>
                <a:gridCol w="1920240"/>
                <a:gridCol w="1920240"/>
                <a:gridCol w="1920240"/>
                <a:gridCol w="1920240"/>
              </a:tblGrid>
              <a:tr h="4434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82.49%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with &gt;30%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10,628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10,978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11,085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10,805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10,517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Verification pass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99.76%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Acceptance rate (of verified)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98.61%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Steps to convergence (mean)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114800"/>
        </p:xfrm>
        <a:graphic>
          <a:graphicData uri="http://schemas.openxmlformats.org/drawingml/2006/table">
            <a:tbl>
              <a:tblPr/>
              <a:tblGrid>
                <a:gridCol w="2423160"/>
                <a:gridCol w="1280160"/>
                <a:gridCol w="1847088"/>
                <a:gridCol w="1847088"/>
                <a:gridCol w="1847088"/>
                <a:gridCol w="1847088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81.7%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65.0%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66.1%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84.1%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77.9%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91.6%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53212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rules alone already do well on straight-line code. LLMs matter where the rules cannot remove a loop or a branch.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chemeClr val="tx1"/>
                </a:solidFill>
              </a:rPr>
              <a:t xml:space="preserve">Programs improved over rules only:  </a:t>
            </a:r>
            <a:r>
              <a:rPr sz="1400" b="0">
                <a:solidFill>
                  <a:schemeClr val="tx1"/>
                </a:solidFill>
              </a:rPr>
              <a:t xml:space="preserve">Gemini 196  ·  Groq 181  ·  Ollama 32</a:t>
            </a:r>
            <a:r>
              <a:rPr sz="1400" b="0">
                <a:solidFill>
                  <a:schemeClr val="tx1"/>
                </a:solidFill>
              </a:rPr>
              <a:t xml:space="preserve">  ·  none worse in any run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Four Configurations Compared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11091672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 xml:space="preserve">Average cost reduction per category. Loops, conditionals and mixed programs are where an LLM adds the most.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Groq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93.4%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83.5%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89.3%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181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Ollama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66.1%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75.2%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80.0%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32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A small local model: modest gains, but with no internet at all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Comparing the Three LLMs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82896"/>
        </p:xfrm>
        <a:graphic>
          <a:graphicData uri="http://schemas.openxmlformats.org/drawingml/2006/table">
            <a:tbl>
              <a:tblPr/>
              <a:tblGrid>
                <a:gridCol w="3383280"/>
                <a:gridCol w="2569464"/>
                <a:gridCol w="2569464"/>
                <a:gridCol w="2569464"/>
              </a:tblGrid>
              <a:tr h="40690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gemini-3.1-flash-lite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gpt-oss-120b (+1 fallback)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Google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Groq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This laptop (CPU)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 over 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Calls to the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Usable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Wrong, blocked by the verifier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Full-run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43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 h 14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Example: Agent Decision Log with Routing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508760"/>
            <a:ext cx="80010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Program: loops_001.src ===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20 ---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Found 1 opportunity: COPY_PROPAGATION (priority=50)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Rule-based optimizer: highest-priority opportunity is COPY_PROPAGATION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[PROPOSE] COPY_PROPAGATION at instr 10: t15 = acc -&gt; uses of t15 -&gt;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23.0, After: 20.0 (reduction: 13.0%)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Dead code elimination: the loop only assigns the constant 42 to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repeatedly, so it can be replaced by a single assignment.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23 ---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  [INFO]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LLM not consulted: program is only constant prints (provably minimal)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RESULT === 72.5 -&gt; 2.0 (97.2% reduction)   Output match: 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1554480"/>
            <a:ext cx="0" cy="434340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9235440" y="1508760"/>
            <a:ext cx="224028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Original TAC (28)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t0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acc = t0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t1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 = t1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t2 = 11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t3 = i &lt; t2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ifFalse t3 goto L1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t4 = 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t5 = 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t6 = t4 + t5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h = t6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...  (16 more)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Optimized TAC (2)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Project Status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59105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1600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System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Front end: C and mini-language to TAC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Orchestrator loop + decision logging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Code Analyzer with 6 optimization types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Optimization Specialist router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Three LLM backends: Gemini, Groq, Ollama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Offline mode with a local model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Live C demo front 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50969" y="14813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697" y="1591056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45329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Tested and 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0969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Differential + symbolic verification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Small-scope and pairwise inputs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336 automated tests, all passing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5,100 random programs fuzzed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800 mutation tests: none slips through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500-program dataset, 4 full runs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7 charts and the 6 required metrics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24698" y="1481328"/>
            <a:ext cx="457200" cy="4572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426" y="1591056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19058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Possible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698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Execution time in the cost model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Prompt tuning for small local models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Ollama on the GPU (driver update)</a:t>
            </a:r>
          </a:p>
          <a:p>
            <a:pPr marL="228600" indent="-228600">
              <a:spcAft>
                <a:spcPts val="11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Larger, real-world-style programs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average cost reduction with the rules alone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91.5%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with Gemini proposals, the best configuration so far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098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4698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90.9%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698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with Groq's gpt-oss models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with a local model, completely offline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369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0969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rgbClr val="7FD27F"/>
                </a:solidFill>
              </a:rPr>
              <a:t xml:space="preserve"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0969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incorrect changes accepted in any run, re-checked on about 64,000 executions per run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6098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698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13 →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wrong changes slipping past the verifier once mutation testing exposed the gap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39496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6"/>
                </a:solidFill>
              </a:rPr>
              <a:t xml:space="preserve">Key insight: </a:t>
            </a:r>
            <a:r>
              <a:rPr sz="1800" b="0">
                <a:solidFill>
                  <a:schemeClr val="bg1"/>
                </a:solidFill>
              </a:rPr>
              <a:t xml:space="preserve">an LLM is a useful proposer whether it runs in the cloud or on a laptop, as long as every suggestion is verified before it is trusted.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er Optimization">
  <a:themeElements>
    <a:clrScheme name="Compiler Optimization">
      <a:dk1>
        <a:srgbClr val="1B2A41"/>
      </a:dk1>
      <a:lt1>
        <a:srgbClr val="FFFFFF"/>
      </a:lt1>
      <a:dk2>
        <a:srgbClr val="4A5568"/>
      </a:dk2>
      <a:lt2>
        <a:srgbClr val="EEF3FA"/>
      </a:lt2>
      <a:accent1>
        <a:srgbClr val="2A78D6"/>
      </a:accent1>
      <a:accent2>
        <a:srgbClr val="0B8A0B"/>
      </a:accent2>
      <a:accent3>
        <a:srgbClr val="C23434"/>
      </a:accent3>
      <a:accent4>
        <a:srgbClr val="C98500"/>
      </a:accent4>
      <a:accent5>
        <a:srgbClr val="6B7A90"/>
      </a:accent5>
      <a:accent6>
        <a:srgbClr val="BFD6F6"/>
      </a:accent6>
      <a:hlink>
        <a:srgbClr val="2A78D6"/>
      </a:hlink>
      <a:folHlink>
        <a:srgbClr val="4A3AA7"/>
      </a:folHlink>
    </a:clrScheme>
    <a:fontScheme name="Compiler Optimizat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3296</Words>
  <Application>Microsoft Office PowerPoint</Application>
  <PresentationFormat>Widescreen</PresentationFormat>
  <Paragraphs>527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Compiler Optimization</vt:lpstr>
      <vt:lpstr>PowerPoint Presentation</vt:lpstr>
      <vt:lpstr>Introduction</vt:lpstr>
      <vt:lpstr>Objectives</vt:lpstr>
      <vt:lpstr>Literature Review</vt:lpstr>
      <vt:lpstr>Research Gaps</vt:lpstr>
      <vt:lpstr>Proposed Methodology</vt:lpstr>
      <vt:lpstr>Dataset: 500 Programs, 7 Categories</vt:lpstr>
      <vt:lpstr>System Architecture</vt:lpstr>
      <vt:lpstr>Agent Workflow: The Optimization Loop</vt:lpstr>
      <vt:lpstr>Implementation: Tools &amp; Technologies</vt:lpstr>
      <vt:lpstr>Implementation: The Five Agents</vt:lpstr>
      <vt:lpstr>Verification Deep Dive</vt:lpstr>
      <vt:lpstr>Results: Key Metrics</vt:lpstr>
      <vt:lpstr>Results: Cost Reduction by Category</vt:lpstr>
      <vt:lpstr>Results: Proposal Flow</vt:lpstr>
      <vt:lpstr>Results: Outcomes by Optimization Type</vt:lpstr>
      <vt:lpstr>Results: Share of Accepted Optimizations</vt:lpstr>
      <vt:lpstr>Results: Cost Over Iterations</vt:lpstr>
      <vt:lpstr>Results: Agent Steps vs. Improvement</vt:lpstr>
      <vt:lpstr>Results: Where Each Optimization Was Applied</vt:lpstr>
      <vt:lpstr>Results: Rules Only vs. Rules + Gemini</vt:lpstr>
      <vt:lpstr>Example: Agent Decision Log</vt:lpstr>
      <vt:lpstr>Project Status</vt:lpstr>
      <vt:lpstr>Conclusion</vt:lpstr>
      <vt:lpstr>References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LLM/Agent-Guided Compiler Code Optimization</dc:title>
  <dc:subject>Compiler Design Project</dc:subject>
  <dc:creator>PptxGenJS</dc:creator>
  <cp:lastModifiedBy>Microsoft account</cp:lastModifiedBy>
  <cp:revision>4</cp:revision>
  <dcterms:created xsi:type="dcterms:W3CDTF">2026-10-06T06:12:19Z</dcterms:created>
  <dcterms:modified xsi:type="dcterms:W3CDTF">2026-10-06T07:24:14Z</dcterms:modified>
</cp:coreProperties>
</file>