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7BB240C-8067-9E2B-824A-E4A7E8DEF879}">
          <p14:sldIdLst>
            <p14:sldId id="256"/>
            <p14:sldId id="257"/>
            <p14:sldId id="258"/>
          </p14:sldIdLst>
        </p14:section>
        <p14:section name="Background" id="{F9562233-FE51-C6C4-56C2-8A373D787C4E}">
          <p14:sldIdLst>
            <p14:sldId id="259"/>
            <p14:sldId id="260"/>
          </p14:sldIdLst>
        </p14:section>
        <p14:section name="Methodology" id="{EF1158AA-F2C7-B2F5-FEEC-092E87CCD064}">
          <p14:sldIdLst>
            <p14:sldId id="261"/>
            <p14:sldId id="262"/>
          </p14:sldIdLst>
        </p14:section>
        <p14:section name="Architecture &amp; Implementation" id="{30F24689-2566-C13B-35AE-40BE5E901817}">
          <p14:sldIdLst>
            <p14:sldId id="263"/>
            <p14:sldId id="264"/>
            <p14:sldId id="265"/>
            <p14:sldId id="266"/>
            <p14:sldId id="267"/>
          </p14:sldIdLst>
        </p14:section>
        <p14:section name="Results" id="{28D50B11-C353-BEAB-544F-28D48D7B1B30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Status &amp; Conclusion" id="{2449FF5C-1812-AB45-9F1C-A8BF21328349}">
          <p14:sldIdLst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8229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the team. One-line pitch: an agent that optimizes compiler intermediate code on its own, and never accepts a change it cannot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safety result: across 10,978 proposals no incorrect change was accepted. The system is autonomous end-to-end with no human in the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project objectives; all seven have been implemented and evaluated.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work combines classical compiler techniques with an LLM. Unlike LLM Compiler, which picks pass orderings, our agent proposes actual code transformations and checks each one before accepting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gap is addressed by one part of the design: the agent loop (gap 1), cheap rule-based search (gap 2), the verifier (gaps 3 and 5), and code-level proposals (gap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seven steps. Stress that the verifier sits between every proposal and the program: nothing changes unless it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is generated, not hand-written, so the experiment can be reproduced exactly from the fixed seed.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code goes through a classic frontend to Three-Address Code. The agent loop of five components then works on the TAC; after a final check against the original, the run produces the optimized TAC, logs, metrics and charts.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flowchart top to bottom. Point out the two rejection paths (invalid, and no cost gain) and that both loop back to analysis without changing the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is plain Python. Gemini is accessed through Google's official SDK on the free 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agent is a separate class with one job. The orchestrator connects them in the loop shown earlier.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precise about the guarantee: it is a proof for input-free and straight-line programs, and strong testing for branching programs with inputs. An independent re-check of all 500 final programs found no mismatches.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Gemini raised the average cost reduction by 9 percentage points, and the verifier blocked all 26 incorrect Gemini suggestions. Every target in the metrics table is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Arithmetic and dead-code programs were already near-optimal after the rules, so the LLM had nothing to add there. Its value is in loops and branches.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flow left to right: sources, verification, then the cost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Rule-based proposals never failed verification; every invalid proposal came from the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 of 10,828 accepted changes, about 60% are copy propagation.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line ends when the agent finds nothing more to improve.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black line in each panel is a linear trend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Darker cells mean the optimization was applied more often in that category.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LLM adds most where the six rules are weakest: loops and branches.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real log for one program. Each iteration shows the four phases; the result line confirms the optimized program prints the same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Completed work is everything shown in this presentation. 'Currently working on' and 'Next steps' are the team's plan; update them to match what you are actually doing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key insight: the combination of LLM creativity and strict verification is what makes the system both effective and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Automated LLM/Agent-Guided Compiler Code Optimization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6"/>
                </a:solidFill>
              </a:rPr>
              <a:t>COMPILER DESIGN PROJECT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Automated LLM/Agent-Guided Compiler Code Optimization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6"/>
                </a:solidFill>
              </a:rPr>
              <a:t>A multi-agent system for autonomous TAC analysis, transformation and verification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257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chemeClr val="bg1"/>
                </a:solidFill>
              </a:rPr>
              <a:t>Team: </a:t>
            </a:r>
            <a:r>
              <a:rPr lang="en-US" sz="1600" dirty="0" smtClean="0">
                <a:solidFill>
                  <a:schemeClr val="bg1"/>
                </a:solidFill>
              </a:rPr>
              <a:t>NIRUPAM RAUT[24BAI0345]</a:t>
            </a:r>
            <a:r>
              <a:rPr lang="en-US" sz="1600" dirty="0" smtClean="0">
                <a:solidFill>
                  <a:schemeClr val="bg1"/>
                </a:solidFill>
              </a:rPr>
              <a:t>·  ADARSH SHARMA BADHAI[24BCE2972]</a:t>
            </a:r>
            <a:br>
              <a:rPr lang="en-US" sz="1600" dirty="0" smtClean="0">
                <a:solidFill>
                  <a:schemeClr val="bg1"/>
                </a:solidFill>
              </a:rPr>
            </a:br>
            <a:r>
              <a:rPr lang="en-US" sz="1600" i="1" u="sng" dirty="0" err="1">
                <a:solidFill>
                  <a:schemeClr val="bg2">
                    <a:lumMod val="50000"/>
                  </a:schemeClr>
                </a:solidFill>
              </a:rPr>
              <a:t>gitlink:https</a:t>
            </a:r>
            <a:r>
              <a:rPr lang="en-US" sz="1600" i="1" u="sng" dirty="0">
                <a:solidFill>
                  <a:schemeClr val="bg2">
                    <a:lumMod val="50000"/>
                  </a:schemeClr>
                </a:solidFill>
              </a:rPr>
              <a:t>://github.com/</a:t>
            </a:r>
            <a:r>
              <a:rPr lang="en-US" sz="1600" i="1" u="sng" dirty="0" err="1">
                <a:solidFill>
                  <a:schemeClr val="bg2">
                    <a:lumMod val="50000"/>
                  </a:schemeClr>
                </a:solidFill>
              </a:rPr>
              <a:t>adarshhsharmaa-rgb</a:t>
            </a:r>
            <a:r>
              <a:rPr lang="en-US" sz="1600" i="1" u="sng" dirty="0">
                <a:solidFill>
                  <a:schemeClr val="bg2">
                    <a:lumMod val="50000"/>
                  </a:schemeClr>
                </a:solidFill>
              </a:rPr>
              <a:t>/LLM-based-Compiler-Code-Optimization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6080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October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26680" y="1417320"/>
            <a:ext cx="3913632" cy="4206240"/>
          </a:xfrm>
          <a:prstGeom prst="roundRect">
            <a:avLst>
              <a:gd name="adj" fmla="val 1869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01000" y="1645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Before (naive TAC)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001000" y="2011680"/>
            <a:ext cx="3383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t0 = 3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 = 5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 = t0 + t1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t2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x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3703320"/>
            <a:ext cx="347472" cy="34747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001000" y="4206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After (agent-optimized)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4572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7FD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8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5836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200"/>
              </a:spcAft>
              <a:buSzPct val="100000"/>
              <a:buChar char="•"/>
            </a:pPr>
            <a:r>
              <a:rPr lang="en-US" sz="2300" dirty="0">
                <a:solidFill>
                  <a:schemeClr val="tx1"/>
                </a:solidFill>
              </a:rPr>
              <a:t>Modern compilers run fixed optimization passes. </a:t>
            </a:r>
            <a:r>
              <a:rPr lang="en-US" sz="2300" i="1" dirty="0">
                <a:solidFill>
                  <a:schemeClr val="tx1"/>
                </a:solidFill>
              </a:rPr>
              <a:t>They don't reason about what to try next.</a:t>
            </a:r>
            <a:endParaRPr lang="en-US" sz="2300" dirty="0"/>
          </a:p>
          <a:p>
            <a:pPr marL="228600" indent="-228600">
              <a:spcAft>
                <a:spcPts val="2200"/>
              </a:spcAft>
              <a:buSzPct val="100000"/>
              <a:buChar char="•"/>
            </a:pPr>
            <a:r>
              <a:rPr lang="en-US" sz="2300" dirty="0">
                <a:solidFill>
                  <a:schemeClr val="tx1"/>
                </a:solidFill>
              </a:rPr>
              <a:t>What if an agent could analyze code, propose optimizations, verify them, and keep improving the program on its own?</a:t>
            </a:r>
            <a:endParaRPr lang="en-US" sz="2300" dirty="0"/>
          </a:p>
          <a:p>
            <a:pPr marL="228600" indent="-228600">
              <a:spcAft>
                <a:spcPts val="2200"/>
              </a:spcAft>
              <a:buSzPct val="100000"/>
              <a:buChar char="•"/>
            </a:pPr>
            <a:r>
              <a:rPr lang="en-US" sz="2300" dirty="0">
                <a:solidFill>
                  <a:schemeClr val="tx1"/>
                </a:solidFill>
              </a:rPr>
              <a:t>We built a </a:t>
            </a:r>
            <a:r>
              <a:rPr lang="en-US" sz="2300" b="1" dirty="0">
                <a:solidFill>
                  <a:schemeClr val="tx1"/>
                </a:solidFill>
              </a:rPr>
              <a:t>multi-agent system</a:t>
            </a:r>
            <a:r>
              <a:rPr lang="en-US" sz="2300" dirty="0">
                <a:solidFill>
                  <a:schemeClr val="tx1"/>
                </a:solidFill>
              </a:rPr>
              <a:t> that does this on Three-Address Code (TAC).</a:t>
            </a:r>
            <a:endParaRPr lang="en-US" sz="2300" dirty="0"/>
          </a:p>
          <a:p>
            <a:pPr marL="228600" indent="-228600">
              <a:spcAft>
                <a:spcPts val="2200"/>
              </a:spcAft>
              <a:buSzPct val="100000"/>
              <a:buChar char="•"/>
            </a:pPr>
            <a:r>
              <a:rPr lang="en-US" sz="2300" dirty="0">
                <a:solidFill>
                  <a:schemeClr val="tx1"/>
                </a:solidFill>
              </a:rPr>
              <a:t>Every proposal must pass a </a:t>
            </a:r>
            <a:r>
              <a:rPr lang="en-US" sz="2300" b="1" dirty="0">
                <a:solidFill>
                  <a:schemeClr val="tx1"/>
                </a:solidFill>
              </a:rPr>
              <a:t>correctness check</a:t>
            </a:r>
            <a:r>
              <a:rPr lang="en-US" sz="2300" dirty="0">
                <a:solidFill>
                  <a:schemeClr val="tx1"/>
                </a:solidFill>
              </a:rPr>
              <a:t> and </a:t>
            </a:r>
            <a:r>
              <a:rPr lang="en-US" sz="2300" b="1" dirty="0">
                <a:solidFill>
                  <a:schemeClr val="tx1"/>
                </a:solidFill>
              </a:rPr>
              <a:t>lower the cost</a:t>
            </a:r>
            <a:r>
              <a:rPr lang="en-US" sz="2300" dirty="0">
                <a:solidFill>
                  <a:schemeClr val="tx1"/>
                </a:solidFill>
              </a:rPr>
              <a:t> before it is accepted.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635240" y="1325880"/>
            <a:ext cx="4005072" cy="1371600"/>
          </a:xfrm>
          <a:prstGeom prst="roundRect">
            <a:avLst>
              <a:gd name="adj" fmla="val 5333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0" y="143560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500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863840" y="21305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programs tested across 7 categories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35240" y="2926080"/>
            <a:ext cx="4005072" cy="1371600"/>
          </a:xfrm>
          <a:prstGeom prst="roundRect">
            <a:avLst>
              <a:gd name="adj" fmla="val 5333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0" y="303580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10,978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37307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optimization proposals evaluated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35240" y="4526280"/>
            <a:ext cx="4005072" cy="1371600"/>
          </a:xfrm>
          <a:prstGeom prst="roundRect">
            <a:avLst>
              <a:gd name="adj" fmla="val 5333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0" y="463600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53309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incorrect changes accepted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9903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36192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98448" y="13258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Agent architecture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1298448" y="1728216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Separate components with clear responsibilities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432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98448" y="253288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Orchestrator loop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298448" y="293522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Analyze → Propose → Verify → Evaluate → Accept/Reject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48640" y="381304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5020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98448" y="373989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6 optimization types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1298448" y="414223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Folding, algebraic, dead code, CSE, strength reduction, copy propagation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48640" y="5020056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157216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98448" y="494690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Dual verification</a:t>
            </a:r>
            <a:endParaRPr lang="en-US" sz="1900" dirty="0"/>
          </a:p>
        </p:txBody>
      </p:sp>
      <p:sp>
        <p:nvSpPr>
          <p:cNvPr id="18" name="Text 12"/>
          <p:cNvSpPr txBox="1"/>
          <p:nvPr/>
        </p:nvSpPr>
        <p:spPr>
          <a:xfrm>
            <a:off x="1298448" y="53492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Differential testing (25+ input sets) + symbolic equivalence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6217920" y="139903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36192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967728" y="13258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Cost-gated acceptance</a:t>
            </a:r>
            <a:endParaRPr lang="en-US" sz="1900" dirty="0"/>
          </a:p>
        </p:txBody>
      </p:sp>
      <p:sp>
        <p:nvSpPr>
          <p:cNvPr id="22" name="Text 15"/>
          <p:cNvSpPr txBox="1"/>
          <p:nvPr/>
        </p:nvSpPr>
        <p:spPr>
          <a:xfrm>
            <a:off x="6967728" y="1728216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Accept only if verified correct AND cheaper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6217920" y="2606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743200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967728" y="253288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LLM proposer</a:t>
            </a:r>
            <a:endParaRPr lang="en-US" sz="1900" dirty="0"/>
          </a:p>
        </p:txBody>
      </p:sp>
      <p:sp>
        <p:nvSpPr>
          <p:cNvPr id="26" name="Text 18"/>
          <p:cNvSpPr txBox="1"/>
          <p:nvPr/>
        </p:nvSpPr>
        <p:spPr>
          <a:xfrm>
            <a:off x="6967728" y="293522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Google Gemini alongside the rule-based optimizer</a:t>
            </a:r>
            <a:endParaRPr lang="en-US" sz="1600" dirty="0"/>
          </a:p>
        </p:txBody>
      </p:sp>
      <p:sp>
        <p:nvSpPr>
          <p:cNvPr id="27" name="Shape 19"/>
          <p:cNvSpPr/>
          <p:nvPr/>
        </p:nvSpPr>
        <p:spPr>
          <a:xfrm>
            <a:off x="6217920" y="381304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950208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967728" y="373989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Full evaluation</a:t>
            </a:r>
            <a:endParaRPr lang="en-US" sz="1900" dirty="0"/>
          </a:p>
        </p:txBody>
      </p:sp>
      <p:sp>
        <p:nvSpPr>
          <p:cNvPr id="30" name="Text 21"/>
          <p:cNvSpPr txBox="1"/>
          <p:nvPr/>
        </p:nvSpPr>
        <p:spPr>
          <a:xfrm>
            <a:off x="6967728" y="414223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500 programs, the 6 required metrics, 7 charts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Literature Review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4956048"/>
        </p:xfrm>
        <a:graphic>
          <a:graphicData uri="http://schemas.openxmlformats.org/drawingml/2006/table">
            <a:tbl>
              <a:tblPr/>
              <a:tblGrid>
                <a:gridCol w="2514600"/>
                <a:gridCol w="4288536"/>
                <a:gridCol w="4288536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works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to our project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compiler optimization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Aho, Lam, Sethi &amp; Ullman: Compilers: Principles, Techniques, and Tools (2006)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for constant folding, DCE, CSE, copy propagation and dataflow analysis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Superoptimization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Massalin (1987); Schkufza, Sharma &amp; Aiken: STOKE (2013); Phothilimthana et al. (2016)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for optimal instruction sequences; uses testing to check candidates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Translation validation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Pnueli, Siegel &amp; Singerman (1998); Necula (2000)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Checking that compiler output matches the source: the idea behind our verifier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LLMs for code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 et al.: Codex (2021); Rozière et al.: Code Llama (2023)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that generate and transform code; we use Gemini as a proposer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LLM-assisted compilation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Cummins et al.: CompilerGym (2022); Cummins et al.: LLM Compiler (2024)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 and LLM agents choosing compiler flags and pass orderings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systems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Wu et al.: AutoGen (2023)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orchestration; inspired our Orchestrator + specialist design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Research Gaps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720840" cy="914400"/>
          </a:xfrm>
          <a:prstGeom prst="roundRect">
            <a:avLst>
              <a:gd name="adj" fmla="val 8000"/>
            </a:avLst>
          </a:prstGeom>
          <a:solidFill>
            <a:schemeClr val="accent3">
              <a:alpha val="8000"/>
            </a:schemeClr>
          </a:solidFill>
          <a:ln w="9525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81328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chemeClr val="bg1"/>
                </a:solidFill>
              </a:rPr>
              <a:t>1</a:t>
            </a:r>
            <a:endParaRPr lang="en-US" sz="143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3441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Fixed pass order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73352"/>
            <a:ext cx="5715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Classical compilers don't decide which optimization to try or check whether it helped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249424"/>
            <a:ext cx="6720840" cy="914400"/>
          </a:xfrm>
          <a:prstGeom prst="roundRect">
            <a:avLst>
              <a:gd name="adj" fmla="val 8000"/>
            </a:avLst>
          </a:prstGeom>
          <a:solidFill>
            <a:schemeClr val="accent3">
              <a:alpha val="8000"/>
            </a:schemeClr>
          </a:solidFill>
          <a:ln w="9525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450592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chemeClr val="bg1"/>
                </a:solidFill>
              </a:rPr>
              <a:t>2</a:t>
            </a:r>
            <a:endParaRPr lang="en-US" sz="143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31343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Superoptimizers are slow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642616"/>
            <a:ext cx="5715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STOKE-style search is thorough but limited to small code blocks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218688"/>
            <a:ext cx="6720840" cy="914400"/>
          </a:xfrm>
          <a:prstGeom prst="roundRect">
            <a:avLst>
              <a:gd name="adj" fmla="val 8000"/>
            </a:avLst>
          </a:prstGeom>
          <a:solidFill>
            <a:schemeClr val="accent3">
              <a:alpha val="8000"/>
            </a:schemeClr>
          </a:solidFill>
          <a:ln w="9525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419856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419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chemeClr val="bg1"/>
                </a:solidFill>
              </a:rPr>
              <a:t>3</a:t>
            </a:r>
            <a:endParaRPr lang="en-US" sz="143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28269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 correctness guarantee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611880"/>
            <a:ext cx="5715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LLM code tools (Codex, Code Llama) can introduce bugs silently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187952"/>
            <a:ext cx="6720840" cy="914400"/>
          </a:xfrm>
          <a:prstGeom prst="roundRect">
            <a:avLst>
              <a:gd name="adj" fmla="val 8000"/>
            </a:avLst>
          </a:prstGeom>
          <a:solidFill>
            <a:schemeClr val="accent3">
              <a:alpha val="8000"/>
            </a:schemeClr>
          </a:solidFill>
          <a:ln w="9525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3891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chemeClr val="bg1"/>
                </a:solidFill>
              </a:rPr>
              <a:t>4</a:t>
            </a:r>
            <a:endParaRPr lang="en-US" sz="143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25196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Wrong level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581144"/>
            <a:ext cx="5715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LLM-for-compiler work targets pass ordering and flags, not code transformations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5157216"/>
            <a:ext cx="6720840" cy="914400"/>
          </a:xfrm>
          <a:prstGeom prst="roundRect">
            <a:avLst>
              <a:gd name="adj" fmla="val 8000"/>
            </a:avLst>
          </a:prstGeom>
          <a:solidFill>
            <a:schemeClr val="accent3">
              <a:alpha val="8000"/>
            </a:schemeClr>
          </a:solidFill>
          <a:ln w="9525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5358384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5358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chemeClr val="bg1"/>
                </a:solidFill>
              </a:rPr>
              <a:t>5</a:t>
            </a:r>
            <a:endParaRPr lang="en-US" sz="143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522122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 verification gate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5550408"/>
            <a:ext cx="5715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Few systems check every LLM suggestion before accepting it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543800" y="1280160"/>
            <a:ext cx="4096512" cy="4791456"/>
          </a:xfrm>
          <a:prstGeom prst="roundRect">
            <a:avLst>
              <a:gd name="adj" fmla="val 1786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18120" y="15544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140" y="1714500"/>
            <a:ext cx="320040" cy="320040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7818120" y="2331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2"/>
                </a:solidFill>
              </a:rPr>
              <a:t>Our contribution</a:t>
            </a:r>
            <a:endParaRPr lang="en-US" sz="2100" dirty="0"/>
          </a:p>
        </p:txBody>
      </p:sp>
      <p:sp>
        <p:nvSpPr>
          <p:cNvPr id="32" name="Text 29"/>
          <p:cNvSpPr txBox="1"/>
          <p:nvPr/>
        </p:nvSpPr>
        <p:spPr>
          <a:xfrm>
            <a:off x="7818120" y="283464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An agent that decides what to optimize, proposes transformations (rule-based + LLM), and accepts a change only after it is verified and shown to lower cost.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7818120" y="4846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incorrect changes accepted in 10,978 proposals</a:t>
            </a:r>
            <a:endParaRPr lang="en-US" sz="18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Proposed 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706858" y="1920240"/>
            <a:ext cx="853396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975338" y="15544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5338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chemeClr val="bg1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6888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Parse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880360"/>
            <a:ext cx="14386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Source → AST → Three-Address Code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91775" y="1920240"/>
            <a:ext cx="853396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60255" y="15544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255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chemeClr val="bg1"/>
                </a:solidFill>
              </a:rPr>
              <a:t>2</a:t>
            </a:r>
            <a:endParaRPr lang="en-US" sz="2080" dirty="0"/>
          </a:p>
        </p:txBody>
      </p:sp>
      <p:sp>
        <p:nvSpPr>
          <p:cNvPr id="11" name="Text 9"/>
          <p:cNvSpPr txBox="1"/>
          <p:nvPr/>
        </p:nvSpPr>
        <p:spPr>
          <a:xfrm>
            <a:off x="2179276" y="246888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Analyze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06708" y="2880360"/>
            <a:ext cx="14386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Find optimization opportunities, ranked by priority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76691" y="1920240"/>
            <a:ext cx="853396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45171" y="15544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45171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chemeClr val="bg1"/>
                </a:solidFill>
              </a:rPr>
              <a:t>3</a:t>
            </a:r>
            <a:endParaRPr lang="en-US" sz="2080" dirty="0"/>
          </a:p>
        </p:txBody>
      </p:sp>
      <p:sp>
        <p:nvSpPr>
          <p:cNvPr id="16" name="Text 14"/>
          <p:cNvSpPr txBox="1"/>
          <p:nvPr/>
        </p:nvSpPr>
        <p:spPr>
          <a:xfrm>
            <a:off x="3764193" y="246888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Propose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791625" y="2880360"/>
            <a:ext cx="14386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Apply the top rule; ask Gemini if rules fail or run out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61608" y="1920240"/>
            <a:ext cx="853396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730088" y="15544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30088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chemeClr val="bg1"/>
                </a:solidFill>
              </a:rPr>
              <a:t>4</a:t>
            </a:r>
            <a:endParaRPr lang="en-US" sz="2080" dirty="0"/>
          </a:p>
        </p:txBody>
      </p:sp>
      <p:sp>
        <p:nvSpPr>
          <p:cNvPr id="21" name="Text 19"/>
          <p:cNvSpPr txBox="1"/>
          <p:nvPr/>
        </p:nvSpPr>
        <p:spPr>
          <a:xfrm>
            <a:off x="5349109" y="246888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Verify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376541" y="2880360"/>
            <a:ext cx="14386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Differential testing + symbolic check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046524" y="1920240"/>
            <a:ext cx="853396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15004" y="15544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004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chemeClr val="bg1"/>
                </a:solidFill>
              </a:rPr>
              <a:t>5</a:t>
            </a:r>
            <a:endParaRPr lang="en-US" sz="2080" dirty="0"/>
          </a:p>
        </p:txBody>
      </p:sp>
      <p:sp>
        <p:nvSpPr>
          <p:cNvPr id="26" name="Text 24"/>
          <p:cNvSpPr txBox="1"/>
          <p:nvPr/>
        </p:nvSpPr>
        <p:spPr>
          <a:xfrm>
            <a:off x="6934026" y="246888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Evaluate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961458" y="2880360"/>
            <a:ext cx="14386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Accept only if the weighted cost drops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631441" y="1920240"/>
            <a:ext cx="853396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899921" y="15544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899921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chemeClr val="bg1"/>
                </a:solidFill>
              </a:rPr>
              <a:t>6</a:t>
            </a:r>
            <a:endParaRPr lang="en-US" sz="2080" dirty="0"/>
          </a:p>
        </p:txBody>
      </p:sp>
      <p:sp>
        <p:nvSpPr>
          <p:cNvPr id="31" name="Text 29"/>
          <p:cNvSpPr txBox="1"/>
          <p:nvPr/>
        </p:nvSpPr>
        <p:spPr>
          <a:xfrm>
            <a:off x="8518942" y="246888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Repeat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546374" y="2880360"/>
            <a:ext cx="14386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Until nothing is left (max 50 iterations)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0484837" y="15544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484837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chemeClr val="bg1"/>
                </a:solidFill>
              </a:rPr>
              <a:t>7</a:t>
            </a:r>
            <a:endParaRPr lang="en-US" sz="2080" dirty="0"/>
          </a:p>
        </p:txBody>
      </p:sp>
      <p:sp>
        <p:nvSpPr>
          <p:cNvPr id="35" name="Text 33"/>
          <p:cNvSpPr txBox="1"/>
          <p:nvPr/>
        </p:nvSpPr>
        <p:spPr>
          <a:xfrm>
            <a:off x="10103859" y="246888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Final check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10131291" y="2880360"/>
            <a:ext cx="14386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Re-verify the result against the original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48640" y="4434840"/>
            <a:ext cx="11094415" cy="1463040"/>
          </a:xfrm>
          <a:prstGeom prst="roundRect">
            <a:avLst>
              <a:gd name="adj" fmla="val 5000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" y="48463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5006340"/>
            <a:ext cx="320040" cy="320040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1691640" y="46451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Key design principle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169164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The LLM is only a proposer. Its suggestions go through exactly the same verification and cost gates as the rule-based ones, so a wrong suggestion is caught and rejected.</a:t>
            </a:r>
            <a:endParaRPr lang="en-US" sz="17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Dataset: 500 Programs, 7 Categories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680960" cy="4641088"/>
        </p:xfrm>
        <a:graphic>
          <a:graphicData uri="http://schemas.openxmlformats.org/drawingml/2006/table">
            <a:tbl>
              <a:tblPr/>
              <a:tblGrid>
                <a:gridCol w="1965960"/>
                <a:gridCol w="777240"/>
                <a:gridCol w="2468880"/>
                <a:gridCol w="2468880"/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optimization targets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Arithmetic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k = 1 + 14;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 folding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expressions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((a+b)*(c-d))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 folding, copy propagation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 expressions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a*b computed twice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subexpression elimination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 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v = e*5; never used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 code elimination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/ while with invariant 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Folding inside loops, DCE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/ else with x*1, x+0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Algebraic simplification, folding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several of the above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of the above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503920" y="1280160"/>
            <a:ext cx="3136392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8680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0" y="1577340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281160" y="1435608"/>
            <a:ext cx="2212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Generated by dataset/generator.py with a fixed random seed, so it is reproducible</a:t>
            </a:r>
            <a:endParaRPr lang="en-US" sz="1500" dirty="0"/>
          </a:p>
        </p:txBody>
      </p:sp>
      <p:sp>
        <p:nvSpPr>
          <p:cNvPr id="3" name="Shape 4"/>
          <p:cNvSpPr/>
          <p:nvPr/>
        </p:nvSpPr>
        <p:spPr>
          <a:xfrm>
            <a:off x="8503920" y="2852928"/>
            <a:ext cx="3136392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0" y="30358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0" y="315010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281160" y="3008376"/>
            <a:ext cx="2212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Some programs read input variables, tested with random and boundary values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8503920" y="4425696"/>
            <a:ext cx="3136392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686800" y="460857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0" y="4722876"/>
            <a:ext cx="228600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281160" y="4581144"/>
            <a:ext cx="2212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Covers straight-line, branching, looping and nested code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627632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Source program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441997" y="1325880"/>
            <a:ext cx="1627632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Lexer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176272" y="1655064"/>
            <a:ext cx="265725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4335353" y="1325880"/>
            <a:ext cx="1627632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Parser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069629" y="1655064"/>
            <a:ext cx="265725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228710" y="1325880"/>
            <a:ext cx="1627632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AST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62985" y="1655064"/>
            <a:ext cx="265725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122067" y="1325880"/>
            <a:ext cx="1627632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TAC Generator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856342" y="1655064"/>
            <a:ext cx="265725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0015423" y="1325880"/>
            <a:ext cx="1627632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TAC program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749699" y="1655064"/>
            <a:ext cx="265725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829239" y="1984248"/>
            <a:ext cx="0" cy="301752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1943100" y="2286000"/>
            <a:ext cx="8886139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43100" y="2286000"/>
            <a:ext cx="0" cy="8229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754880" y="2011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TAC enters the agent loop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514600"/>
            <a:ext cx="7818120" cy="3611880"/>
          </a:xfrm>
          <a:prstGeom prst="roundRect">
            <a:avLst>
              <a:gd name="adj" fmla="val 2532"/>
            </a:avLst>
          </a:prstGeom>
          <a:solidFill>
            <a:schemeClr val="accent1">
              <a:alpha val="5000"/>
            </a:schemeClr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2194560" y="26517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Agent loop: Orchestrator, up to 50 iterations per program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108960"/>
            <a:ext cx="21488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1  Code Analyzer</a:t>
            </a:r>
            <a:endParaRPr lang="en-US" sz="15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find &amp; rank opportunities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29000" y="3108960"/>
            <a:ext cx="21488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2  Proposer</a:t>
            </a:r>
            <a:endParaRPr lang="en-US" sz="15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rules (6 types) + Gemini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89320" y="3108960"/>
            <a:ext cx="21488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3  Verifier</a:t>
            </a:r>
            <a:endParaRPr lang="en-US" sz="15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differential + symbolic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89320" y="4800600"/>
            <a:ext cx="21488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4  Cost Evaluator</a:t>
            </a:r>
            <a:endParaRPr lang="en-US" sz="15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weighted static cost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429000" y="4800600"/>
            <a:ext cx="21488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5  Decision</a:t>
            </a:r>
            <a:endParaRPr lang="en-US" sz="15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accept only if verified AND cheaper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017520" y="3634740"/>
            <a:ext cx="4114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577840" y="3634740"/>
            <a:ext cx="4114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063740" y="4160520"/>
            <a:ext cx="0" cy="6400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H="1">
            <a:off x="5577840" y="5326380"/>
            <a:ext cx="4114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H="1">
            <a:off x="1943100" y="5326380"/>
            <a:ext cx="148590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1943100" y="4160520"/>
            <a:ext cx="0" cy="116586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777240" y="4434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chemeClr val="accent2"/>
                </a:solidFill>
              </a:rPr>
              <a:t>next iteration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265176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Outputs (after final check)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732520" y="3063240"/>
            <a:ext cx="2907792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Optimized TAC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732520" y="3813048"/>
            <a:ext cx="2907792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Decision logs (.log + .json)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732520" y="4562856"/>
            <a:ext cx="2907792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Metrics (CSV + JSON)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732520" y="5312664"/>
            <a:ext cx="2907792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7 charts (PNG)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366760" y="4343400"/>
            <a:ext cx="36576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Agent Workflow: The Optimization Loop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77240" y="1298448"/>
            <a:ext cx="27432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Analyze TAC: find opportunities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002536"/>
            <a:ext cx="2743200" cy="731520"/>
          </a:xfrm>
          <a:prstGeom prst="diamond">
            <a:avLst/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Any untried opportunity?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935224"/>
            <a:ext cx="27432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Pick top priority and propose (rules or Gemini)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685032"/>
            <a:ext cx="2743200" cy="731520"/>
          </a:xfrm>
          <a:prstGeom prst="diamond">
            <a:avLst/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Verified correct?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4599432"/>
            <a:ext cx="2743200" cy="731520"/>
          </a:xfrm>
          <a:prstGeom prst="diamond">
            <a:avLst/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Cost lower?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5513832"/>
            <a:ext cx="274320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ACCEPT: update program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148840" y="1801368"/>
            <a:ext cx="0" cy="201168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48840" y="2734056"/>
            <a:ext cx="0" cy="201168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258568" y="27340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Yes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48840" y="3483864"/>
            <a:ext cx="0" cy="201168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148840" y="4416552"/>
            <a:ext cx="0" cy="18288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258568" y="44165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Pass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48840" y="5330952"/>
            <a:ext cx="0" cy="18288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258568" y="5330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Yes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77640" y="2093976"/>
            <a:ext cx="146304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Final check vs. original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15000" y="2139696"/>
            <a:ext cx="73152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END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77640" y="3799332"/>
            <a:ext cx="182880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5875">
            <a:solidFill>
              <a:schemeClr val="accent3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REJECT: invalid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77640" y="4713732"/>
            <a:ext cx="182880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5875">
            <a:solidFill>
              <a:schemeClr val="accent3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REJECT: no cost gain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520440" y="2368296"/>
            <a:ext cx="45720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40680" y="2368296"/>
            <a:ext cx="2743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520440" y="4050792"/>
            <a:ext cx="45720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520440" y="4965192"/>
            <a:ext cx="45720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3566160" y="21031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No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566160" y="378561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Fail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566160" y="470001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No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806440" y="4050792"/>
            <a:ext cx="8686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806440" y="4965192"/>
            <a:ext cx="8686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 flipV="1">
            <a:off x="6675120" y="1463040"/>
            <a:ext cx="0" cy="3502152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 flipH="1">
            <a:off x="3520440" y="1463040"/>
            <a:ext cx="31546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3977640" y="5303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rejected: try the next one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 flipH="1">
            <a:off x="566928" y="5742432"/>
            <a:ext cx="210312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566928" y="1627632"/>
            <a:ext cx="0" cy="411480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" y="1627632"/>
            <a:ext cx="210312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3611880" y="56509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accepted: analyze again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08660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330" y="1497330"/>
            <a:ext cx="251460" cy="251460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7772400" y="1280160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Max 50 iterations per program</a:t>
            </a:r>
            <a:endParaRPr lang="en-US" sz="1700" dirty="0"/>
          </a:p>
        </p:txBody>
      </p:sp>
      <p:sp>
        <p:nvSpPr>
          <p:cNvPr id="40" name="Shape 37"/>
          <p:cNvSpPr/>
          <p:nvPr/>
        </p:nvSpPr>
        <p:spPr>
          <a:xfrm>
            <a:off x="7086600" y="2322576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330" y="2448306"/>
            <a:ext cx="251460" cy="251460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7772400" y="2231136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On accept: clear the "already tried" list, since new opportunities may appear</a:t>
            </a:r>
            <a:endParaRPr lang="en-US" sz="1700" dirty="0"/>
          </a:p>
        </p:txBody>
      </p:sp>
      <p:sp>
        <p:nvSpPr>
          <p:cNvPr id="43" name="Shape 39"/>
          <p:cNvSpPr/>
          <p:nvPr/>
        </p:nvSpPr>
        <p:spPr>
          <a:xfrm>
            <a:off x="7086600" y="327355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2330" y="3399282"/>
            <a:ext cx="251460" cy="251460"/>
          </a:xfrm>
          <a:prstGeom prst="rect">
            <a:avLst/>
          </a:prstGeom>
        </p:spPr>
      </p:pic>
      <p:sp>
        <p:nvSpPr>
          <p:cNvPr id="45" name="Text 40"/>
          <p:cNvSpPr txBox="1"/>
          <p:nvPr/>
        </p:nvSpPr>
        <p:spPr>
          <a:xfrm>
            <a:off x="7772400" y="3182112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On reject: remember it and try the next opportunity</a:t>
            </a:r>
            <a:endParaRPr lang="en-US" sz="1700" dirty="0"/>
          </a:p>
        </p:txBody>
      </p:sp>
      <p:sp>
        <p:nvSpPr>
          <p:cNvPr id="46" name="Shape 41"/>
          <p:cNvSpPr/>
          <p:nvPr/>
        </p:nvSpPr>
        <p:spPr>
          <a:xfrm>
            <a:off x="7086600" y="422452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2330" y="4350258"/>
            <a:ext cx="251460" cy="251460"/>
          </a:xfrm>
          <a:prstGeom prst="rect">
            <a:avLst/>
          </a:prstGeom>
        </p:spPr>
      </p:pic>
      <p:sp>
        <p:nvSpPr>
          <p:cNvPr id="48" name="Text 42"/>
          <p:cNvSpPr txBox="1"/>
          <p:nvPr/>
        </p:nvSpPr>
        <p:spPr>
          <a:xfrm>
            <a:off x="7772400" y="4133088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Gemini is asked when a rule is rejected or the rules run out</a:t>
            </a:r>
            <a:endParaRPr lang="en-US" sz="1700" dirty="0"/>
          </a:p>
        </p:txBody>
      </p:sp>
      <p:sp>
        <p:nvSpPr>
          <p:cNvPr id="49" name="Shape 43"/>
          <p:cNvSpPr/>
          <p:nvPr/>
        </p:nvSpPr>
        <p:spPr>
          <a:xfrm>
            <a:off x="7086600" y="517550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2330" y="5301234"/>
            <a:ext cx="251460" cy="251460"/>
          </a:xfrm>
          <a:prstGeom prst="rect">
            <a:avLst/>
          </a:prstGeom>
        </p:spPr>
      </p:pic>
      <p:sp>
        <p:nvSpPr>
          <p:cNvPr id="51" name="Text 44"/>
          <p:cNvSpPr txBox="1"/>
          <p:nvPr/>
        </p:nvSpPr>
        <p:spPr>
          <a:xfrm>
            <a:off x="7772400" y="5084064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At the end: re-verify the optimized TAC against the original</a:t>
            </a:r>
            <a:endParaRPr lang="en-US" sz="170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Implementation: Tools &amp; Technologies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400800" cy="4407408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256032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3.10+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statements, dataclasses, type hints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provider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Gemini (gemini-3.1-flash-lite)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Free-tier LLM proposer via the google-genai SDK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Matplotlib, Seaborn, Plotly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Bar, line, scatter, heatmap, pie, Sankey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 (190 tests)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and integration tests for every component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 lines and statistics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Kaleido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 Plotly charts as PNG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0" y="1280160"/>
            <a:ext cx="4325112" cy="4800600"/>
          </a:xfrm>
          <a:prstGeom prst="roundRect">
            <a:avLst>
              <a:gd name="adj" fmla="val 1691"/>
            </a:avLst>
          </a:prstGeom>
          <a:solidFill>
            <a:schemeClr val="tx1"/>
          </a:solidFill>
          <a:ln w="9525">
            <a:solidFill>
              <a:schemeClr val="tx1">
                <a:alpha val="0"/>
              </a:scheme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58952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Project structure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2011680"/>
            <a:ext cx="38862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FD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src/frontend/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Lexer, Parser, AST,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TAC generator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7FD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src/tac/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Instructions, interpreter,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dataflow analysis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7FD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src/agents/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Orchestrator, Analyzer,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Rule + LLM optimizers,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Verifier, Cost Evaluator,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Decision Logger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7FD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src/visualization/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7 charts, metrics report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Implementation: The Five Agents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47872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148132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38" y="1607058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89888" y="1536192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1. Code Analyzer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148840"/>
            <a:ext cx="31638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Dataflow analysis (CFG, liveness, available copies). Ranks 6 types: Fold 100 → Algebraic 90 → Dead Code 80 → CSE 70 → Strength 60 → Copy Prop 50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21912" y="1280160"/>
            <a:ext cx="3547872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23080" y="148132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810" y="1607058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63160" y="1536192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2. Rule-Based Optimizer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23080" y="2148840"/>
            <a:ext cx="31638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Copies the program and applies exactly one transformation. Copy propagation also removes the copy once unused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095183" y="1280160"/>
            <a:ext cx="3547872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96351" y="148132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2081" y="1607058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936431" y="1536192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3. LLM Optimizer (Gemini)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296351" y="2148840"/>
            <a:ext cx="31638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Sends TAC with a structured prompt; reads back &lt;tac&gt; and &lt;reasoning&gt;. 6.5 s between calls; retries on errors, stops when the quota runs out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2435276" y="3767328"/>
            <a:ext cx="3547872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2636444" y="396849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2174" y="4094226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276524" y="4023360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4. Verifier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2636444" y="4636008"/>
            <a:ext cx="31638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Differential testing (20 random + 5 edge-case + boundary inputs) and symbolic checking for straight-line code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208547" y="3767328"/>
            <a:ext cx="3547872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09715" y="396849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5445" y="4094226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49795" y="4023360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5. Cost Evaluator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6409715" y="4636008"/>
            <a:ext cx="31638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cost = 1.0·instructions + 2.0·arithmetic + 0.5·temps + 1.5·copies + 1.0·branches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Verification Deep Dive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47872" cy="2788920"/>
          </a:xfrm>
          <a:prstGeom prst="roundRect">
            <a:avLst>
              <a:gd name="adj" fmla="val 2623"/>
            </a:avLst>
          </a:prstGeom>
          <a:solidFill>
            <a:schemeClr val="accent1">
              <a:alpha val="9000"/>
            </a:schemeClr>
          </a:solidFill>
          <a:ln w="9525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81328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Gate 1: Differential testing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3090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Run original and candidate on 25+ input sets. Compare printed output and failure behaviour (division by zero, timeout, undefined variable). Both timing out = rejected.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1912" y="1280160"/>
            <a:ext cx="3547872" cy="2788920"/>
          </a:xfrm>
          <a:prstGeom prst="roundRect">
            <a:avLst>
              <a:gd name="adj" fmla="val 2623"/>
            </a:avLst>
          </a:prstGeom>
          <a:solidFill>
            <a:schemeClr val="accent1">
              <a:alpha val="9000"/>
            </a:schemeClr>
          </a:solidFill>
          <a:ln w="9525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50512" y="1481328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Gate 2: Symbolic check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50512" y="1965960"/>
            <a:ext cx="3090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For straight-line code, values become canonical polynomials, so x*2 = x+x = x&lt;&lt;1 and a+b = b+a. Loops and branches rely on Gate 1.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95183" y="1280160"/>
            <a:ext cx="3547872" cy="2788920"/>
          </a:xfrm>
          <a:prstGeom prst="roundRect">
            <a:avLst>
              <a:gd name="adj" fmla="val 2623"/>
            </a:avLst>
          </a:prstGeom>
          <a:solidFill>
            <a:schemeClr val="accent1">
              <a:alpha val="9000"/>
            </a:schemeClr>
          </a:solidFill>
          <a:ln w="9525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3783" y="1481328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Gate 3: Cost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323783" y="1965960"/>
            <a:ext cx="3090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 correct change is still rejected unless the weighted cost strictly drops.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681228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4074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Strength of the guarantee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791456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Proven equivalent for programs with no inputs and for straight-line code. Tested thoroughly (including boundary values) for branching code with inputs. The finished program is re-verified against the original.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635240" y="4251960"/>
            <a:ext cx="4005072" cy="1645920"/>
          </a:xfrm>
          <a:prstGeom prst="roundRect">
            <a:avLst>
              <a:gd name="adj" fmla="val 4444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0" y="443484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10,978 proposals</a:t>
            </a:r>
            <a:endParaRPr lang="en-US" sz="1800" dirty="0"/>
          </a:p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 incorrect changes accepted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Key Metrics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40480" cy="2240280"/>
          </a:xfrm>
          <a:prstGeom prst="roundRect">
            <a:avLst>
              <a:gd name="adj" fmla="val 3265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Average cost reduction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82.5% </a:t>
            </a:r>
            <a:r>
              <a:rPr lang="en-US" sz="4400" b="1" dirty="0">
                <a:solidFill>
                  <a:schemeClr val="accent1"/>
                </a:solidFill>
              </a:rPr>
              <a:t>→ 91.5%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rules only → rules + Gemini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3840480" cy="2240280"/>
          </a:xfrm>
          <a:prstGeom prst="roundRect">
            <a:avLst>
              <a:gd name="adj" fmla="val 3265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931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False positives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976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0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257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target: must be 0%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80160"/>
          <a:ext cx="6885432" cy="475488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856232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+ Gemini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cost reduction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82.49%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91.50%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Programs with &gt;30% reduction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/ 500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/ 500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pass 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99.76%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Acceptance rate (of verified)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98.96%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98.87%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 to convergence (mean)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validity 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positives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proposals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10,628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10,978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10,517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10,828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Cost Reduction by Category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949440" cy="438912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1234440"/>
                <a:gridCol w="1463040"/>
                <a:gridCol w="960120"/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+ Gemini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Arithmetic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98.2%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 expressions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80.7%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81.7%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 code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+28.2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2000"/>
                      </a:schemeClr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73.9%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2000"/>
                      </a:schemeClr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77.9%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91.6%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+13.7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2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280160"/>
            <a:ext cx="3776472" cy="4389120"/>
          </a:xfrm>
          <a:prstGeom prst="roundRect">
            <a:avLst>
              <a:gd name="adj" fmla="val 1937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9244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64592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778240" y="15819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Key takeaway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8092440" y="224028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Biggest gains on </a:t>
            </a:r>
            <a:r>
              <a:rPr lang="en-US" sz="1600" b="1" dirty="0">
                <a:solidFill>
                  <a:schemeClr val="tx1"/>
                </a:solidFill>
              </a:rPr>
              <a:t>loops (+28)</a:t>
            </a:r>
            <a:r>
              <a:rPr lang="en-US" sz="1600" dirty="0">
                <a:solidFill>
                  <a:schemeClr val="tx1"/>
                </a:solidFill>
              </a:rPr>
              <a:t> and </a:t>
            </a:r>
            <a:r>
              <a:rPr lang="en-US" sz="1600" b="1" dirty="0">
                <a:solidFill>
                  <a:schemeClr val="tx1"/>
                </a:solidFill>
              </a:rPr>
              <a:t>conditionals (+10)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There the six rules can't remove branches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Gemini worked out whole constant loops, e.g. "adds −4 twelve times" → </a:t>
            </a:r>
            <a:r>
              <a:rPr lang="en-US" sz="1600" b="1" dirty="0">
                <a:solidFill>
                  <a:schemeClr val="tx1"/>
                </a:solidFill>
              </a:rPr>
              <a:t>print -48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196 programs improved</a:t>
            </a:r>
            <a:r>
              <a:rPr lang="en-US" sz="1600" dirty="0">
                <a:solidFill>
                  <a:schemeClr val="tx1"/>
                </a:solidFill>
              </a:rPr>
              <a:t>, none got worse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Proposal Flow</a:t>
            </a:r>
            <a:endParaRPr lang="en-US" sz="3200" dirty="0"/>
          </a:p>
        </p:txBody>
      </p:sp>
      <p:pic>
        <p:nvPicPr>
          <p:cNvPr id="3" name="Image 0" descr="D:\nirupam\Desktop\compiler_project\presentation\plots\1_sankey_proposal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43374"/>
            <a:ext cx="8092440" cy="43198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915400" y="1280160"/>
            <a:ext cx="2727655" cy="4846320"/>
          </a:xfrm>
          <a:prstGeom prst="roundRect">
            <a:avLst>
              <a:gd name="adj" fmla="val 2682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0" y="1508760"/>
            <a:ext cx="2270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it shows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144000" y="2011680"/>
            <a:ext cx="23161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10,978</a:t>
            </a:r>
            <a:r>
              <a:rPr lang="en-US" sz="1600" dirty="0">
                <a:solidFill>
                  <a:schemeClr val="tx1"/>
                </a:solidFill>
              </a:rPr>
              <a:t> proposals in total (10,638 rule-based, 340 from Gemini)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10,952</a:t>
            </a:r>
            <a:r>
              <a:rPr lang="en-US" sz="1600" dirty="0">
                <a:solidFill>
                  <a:schemeClr val="tx1"/>
                </a:solidFill>
              </a:rPr>
              <a:t> passed verification; </a:t>
            </a:r>
            <a:r>
              <a:rPr lang="en-US" sz="1600" b="1" dirty="0">
                <a:solidFill>
                  <a:schemeClr val="tx1"/>
                </a:solidFill>
              </a:rPr>
              <a:t>26</a:t>
            </a:r>
            <a:r>
              <a:rPr lang="en-US" sz="1600" dirty="0">
                <a:solidFill>
                  <a:schemeClr val="tx1"/>
                </a:solidFill>
              </a:rPr>
              <a:t> were invalid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10,828</a:t>
            </a:r>
            <a:r>
              <a:rPr lang="en-US" sz="1600" dirty="0">
                <a:solidFill>
                  <a:schemeClr val="tx1"/>
                </a:solidFill>
              </a:rPr>
              <a:t> accepted; 124 rejected for no cost gain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All 26 invalid proposals came from the LLM and were blocked by the verifier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Outcomes by Optimization Type</a:t>
            </a:r>
            <a:endParaRPr lang="en-US" sz="3200" dirty="0"/>
          </a:p>
        </p:txBody>
      </p:sp>
      <p:pic>
        <p:nvPicPr>
          <p:cNvPr id="3" name="Image 0" descr="D:\nirupam\Desktop\compiler_project\presentation\plots\2_bar_outcomes_by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83375"/>
            <a:ext cx="8092440" cy="463989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915400" y="1280160"/>
            <a:ext cx="2727655" cy="4846320"/>
          </a:xfrm>
          <a:prstGeom prst="roundRect">
            <a:avLst>
              <a:gd name="adj" fmla="val 2682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0" y="1508760"/>
            <a:ext cx="2270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it shows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144000" y="2011680"/>
            <a:ext cx="23161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Copy propagation</a:t>
            </a:r>
            <a:r>
              <a:rPr lang="en-US" sz="1600" dirty="0">
                <a:solidFill>
                  <a:schemeClr val="tx1"/>
                </a:solidFill>
              </a:rPr>
              <a:t> dominates: 6,465 accepted, because naive TAC creates many temporary copies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Strength reduction</a:t>
            </a:r>
            <a:r>
              <a:rPr lang="en-US" sz="1600" dirty="0">
                <a:solidFill>
                  <a:schemeClr val="tx1"/>
                </a:solidFill>
              </a:rPr>
              <a:t> has the most rule rejections (62): x*2 → x+x doesn't lower cost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LLM proposals:</a:t>
            </a:r>
            <a:r>
              <a:rPr lang="en-US" sz="1600" dirty="0">
                <a:solidFill>
                  <a:schemeClr val="tx1"/>
                </a:solidFill>
              </a:rPr>
              <a:t> 262 accepted, 52 no gain, 26 invalid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Share of Accepted Optimizations</a:t>
            </a:r>
            <a:endParaRPr lang="en-US" sz="3200" dirty="0"/>
          </a:p>
        </p:txBody>
      </p:sp>
      <p:pic>
        <p:nvPicPr>
          <p:cNvPr id="3" name="Image 0" descr="D:\nirupam\Desktop\compiler_project\presentation\plots\4_pie_accepted_typ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08710"/>
            <a:ext cx="8092440" cy="478922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915400" y="1280160"/>
            <a:ext cx="2727655" cy="4846320"/>
          </a:xfrm>
          <a:prstGeom prst="roundRect">
            <a:avLst>
              <a:gd name="adj" fmla="val 2682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0" y="1508760"/>
            <a:ext cx="2270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it shows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144000" y="2011680"/>
            <a:ext cx="23161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Copy Propagation 59.7%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Dead Code 17.5%, Constant Fold 16.7%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LLM 2.4%, Algebraic 1.6%, CSE 1.4%, Strength Reduction 0.8%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LLM steps are few, but each one is large: a single step can replace a whole loop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Cost Over Iterations</a:t>
            </a:r>
            <a:endParaRPr lang="en-US" sz="3200" dirty="0"/>
          </a:p>
        </p:txBody>
      </p:sp>
      <p:pic>
        <p:nvPicPr>
          <p:cNvPr id="3" name="Image 0" descr="D:\nirupam\Desktop\compiler_project\presentation\plots\3_line_cost_over_iter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4106"/>
            <a:ext cx="8092440" cy="483842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915400" y="1280160"/>
            <a:ext cx="2727655" cy="4846320"/>
          </a:xfrm>
          <a:prstGeom prst="roundRect">
            <a:avLst>
              <a:gd name="adj" fmla="val 2682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0" y="1508760"/>
            <a:ext cx="2270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it shows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144000" y="2011680"/>
            <a:ext cx="23161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representative program from each main category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Cost falls steadily with each accepted optimization until no opportunities remain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sharp drop in loops_024 is a Gemini step: </a:t>
            </a:r>
            <a:r>
              <a:rPr lang="en-US" sz="1600" b="1" dirty="0">
                <a:solidFill>
                  <a:schemeClr val="tx1"/>
                </a:solidFill>
              </a:rPr>
              <a:t>"adds −1 twelve times" → total − 12</a:t>
            </a:r>
            <a:r>
              <a:rPr lang="en-US" sz="1600" dirty="0">
                <a:solidFill>
                  <a:schemeClr val="tx1"/>
                </a:solidFill>
              </a:rPr>
              <a:t>, cutting cost by 66.7% at once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Agent Steps vs. Improvement</a:t>
            </a:r>
            <a:endParaRPr lang="en-US" sz="3200" dirty="0"/>
          </a:p>
        </p:txBody>
      </p:sp>
      <p:pic>
        <p:nvPicPr>
          <p:cNvPr id="3" name="Image 0" descr="D:\nirupam\Desktop\compiler_project\presentation\plots\5_scatter_steps_vs_improv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14454"/>
            <a:ext cx="8092440" cy="397773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915400" y="1280160"/>
            <a:ext cx="2727655" cy="4846320"/>
          </a:xfrm>
          <a:prstGeom prst="roundRect">
            <a:avLst>
              <a:gd name="adj" fmla="val 2682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0" y="1508760"/>
            <a:ext cx="2270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it shows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144000" y="2011680"/>
            <a:ext cx="23161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panel per category; grey dots are all other programs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Overall trend: </a:t>
            </a:r>
            <a:r>
              <a:rPr lang="en-US" sz="1600" b="1" dirty="0">
                <a:solidFill>
                  <a:schemeClr val="tx1"/>
                </a:solidFill>
              </a:rPr>
              <a:t>+0.41 percentage points per step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Programs that take more steps tend to reach higher reductions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Where Each Optimization Was Applied</a:t>
            </a:r>
            <a:endParaRPr lang="en-US" sz="3200" dirty="0"/>
          </a:p>
        </p:txBody>
      </p:sp>
      <p:pic>
        <p:nvPicPr>
          <p:cNvPr id="3" name="Image 0" descr="D:\nirupam\Desktop\compiler_project\presentation\plots\6_heatmap_category_vs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0793"/>
            <a:ext cx="8092440" cy="466505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915400" y="1280160"/>
            <a:ext cx="2727655" cy="4846320"/>
          </a:xfrm>
          <a:prstGeom prst="roundRect">
            <a:avLst>
              <a:gd name="adj" fmla="val 2682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0" y="1508760"/>
            <a:ext cx="2270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it shows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144000" y="2011680"/>
            <a:ext cx="23161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Copy propagation is the most applied in every category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Nested programs have the most constant folds (</a:t>
            </a:r>
            <a:r>
              <a:rPr lang="en-US" sz="1600" b="1" dirty="0">
                <a:solidFill>
                  <a:schemeClr val="tx1"/>
                </a:solidFill>
              </a:rPr>
              <a:t>527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Mixed programs have the most dead-code removals (</a:t>
            </a:r>
            <a:r>
              <a:rPr lang="en-US" sz="1600" b="1" dirty="0">
                <a:solidFill>
                  <a:schemeClr val="tx1"/>
                </a:solidFill>
              </a:rPr>
              <a:t>463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Gemini helped mostly in loops (87), conditionals (62) and mixed (99)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Rules Only vs. Rules + Gemini</a:t>
            </a:r>
            <a:endParaRPr lang="en-US" sz="3200" dirty="0"/>
          </a:p>
        </p:txBody>
      </p:sp>
      <p:pic>
        <p:nvPicPr>
          <p:cNvPr id="3" name="Image 0" descr="D:\nirupam\Desktop\compiler_project\presentation\plots\7_comparison_rule_vs_ll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7597366" cy="4846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915400" y="1280160"/>
            <a:ext cx="2727655" cy="4846320"/>
          </a:xfrm>
          <a:prstGeom prst="roundRect">
            <a:avLst>
              <a:gd name="adj" fmla="val 2682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0" y="1508760"/>
            <a:ext cx="2270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it shows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144000" y="2011680"/>
            <a:ext cx="23161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Loops: </a:t>
            </a:r>
            <a:r>
              <a:rPr lang="en-US" sz="1600" dirty="0">
                <a:solidFill>
                  <a:schemeClr val="tx1"/>
                </a:solidFill>
              </a:rPr>
              <a:t>65.1% → 93.3%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Conditionals: </a:t>
            </a:r>
            <a:r>
              <a:rPr lang="en-US" sz="1600" dirty="0">
                <a:solidFill>
                  <a:schemeClr val="tx1"/>
                </a:solidFill>
              </a:rPr>
              <a:t>73.9% → 84.1%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Mixed: </a:t>
            </a:r>
            <a:r>
              <a:rPr lang="en-US" sz="1600" dirty="0">
                <a:solidFill>
                  <a:schemeClr val="tx1"/>
                </a:solidFill>
              </a:rPr>
              <a:t>77.9% → 91.6%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196 programs improved</a:t>
            </a:r>
            <a:r>
              <a:rPr lang="en-US" sz="1600" dirty="0">
                <a:solidFill>
                  <a:schemeClr val="tx1"/>
                </a:solidFill>
              </a:rPr>
              <a:t>, none got worse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Example: Agent Decision Log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94415" cy="5029200"/>
          </a:xfrm>
          <a:prstGeom prst="roundRect">
            <a:avLst>
              <a:gd name="adj" fmla="val 1455"/>
            </a:avLst>
          </a:prstGeom>
          <a:solidFill>
            <a:srgbClr val="111827"/>
          </a:solidFill>
          <a:ln w="9525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508760"/>
            <a:ext cx="69494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8FB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Program: repeated_expr_009.src ===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Iteration 1 ---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[ANALYZE] Found 7 opportunities: CSE (priority=70), ...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[PROPOSE] CSE at instr 2: t1 = in_b + in_a → t1 = t0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[VERIFY]  </a:t>
            </a:r>
            <a:r>
              <a:rPr lang="en-US" sz="1400" b="1" dirty="0">
                <a:solidFill>
                  <a:srgbClr val="7FD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(differential 25/25, symbolic: equivalent)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[COST]    Before 19.0, After 18.5 (-2.6%)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7FD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[ACCEPT]  Change accepted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Iteration 5 ---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[PROPOSE] COPY_PROP: t2 = t0 + t0; s = t2 → s = t0 + t0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[VERIFY]  </a:t>
            </a:r>
            <a:r>
              <a:rPr lang="en-US" sz="1400" b="1" dirty="0">
                <a:solidFill>
                  <a:srgbClr val="7FD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(25/25, symbolic: equivalent)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[COST]    Before 10.5, After 7.5 (-28.6%)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7FD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[ACCEPT]  Change accepted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Iteration 6 ---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[ANALYZE] No more opportunities found.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8FB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RESULT === 19.0 → 7.5 (60.5% reduction)   Output match: </a:t>
            </a:r>
            <a:r>
              <a:rPr lang="en-US" sz="1400" b="1" dirty="0">
                <a:solidFill>
                  <a:srgbClr val="7FD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001000" y="1554480"/>
            <a:ext cx="0" cy="448056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75320" y="1508760"/>
            <a:ext cx="320040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 TAC (7)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t0 = in_b + in_a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t0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 = in_b + in_a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t1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 = a + h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t2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s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7FD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Optimized TAC (3)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t0 = in_b + in_a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t0 + t0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Project Status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206240" cy="4983480"/>
          </a:xfrm>
          <a:prstGeom prst="roundRect">
            <a:avLst>
              <a:gd name="adj" fmla="val 1739"/>
            </a:avLst>
          </a:prstGeom>
          <a:solidFill>
            <a:schemeClr val="accent2">
              <a:alpha val="9000"/>
            </a:schemeClr>
          </a:solidFill>
          <a:ln w="9525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813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595628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5270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Work completed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48840"/>
            <a:ext cx="3840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Frontend: Lexer → Parser → AST → TAC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5 agent components as separate classes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Orchestrator loop + full decision logging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Dual verification (differential + symbolic)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Rule-based optimizer, 6 optimization types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Google Gemini integration (free tier)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500-program dataset, 7 categories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190 tests, all passing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7 charts + comparison metrics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Full runs: rules 82.5%, rules + Gemini 91.5%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29200" y="1280160"/>
            <a:ext cx="3169768" cy="4983480"/>
          </a:xfrm>
          <a:prstGeom prst="roundRect">
            <a:avLst>
              <a:gd name="adj" fmla="val 2308"/>
            </a:avLst>
          </a:prstGeom>
          <a:solidFill>
            <a:schemeClr val="accent4">
              <a:alpha val="10000"/>
            </a:schemeClr>
          </a:solidFill>
          <a:ln w="9525">
            <a:solidFill>
              <a:schemeClr val="accent4">
                <a:alpha val="0"/>
              </a:scheme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57800" y="148132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100" y="1595628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852160" y="1527048"/>
            <a:ext cx="2209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Currently working on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5257800" y="2148840"/>
            <a:ext cx="2758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Prompt tuning for Gemini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257800" y="2514600"/>
            <a:ext cx="2758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Few-shot examples and stricter output format to cut the 7.65% invalid rate (26 of 340)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257800" y="3493008"/>
            <a:ext cx="2758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Constant-loop rule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5257800" y="3858768"/>
            <a:ext cx="2758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A rule-based pass that collapses constant loops without needing the LLM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5257800" y="4837176"/>
            <a:ext cx="2758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Project report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5257800" y="5202936"/>
            <a:ext cx="2758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Writing up the design, experiments and results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8473288" y="1280160"/>
            <a:ext cx="3169768" cy="49834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701888" y="14813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6188" y="1595628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296248" y="1527048"/>
            <a:ext cx="2209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Next steps (planned)</a:t>
            </a:r>
            <a:endParaRPr lang="en-US" sz="1900" dirty="0"/>
          </a:p>
        </p:txBody>
      </p:sp>
      <p:sp>
        <p:nvSpPr>
          <p:cNvPr id="22" name="Text 17"/>
          <p:cNvSpPr txBox="1"/>
          <p:nvPr/>
        </p:nvSpPr>
        <p:spPr>
          <a:xfrm>
            <a:off x="8701888" y="2148840"/>
            <a:ext cx="2758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Offline mode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8701888" y="2514600"/>
            <a:ext cx="2758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A local model via Ollama: no internet or API key needed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8701888" y="3493008"/>
            <a:ext cx="2758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Deeper analysis</a:t>
            </a:r>
            <a:endParaRPr lang="en-US" sz="1700" dirty="0"/>
          </a:p>
        </p:txBody>
      </p:sp>
      <p:sp>
        <p:nvSpPr>
          <p:cNvPr id="25" name="Text 20"/>
          <p:cNvSpPr txBox="1"/>
          <p:nvPr/>
        </p:nvSpPr>
        <p:spPr>
          <a:xfrm>
            <a:off x="8701888" y="3858768"/>
            <a:ext cx="2758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Significance tests on the LLM gain and a taxonomy of failure cases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8701888" y="4837176"/>
            <a:ext cx="2758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Larger programs</a:t>
            </a:r>
            <a:endParaRPr lang="en-US" sz="1700" dirty="0"/>
          </a:p>
        </p:txBody>
      </p:sp>
      <p:sp>
        <p:nvSpPr>
          <p:cNvPr id="27" name="Text 22"/>
          <p:cNvSpPr txBox="1"/>
          <p:nvPr/>
        </p:nvSpPr>
        <p:spPr>
          <a:xfrm>
            <a:off x="8701888" y="5202936"/>
            <a:ext cx="2758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Extend the language and test on bigger, real-world-style programs</a:t>
            </a:r>
            <a:endParaRPr lang="en-US" sz="15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47872" cy="1783080"/>
          </a:xfrm>
          <a:prstGeom prst="roundRect">
            <a:avLst>
              <a:gd name="adj" fmla="val 4103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3090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6"/>
                </a:solidFill>
              </a:rPr>
              <a:t>82.5%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average cost reduction with rules alone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1912" y="1280160"/>
            <a:ext cx="3547872" cy="1783080"/>
          </a:xfrm>
          <a:prstGeom prst="roundRect">
            <a:avLst>
              <a:gd name="adj" fmla="val 4103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50512" y="1417320"/>
            <a:ext cx="3090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6"/>
                </a:solidFill>
              </a:rPr>
              <a:t>91.5%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550512" y="2148840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with Gemini proposals, across all 500 programs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95183" y="1280160"/>
            <a:ext cx="3547872" cy="1783080"/>
          </a:xfrm>
          <a:prstGeom prst="roundRect">
            <a:avLst>
              <a:gd name="adj" fmla="val 4103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3783" y="1417320"/>
            <a:ext cx="3090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7FD27F"/>
                </a:solidFill>
              </a:rPr>
              <a:t>0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323783" y="2148840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incorrect changes accepted in 10,978 proposals (re-checked: 3,776 runs)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3547872" cy="1783080"/>
          </a:xfrm>
          <a:prstGeom prst="roundRect">
            <a:avLst>
              <a:gd name="adj" fmla="val 4103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429000"/>
            <a:ext cx="3090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6"/>
                </a:solidFill>
              </a:rPr>
              <a:t>+28 pts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160520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on loops and +10 on conditionals thanks to the LLM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21912" y="3291840"/>
            <a:ext cx="3547872" cy="1783080"/>
          </a:xfrm>
          <a:prstGeom prst="roundRect">
            <a:avLst>
              <a:gd name="adj" fmla="val 4103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50512" y="3429000"/>
            <a:ext cx="3090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6"/>
                </a:solidFill>
              </a:rPr>
              <a:t>26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4550512" y="4160520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wrong Gemini suggestions (7.65%) caught by the verifier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5183" y="3291840"/>
            <a:ext cx="3547872" cy="1783080"/>
          </a:xfrm>
          <a:prstGeom prst="roundRect">
            <a:avLst>
              <a:gd name="adj" fmla="val 4103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3783" y="3429000"/>
            <a:ext cx="3090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6"/>
                </a:solidFill>
              </a:rPr>
              <a:t>Modular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8323783" y="4160520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new optimizations, verifiers or LLM providers plug in as classes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3949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6"/>
                </a:solidFill>
              </a:rPr>
              <a:t>Key insight: </a:t>
            </a:r>
            <a:r>
              <a:rPr lang="en-US" sz="1900" dirty="0">
                <a:solidFill>
                  <a:schemeClr val="bg1"/>
                </a:solidFill>
              </a:rPr>
              <a:t>LLMs propose useful, creative transformations, but they must be verified before being trusted.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3949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[1]  Aho, A.V., Lam, M.S., Sethi, R. &amp; Ullman, J.D. (2006). Compilers: Principles, Techniques, and Tools (2nd ed.). Pearson.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[2]  Massalin, H. (1987). Superoptimizer: A Look at the Smallest Program. ASPLOS.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[3]  Schkufza, E., Sharma, R. &amp; Aiken, A. (2013). Stochastic Superoptimization. ASPLOS.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[4]  Phothilimthana, P.M. et al. (2016). Scaling up Superoptimization. ASPLOS.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[5]  Pnueli, A., Siegel, M. &amp; Singerman, E. (1998). Translation Validation. TACAS.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[6]  Necula, G.C. (2000). Translation Validation for an Optimizing Compiler. PLDI.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245352" y="1325880"/>
            <a:ext cx="53949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[7]  Chen, M. et al. (2021). Evaluating Large Language Models Trained on Code. arXiv:2107.03374.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[8]  Rozière, B. et al. (2023). Code Llama: Open Foundation Models for Code. arXiv:2308.12950.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[9]  Cummins, C. et al. (2022). CompilerGym: Robust, Performant Compiler Optimization Environments for AI Research. CGO.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[10]  Cummins, C. et al. (2024). Meta Large Language Model Compiler: Foundation Models of Compiler Optimization. arXiv:2407.02524.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[11]  Wu, Q. et al. (2023). AutoGen: Enabling Next-Gen LLM Applications via Multi-Agent Conversation. arXiv:2308.08155.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[12]  Gemini Team, Google (2023). Gemini: A Family of Highly Capable Multimodal Models. arXiv:2312.11805.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mpiler Optimization">
  <a:themeElements>
    <a:clrScheme name="Compiler Optimization">
      <a:dk1>
        <a:srgbClr val="1B2A41"/>
      </a:dk1>
      <a:lt1>
        <a:srgbClr val="FFFFFF"/>
      </a:lt1>
      <a:dk2>
        <a:srgbClr val="4A5568"/>
      </a:dk2>
      <a:lt2>
        <a:srgbClr val="EEF3FA"/>
      </a:lt2>
      <a:accent1>
        <a:srgbClr val="2A78D6"/>
      </a:accent1>
      <a:accent2>
        <a:srgbClr val="0B8A0B"/>
      </a:accent2>
      <a:accent3>
        <a:srgbClr val="C23434"/>
      </a:accent3>
      <a:accent4>
        <a:srgbClr val="C98500"/>
      </a:accent4>
      <a:accent5>
        <a:srgbClr val="6B7A90"/>
      </a:accent5>
      <a:accent6>
        <a:srgbClr val="BFD6F6"/>
      </a:accent6>
      <a:hlink>
        <a:srgbClr val="2A78D6"/>
      </a:hlink>
      <a:folHlink>
        <a:srgbClr val="4A3AA7"/>
      </a:folHlink>
    </a:clrScheme>
    <a:fontScheme name="Compiler Optimizati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3296</Words>
  <Application>Microsoft Office PowerPoint</Application>
  <PresentationFormat>Widescreen</PresentationFormat>
  <Paragraphs>527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Consolas</vt:lpstr>
      <vt:lpstr>Compiler Optimization</vt:lpstr>
      <vt:lpstr>PowerPoint Presentation</vt:lpstr>
      <vt:lpstr>Introduction</vt:lpstr>
      <vt:lpstr>Objectives</vt:lpstr>
      <vt:lpstr>Literature Review</vt:lpstr>
      <vt:lpstr>Research Gaps</vt:lpstr>
      <vt:lpstr>Proposed Methodology</vt:lpstr>
      <vt:lpstr>Dataset: 500 Programs, 7 Categories</vt:lpstr>
      <vt:lpstr>System Architecture</vt:lpstr>
      <vt:lpstr>Agent Workflow: The Optimization Loop</vt:lpstr>
      <vt:lpstr>Implementation: Tools &amp; Technologies</vt:lpstr>
      <vt:lpstr>Implementation: The Five Agents</vt:lpstr>
      <vt:lpstr>Verification Deep Dive</vt:lpstr>
      <vt:lpstr>Results: Key Metrics</vt:lpstr>
      <vt:lpstr>Results: Cost Reduction by Category</vt:lpstr>
      <vt:lpstr>Results: Proposal Flow</vt:lpstr>
      <vt:lpstr>Results: Outcomes by Optimization Type</vt:lpstr>
      <vt:lpstr>Results: Share of Accepted Optimizations</vt:lpstr>
      <vt:lpstr>Results: Cost Over Iterations</vt:lpstr>
      <vt:lpstr>Results: Agent Steps vs. Improvement</vt:lpstr>
      <vt:lpstr>Results: Where Each Optimization Was Applied</vt:lpstr>
      <vt:lpstr>Results: Rules Only vs. Rules + Gemini</vt:lpstr>
      <vt:lpstr>Example: Agent Decision Log</vt:lpstr>
      <vt:lpstr>Project Status</vt:lpstr>
      <vt:lpstr>Conclusion</vt:lpstr>
      <vt:lpstr>References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LLM/Agent-Guided Compiler Code Optimization</dc:title>
  <dc:subject>Compiler Design Project</dc:subject>
  <dc:creator>PptxGenJS</dc:creator>
  <cp:lastModifiedBy>Microsoft account</cp:lastModifiedBy>
  <cp:revision>4</cp:revision>
  <dcterms:created xsi:type="dcterms:W3CDTF">2026-10-06T06:12:19Z</dcterms:created>
  <dcterms:modified xsi:type="dcterms:W3CDTF">2026-10-06T07:24:14Z</dcterms:modified>
</cp:coreProperties>
</file>