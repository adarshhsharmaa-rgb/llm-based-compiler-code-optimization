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2" r:id="rId33"/>
    <p:sldId id="259" r:id="rId5"/>
    <p:sldId id="260" r:id="rId6"/>
    <p:sldId id="261" r:id="rId7"/>
    <p:sldId id="262" r:id="rId8"/>
    <p:sldId id="283" r:id="rId34"/>
    <p:sldId id="284" r:id="rId35"/>
    <p:sldId id="285" r:id="rId36"/>
    <p:sldId id="264" r:id="rId10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305" r:id="rId56"/>
    <p:sldId id="306" r:id="rId57"/>
    <p:sldId id="307" r:id="rId58"/>
    <p:sldId id="308" r:id="rId59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7BB240C-8067-9E2B-824A-E4A7E8DEF879}">
          <p14:sldIdLst>
            <p14:sldId id="256"/>
            <p14:sldId id="257"/>
            <p14:sldId id="258"/>
          </p14:sldIdLst>
        </p14:section>
        <p14:section name="Background" id="{F9562233-FE51-C6C4-56C2-8A373D787C4E}">
          <p14:sldIdLst>
            <p14:sldId id="259"/>
            <p14:sldId id="260"/>
          </p14:sldIdLst>
        </p14:section>
        <p14:section name="Methodology" id="{EF1158AA-F2C7-B2F5-FEEC-092E87CCD064}">
          <p14:sldIdLst>
            <p14:sldId id="261"/>
            <p14:sldId id="262"/>
          </p14:sldIdLst>
        </p14:section>
        <p14:section name="Architecture &amp; Implementation" id="{30F24689-2566-C13B-35AE-40BE5E901817}">
          <p14:sldIdLst>
            <p14:sldId id="263"/>
            <p14:sldId id="264"/>
            <p14:sldId id="265"/>
            <p14:sldId id="266"/>
            <p14:sldId id="267"/>
          </p14:sldIdLst>
        </p14:section>
        <p14:section name="Results" id="{28D50B11-C353-BEAB-544F-28D48D7B1B30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Status &amp; Conclusion" id="{2449FF5C-1812-AB45-9F1C-A8BF21328349}">
          <p14:sldIdLst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Rules only</c:v>
                </c:pt>
              </c:strCache>
            </c:strRef>
          </c:tx>
          <c:spPr>
            <a:solidFill>
              <a:srgbClr val="6B7A90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96.0</c:v>
                </c:pt>
                <c:pt idx="1">
                  <c:v>98.1</c:v>
                </c:pt>
                <c:pt idx="2">
                  <c:v>80.7</c:v>
                </c:pt>
                <c:pt idx="3">
                  <c:v>97.4</c:v>
                </c:pt>
                <c:pt idx="4">
                  <c:v>65.0</c:v>
                </c:pt>
                <c:pt idx="5">
                  <c:v>73.9</c:v>
                </c:pt>
                <c:pt idx="6">
                  <c:v>77.9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+ Gemini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96.0</c:v>
                </c:pt>
                <c:pt idx="1">
                  <c:v>98.2</c:v>
                </c:pt>
                <c:pt idx="2">
                  <c:v>81.7</c:v>
                </c:pt>
                <c:pt idx="3">
                  <c:v>97.4</c:v>
                </c:pt>
                <c:pt idx="4">
                  <c:v>93.3</c:v>
                </c:pt>
                <c:pt idx="5">
                  <c:v>84.1</c:v>
                </c:pt>
                <c:pt idx="6">
                  <c:v>91.6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Rules + Groq</c:v>
                </c:pt>
              </c:strCache>
            </c:strRef>
          </c:tx>
          <c:spPr>
            <a:solidFill>
              <a:srgbClr val="C98500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96.0</c:v>
                </c:pt>
                <c:pt idx="1">
                  <c:v>98.3</c:v>
                </c:pt>
                <c:pt idx="2">
                  <c:v>80.9</c:v>
                </c:pt>
                <c:pt idx="3">
                  <c:v>97.4</c:v>
                </c:pt>
                <c:pt idx="4">
                  <c:v>93.4</c:v>
                </c:pt>
                <c:pt idx="5">
                  <c:v>83.5</c:v>
                </c:pt>
                <c:pt idx="6">
                  <c:v>89.3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Rules + Ollama</c:v>
                </c:pt>
              </c:strCache>
            </c:strRef>
          </c:tx>
          <c:spPr>
            <a:solidFill>
              <a:srgbClr val="0B8A0B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96.0</c:v>
                </c:pt>
                <c:pt idx="1">
                  <c:v>98.2</c:v>
                </c:pt>
                <c:pt idx="2">
                  <c:v>80.7</c:v>
                </c:pt>
                <c:pt idx="3">
                  <c:v>97.4</c:v>
                </c:pt>
                <c:pt idx="4">
                  <c:v>66.1</c:v>
                </c:pt>
                <c:pt idx="5">
                  <c:v>75.2</c:v>
                </c:pt>
                <c:pt idx="6">
                  <c:v>80.0</c:v>
                </c:pt>
              </c:numCache>
            </c:numRef>
          </c:val>
        </c:ser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.0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Rules only</c:v>
                </c:pt>
              </c:strCache>
            </c:strRef>
          </c:tx>
          <c:spPr>
            <a:solidFill>
              <a:srgbClr val="6B7A90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96.0</c:v>
                </c:pt>
                <c:pt idx="1">
                  <c:v>98.1</c:v>
                </c:pt>
                <c:pt idx="2">
                  <c:v>80.7</c:v>
                </c:pt>
                <c:pt idx="3">
                  <c:v>97.4</c:v>
                </c:pt>
                <c:pt idx="4">
                  <c:v>65.0</c:v>
                </c:pt>
                <c:pt idx="5">
                  <c:v>73.9</c:v>
                </c:pt>
                <c:pt idx="6">
                  <c:v>77.9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+ Groq</c:v>
                </c:pt>
              </c:strCache>
            </c:strRef>
          </c:tx>
          <c:spPr>
            <a:solidFill>
              <a:srgbClr val="C98500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96.0</c:v>
                </c:pt>
                <c:pt idx="1">
                  <c:v>98.3</c:v>
                </c:pt>
                <c:pt idx="2">
                  <c:v>80.9</c:v>
                </c:pt>
                <c:pt idx="3">
                  <c:v>97.4</c:v>
                </c:pt>
                <c:pt idx="4">
                  <c:v>93.4</c:v>
                </c:pt>
                <c:pt idx="5">
                  <c:v>83.5</c:v>
                </c:pt>
                <c:pt idx="6">
                  <c:v>89.3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.0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Rules only</c:v>
                </c:pt>
              </c:strCache>
            </c:strRef>
          </c:tx>
          <c:spPr>
            <a:solidFill>
              <a:srgbClr val="6B7A90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96.0</c:v>
                </c:pt>
                <c:pt idx="1">
                  <c:v>98.1</c:v>
                </c:pt>
                <c:pt idx="2">
                  <c:v>80.7</c:v>
                </c:pt>
                <c:pt idx="3">
                  <c:v>97.4</c:v>
                </c:pt>
                <c:pt idx="4">
                  <c:v>65.0</c:v>
                </c:pt>
                <c:pt idx="5">
                  <c:v>73.9</c:v>
                </c:pt>
                <c:pt idx="6">
                  <c:v>77.9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+ Ollama</c:v>
                </c:pt>
              </c:strCache>
            </c:strRef>
          </c:tx>
          <c:spPr>
            <a:solidFill>
              <a:srgbClr val="0B8A0B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96.0</c:v>
                </c:pt>
                <c:pt idx="1">
                  <c:v>98.2</c:v>
                </c:pt>
                <c:pt idx="2">
                  <c:v>80.7</c:v>
                </c:pt>
                <c:pt idx="3">
                  <c:v>97.4</c:v>
                </c:pt>
                <c:pt idx="4">
                  <c:v>66.1</c:v>
                </c:pt>
                <c:pt idx="5">
                  <c:v>75.2</c:v>
                </c:pt>
                <c:pt idx="6">
                  <c:v>80.0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.0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Generated dataset, rules</c:v>
                </c:pt>
              </c:strCache>
            </c:strRef>
          </c:tx>
          <c:spPr>
            <a:solidFill>
              <a:srgbClr val="6B7A90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96.03</c:v>
                </c:pt>
                <c:pt idx="1">
                  <c:v>98.1</c:v>
                </c:pt>
                <c:pt idx="2">
                  <c:v>80.71</c:v>
                </c:pt>
                <c:pt idx="3">
                  <c:v>97.44</c:v>
                </c:pt>
                <c:pt idx="4">
                  <c:v>65.05</c:v>
                </c:pt>
                <c:pt idx="5">
                  <c:v>73.91</c:v>
                </c:pt>
                <c:pt idx="6">
                  <c:v>77.91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programs, rules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63.26</c:v>
                </c:pt>
                <c:pt idx="1">
                  <c:v>51.62</c:v>
                </c:pt>
                <c:pt idx="2">
                  <c:v>47.08</c:v>
                </c:pt>
                <c:pt idx="3">
                  <c:v>56.12</c:v>
                </c:pt>
                <c:pt idx="4">
                  <c:v>49.4</c:v>
                </c:pt>
                <c:pt idx="5">
                  <c:v>53.12</c:v>
                </c:pt>
                <c:pt idx="6">
                  <c:v>48.75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Real programs, rules + Gemini</c:v>
                </c:pt>
              </c:strCache>
            </c:strRef>
          </c:tx>
          <c:spPr>
            <a:solidFill>
              <a:srgbClr val="C23434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63.29</c:v>
                </c:pt>
                <c:pt idx="1">
                  <c:v>52.51</c:v>
                </c:pt>
                <c:pt idx="2">
                  <c:v>51.05</c:v>
                </c:pt>
                <c:pt idx="3">
                  <c:v>57.95</c:v>
                </c:pt>
                <c:pt idx="4">
                  <c:v>49.91</c:v>
                </c:pt>
                <c:pt idx="5">
                  <c:v>54.28</c:v>
                </c:pt>
                <c:pt idx="6">
                  <c:v>49.78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Real programs, rules + Groq</c:v>
                </c:pt>
              </c:strCache>
            </c:strRef>
          </c:tx>
          <c:spPr>
            <a:solidFill>
              <a:srgbClr val="C98500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63.39</c:v>
                </c:pt>
                <c:pt idx="1">
                  <c:v>53.41</c:v>
                </c:pt>
                <c:pt idx="2">
                  <c:v>48.95</c:v>
                </c:pt>
                <c:pt idx="3">
                  <c:v>57.0</c:v>
                </c:pt>
                <c:pt idx="4">
                  <c:v>50.07</c:v>
                </c:pt>
                <c:pt idx="5">
                  <c:v>53.67</c:v>
                </c:pt>
                <c:pt idx="6">
                  <c:v>49.24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Real programs, rules + Ollama</c:v>
                </c:pt>
              </c:strCache>
            </c:strRef>
          </c:tx>
          <c:spPr>
            <a:solidFill>
              <a:srgbClr val="0B8A0B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63.26</c:v>
                </c:pt>
                <c:pt idx="1">
                  <c:v>51.62</c:v>
                </c:pt>
                <c:pt idx="2">
                  <c:v>47.52</c:v>
                </c:pt>
                <c:pt idx="3">
                  <c:v>56.33</c:v>
                </c:pt>
                <c:pt idx="4">
                  <c:v>49.43</c:v>
                </c:pt>
                <c:pt idx="5">
                  <c:v>53.12</c:v>
                </c:pt>
                <c:pt idx="6">
                  <c:v>48.82</c:v>
                </c:pt>
              </c:numCache>
            </c:numRef>
          </c:val>
        </c:ser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.0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229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One-line pitch: an agent that optimizes compiler intermediate code on its own, and never accepts a change it cannot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work combines classical compiler techniques with an LLM. Unlike LLM Compiler, which picks pass orderings, our agent proposes actual code transformations and checks each one before accepting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is addressed by one part of the design: the agent loop (gap 1), cheap rule-based search (gap 2), the verifier (gaps 3 and 5), and code-level proposals (gap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seven steps. Stress that the verifier sits between every proposal and the program: nothing changes unless it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generated, not hand-written, so the experiment can be reproduced exactly from the fixed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flowchart top to bottom. Point out the two rejection paths (invalid, and no cost gain) and that both loop back to analysis without changing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flow left to right: sources, verification, then the cost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Rule-based proposals never failed verification; every invalid proposal came from the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 of 10,828 accepted changes, about 60% are copy propagation.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line ends when the agent finds nothing more to improve.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black line in each panel is a linear trend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Darker cells mean the optimization was applied more often in that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adds most where the six rules are weakest: loops and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Automated LLM/Agent-Guided Compiler Code Optimization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4.png"/><Relationship Id="rId6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6"/>
                </a:solidFill>
              </a:rPr>
              <a:t>COMPILER DESIGN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Automated LLM/Agent-Guided Compiler Code Optimization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A multi-agent system for autonomous TAC analysis, transformation and verification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257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chemeClr val="bg1"/>
                </a:solidFill>
              </a:rPr>
              <a:t>Team: </a:t>
            </a:r>
            <a:r>
              <a:rPr lang="en-US" sz="1600" dirty="0" smtClean="0">
                <a:solidFill>
                  <a:schemeClr val="bg1"/>
                </a:solidFill>
              </a:rPr>
              <a:t>ADARSH SHARMA BADHAI[24BCE2972]</a:t>
            </a:r>
            <a:r>
              <a:rPr lang="en-US" sz="1600" dirty="0" smtClean="0">
                <a:solidFill>
                  <a:schemeClr val="bg1"/>
                </a:solidFill>
              </a:rPr>
              <a:t>  ·  NIRUPAM RAUT[24BAI0345]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6080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October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26680" y="1417320"/>
            <a:ext cx="3913632" cy="4206240"/>
          </a:xfrm>
          <a:prstGeom prst="roundRect">
            <a:avLst>
              <a:gd name="adj" fmla="val 1869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00100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Before (naive TAC)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201168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3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5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= t0 + t1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t2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x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370332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00100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After (agent-optimized)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4572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8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Literature Review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4956048"/>
        </p:xfrm>
        <a:graphic>
          <a:graphicData uri="http://schemas.openxmlformats.org/drawingml/2006/table">
            <a:tbl>
              <a:tblPr/>
              <a:tblGrid>
                <a:gridCol w="2514600"/>
                <a:gridCol w="4288536"/>
                <a:gridCol w="4288536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our project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compiler optimization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Aho, Lam, Sethi &amp; Ullman: Compilers: Principles, Techniques, and Tools (2006)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for constant folding, DCE, CSE, copy propagation and dataflow analysis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Superoptimization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Massalin (1987); Schkufza, Sharma &amp; Aiken: STOKE (2013); Phothilimthana et al. (2016)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for optimal instruction sequences; uses testing to check candidates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validation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Pnueli, Siegel &amp; Singerman (1998); Necula (2000)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that compiler output matches the source: the idea behind our verifier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for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al.: Codex (2021); Rozière et al.: Code Llama (2023)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that generate and transform code; we use Gemini as a proposer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LLM-assisted compilation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Cummins et al.: CompilerGym (2022); Cummins et al.: LLM Compiler (2024)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and LLM agents choosing compiler flags and pass orderings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systems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 et al.: AutoGen (2023)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orchestration; inspired our Orchestrator + specialist design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 Gaps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48132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1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441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Fixed pass order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73352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Classical compilers don't decide which optimization to try or check whether it helped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9424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2450592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3152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2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134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Superoptimizers are slow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42616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STOKE-style search is thorough but limited to small code blocks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31520" y="3419856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3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28269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correctness guarantee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611880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LLM code tools (Codex, Code Llama) can introduce bugs silently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87952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4</a:t>
            </a:r>
            <a:endParaRPr lang="en-US" sz="143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2519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level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581144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LLM-for-compiler work targets pass ordering and flags, not code transformations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157216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31520" y="5358384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31520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5</a:t>
            </a:r>
            <a:endParaRPr lang="en-US" sz="143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22122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verification gate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550408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Few systems check every LLM suggestion before accepting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43800" y="1280160"/>
            <a:ext cx="4096512" cy="4791456"/>
          </a:xfrm>
          <a:prstGeom prst="roundRect">
            <a:avLst>
              <a:gd name="adj" fmla="val 1786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81812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140" y="1714500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7818120" y="2331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Our contribution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7818120" y="28346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An agent that decides what to optimize, proposes transformations (rule-based + LLM), and accepts a change only after it is verified and shown to lower cost.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7818120" y="4846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incorrect changes accepted in 10,978 proposals</a:t>
            </a:r>
            <a:endParaRPr lang="en-US" sz="1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Proposed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706858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75338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7533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Parse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Source → AST → Three-Address 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775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560255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560255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2</a:t>
            </a:r>
            <a:endParaRPr lang="en-US" sz="2080" dirty="0"/>
          </a:p>
        </p:txBody>
      </p:sp>
      <p:sp>
        <p:nvSpPr>
          <p:cNvPr id="11" name="Text 9"/>
          <p:cNvSpPr txBox="1"/>
          <p:nvPr/>
        </p:nvSpPr>
        <p:spPr>
          <a:xfrm>
            <a:off x="2179276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Analyze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06708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Find optimization opportunities, ranked by priority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76691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145171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145171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3</a:t>
            </a:r>
            <a:endParaRPr lang="en-US" sz="2080" dirty="0"/>
          </a:p>
        </p:txBody>
      </p:sp>
      <p:sp>
        <p:nvSpPr>
          <p:cNvPr id="16" name="Text 14"/>
          <p:cNvSpPr txBox="1"/>
          <p:nvPr/>
        </p:nvSpPr>
        <p:spPr>
          <a:xfrm>
            <a:off x="3764193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Propose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91625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Apply the top rule; or ask the LLM, as the router decides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61608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730088" y="15544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73008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4</a:t>
            </a:r>
            <a:endParaRPr lang="en-US" sz="2080" dirty="0"/>
          </a:p>
        </p:txBody>
      </p:sp>
      <p:sp>
        <p:nvSpPr>
          <p:cNvPr id="21" name="Text 19"/>
          <p:cNvSpPr txBox="1"/>
          <p:nvPr/>
        </p:nvSpPr>
        <p:spPr>
          <a:xfrm>
            <a:off x="5349109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376541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Differential testing + symbolic check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46524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315004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315004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5</a:t>
            </a:r>
            <a:endParaRPr lang="en-US" sz="2080" dirty="0"/>
          </a:p>
        </p:txBody>
      </p:sp>
      <p:sp>
        <p:nvSpPr>
          <p:cNvPr id="26" name="Text 24"/>
          <p:cNvSpPr txBox="1"/>
          <p:nvPr/>
        </p:nvSpPr>
        <p:spPr>
          <a:xfrm>
            <a:off x="6934026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61458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Accept only if the weighted cost drops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31441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899921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8899921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6</a:t>
            </a:r>
            <a:endParaRPr lang="en-US" sz="2080" dirty="0"/>
          </a:p>
        </p:txBody>
      </p:sp>
      <p:sp>
        <p:nvSpPr>
          <p:cNvPr id="31" name="Text 29"/>
          <p:cNvSpPr txBox="1"/>
          <p:nvPr/>
        </p:nvSpPr>
        <p:spPr>
          <a:xfrm>
            <a:off x="8518942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Repeat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546374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Until nothing is left (max 50 iterations)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484837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10484837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7</a:t>
            </a:r>
            <a:endParaRPr lang="en-US" sz="2080" dirty="0"/>
          </a:p>
        </p:txBody>
      </p:sp>
      <p:sp>
        <p:nvSpPr>
          <p:cNvPr id="35" name="Text 33"/>
          <p:cNvSpPr txBox="1"/>
          <p:nvPr/>
        </p:nvSpPr>
        <p:spPr>
          <a:xfrm>
            <a:off x="10103859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Final check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131291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Re-verify the result against the original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11094415" cy="1463040"/>
          </a:xfrm>
          <a:prstGeom prst="roundRect">
            <a:avLst>
              <a:gd name="adj" fmla="val 5000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006340"/>
            <a:ext cx="320040" cy="32004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691640" y="46451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Key design principle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69164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The LLM is only a proposer. Its suggestions go through exactly the same verification and cost gates as the rule-based ones, so a wrong suggestion is caught and rejected.</a:t>
            </a:r>
            <a:endParaRPr lang="en-US" sz="17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Dataset: 500 Programs, 7 Categories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680960" cy="4641088"/>
        </p:xfrm>
        <a:graphic>
          <a:graphicData uri="http://schemas.openxmlformats.org/drawingml/2006/table">
            <a:tbl>
              <a:tblPr/>
              <a:tblGrid>
                <a:gridCol w="1965960"/>
                <a:gridCol w="777240"/>
                <a:gridCol w="2468880"/>
                <a:gridCol w="2468880"/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optimization targets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k = 1 + 14;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folding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expressions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((a+b)*(c-d))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folding, copy propagation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expressions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a*b computed twice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subexpression elimination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v = e*5; never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code elimination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/ while with invariant 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Folding inside loops, DCE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else with x*1, x+0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Algebraic simplification, folding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of the above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the above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03920" y="1280160"/>
            <a:ext cx="313639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868680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157734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281160" y="1435608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Generated by dataset/generator.py with a fixed random seed, so it is reproducible</a:t>
            </a:r>
            <a:endParaRPr lang="en-US" sz="1500" dirty="0"/>
          </a:p>
        </p:txBody>
      </p:sp>
      <p:sp>
        <p:nvSpPr>
          <p:cNvPr id="3" name="Shape 4"/>
          <p:cNvSpPr/>
          <p:nvPr/>
        </p:nvSpPr>
        <p:spPr>
          <a:xfrm>
            <a:off x="8503920" y="2852928"/>
            <a:ext cx="313639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686800" y="30358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3150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281160" y="3008376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Some programs read input variables, tested with random and boundary values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503920" y="4425696"/>
            <a:ext cx="313639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8686800" y="46085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472287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281160" y="4581144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Covers straight-line, branching, looping and nested code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Agent Workflow: The Optimization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27432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Analyze TAC: find opportunities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002536"/>
            <a:ext cx="2743200" cy="73152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Any untried opportunity?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935224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Pick top priority and propose (rules or an LLM)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685032"/>
            <a:ext cx="2743200" cy="73152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Verified correct?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599432"/>
            <a:ext cx="2743200" cy="73152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Cost lower?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5513832"/>
            <a:ext cx="274320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ACCEPT: update program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48840" y="1801368"/>
            <a:ext cx="0" cy="20116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148840" y="2734056"/>
            <a:ext cx="0" cy="20116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258568" y="27340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Yes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48840" y="3483864"/>
            <a:ext cx="0" cy="20116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148840" y="4416552"/>
            <a:ext cx="0" cy="1828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2258568" y="44165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5330952"/>
            <a:ext cx="0" cy="1828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258568" y="5330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Yes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77640" y="2093976"/>
            <a:ext cx="14630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Final check vs. original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15000" y="2139696"/>
            <a:ext cx="7315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77640" y="3799332"/>
            <a:ext cx="18288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REJECT: invalid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77640" y="4713732"/>
            <a:ext cx="18288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REJECT: no cost gain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20440" y="2368296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40680" y="2368296"/>
            <a:ext cx="2743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520440" y="4050792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520440" y="4965192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3566160" y="21031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7856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Fail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47000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06440" y="4050792"/>
            <a:ext cx="8686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806440" y="4965192"/>
            <a:ext cx="8686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V="1">
            <a:off x="6675120" y="1463040"/>
            <a:ext cx="0" cy="350215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3520440" y="1463040"/>
            <a:ext cx="31546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3977640" y="5303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rejected: try the next one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 flipH="1">
            <a:off x="566928" y="5742432"/>
            <a:ext cx="21031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566928" y="1627632"/>
            <a:ext cx="0" cy="41148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66928" y="1627632"/>
            <a:ext cx="21031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3611880" y="5650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accepted: analyze again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08660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330" y="1497330"/>
            <a:ext cx="251460" cy="251460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7772400" y="1280160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Max 50 iterations per program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7086600" y="232257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330" y="2448306"/>
            <a:ext cx="251460" cy="251460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7772400" y="2231136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On accept: clear the "already tried" list, since new opportunities may appear</a:t>
            </a:r>
            <a:endParaRPr lang="en-US" sz="1700" dirty="0"/>
          </a:p>
        </p:txBody>
      </p:sp>
      <p:sp>
        <p:nvSpPr>
          <p:cNvPr id="43" name="Shape 39"/>
          <p:cNvSpPr/>
          <p:nvPr/>
        </p:nvSpPr>
        <p:spPr>
          <a:xfrm>
            <a:off x="7086600" y="32735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330" y="3399282"/>
            <a:ext cx="251460" cy="251460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7772400" y="3182112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On reject: remember it and try the next opportunity</a:t>
            </a:r>
            <a:endParaRPr lang="en-US" sz="1700" dirty="0"/>
          </a:p>
        </p:txBody>
      </p:sp>
      <p:sp>
        <p:nvSpPr>
          <p:cNvPr id="46" name="Shape 41"/>
          <p:cNvSpPr/>
          <p:nvPr/>
        </p:nvSpPr>
        <p:spPr>
          <a:xfrm>
            <a:off x="7086600" y="42245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330" y="4350258"/>
            <a:ext cx="251460" cy="251460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7772400" y="4133088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In hybrid mode the LLM is asked when a rule is rejected or the rules run out</a:t>
            </a:r>
            <a:endParaRPr lang="en-US" sz="1700" dirty="0"/>
          </a:p>
        </p:txBody>
      </p:sp>
      <p:sp>
        <p:nvSpPr>
          <p:cNvPr id="49" name="Shape 43"/>
          <p:cNvSpPr/>
          <p:nvPr/>
        </p:nvSpPr>
        <p:spPr>
          <a:xfrm>
            <a:off x="7086600" y="517550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2330" y="5301234"/>
            <a:ext cx="251460" cy="251460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7772400" y="5084064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At the end: re-verify the optimized TAC against the original</a:t>
            </a:r>
            <a:endParaRPr lang="en-US" sz="17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Proposal Flow (Gemini Run)</a:t>
            </a:r>
            <a:endParaRPr lang="en-US" sz="3200" dirty="0"/>
          </a:p>
        </p:txBody>
      </p:sp>
      <p:pic>
        <p:nvPicPr>
          <p:cNvPr id="3" name="Image 0" descr="D:\nirupam\Desktop\compiler_project\presentation\plots\1_sankey_proposal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3374"/>
            <a:ext cx="8092440" cy="43198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10,978</a:t>
            </a:r>
            <a:r>
              <a:rPr lang="en-US" sz="1600" dirty="0">
                <a:solidFill>
                  <a:schemeClr val="tx1"/>
                </a:solidFill>
              </a:rPr>
              <a:t> proposals in total (10,638 rule-based, 340 from Gemini)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10,952</a:t>
            </a:r>
            <a:r>
              <a:rPr lang="en-US" sz="1600" dirty="0">
                <a:solidFill>
                  <a:schemeClr val="tx1"/>
                </a:solidFill>
              </a:rPr>
              <a:t> passed verification; </a:t>
            </a:r>
            <a:r>
              <a:rPr lang="en-US" sz="1600" b="1" dirty="0">
                <a:solidFill>
                  <a:schemeClr val="tx1"/>
                </a:solidFill>
              </a:rPr>
              <a:t>26</a:t>
            </a:r>
            <a:r>
              <a:rPr lang="en-US" sz="1600" dirty="0">
                <a:solidFill>
                  <a:schemeClr val="tx1"/>
                </a:solidFill>
              </a:rPr>
              <a:t> were invalid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10,828</a:t>
            </a:r>
            <a:r>
              <a:rPr lang="en-US" sz="1600" dirty="0">
                <a:solidFill>
                  <a:schemeClr val="tx1"/>
                </a:solidFill>
              </a:rPr>
              <a:t> accepted; 124 rejected for no cost gain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26 invalid proposals came from the LLM and were blocked by the verifier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Outcomes by Type (Gemini Run)</a:t>
            </a:r>
            <a:endParaRPr lang="en-US" sz="3200" dirty="0"/>
          </a:p>
        </p:txBody>
      </p:sp>
      <p:pic>
        <p:nvPicPr>
          <p:cNvPr id="3" name="Image 0" descr="D:\nirupam\Desktop\compiler_project\presentation\plots\2_bar_outcomes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3375"/>
            <a:ext cx="8092440" cy="463989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Copy propagation</a:t>
            </a:r>
            <a:r>
              <a:rPr lang="en-US" sz="1600" dirty="0">
                <a:solidFill>
                  <a:schemeClr val="tx1"/>
                </a:solidFill>
              </a:rPr>
              <a:t> dominates: 6,465 accepted, because naive TAC creates many temporary copies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Strength reduction</a:t>
            </a:r>
            <a:r>
              <a:rPr lang="en-US" sz="1600" dirty="0">
                <a:solidFill>
                  <a:schemeClr val="tx1"/>
                </a:solidFill>
              </a:rPr>
              <a:t> has the most rule rejections (62): x*2 → x+x doesn't lower cost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LLM proposals:</a:t>
            </a:r>
            <a:r>
              <a:rPr lang="en-US" sz="1600" dirty="0">
                <a:solidFill>
                  <a:schemeClr val="tx1"/>
                </a:solidFill>
              </a:rPr>
              <a:t> 262 accepted, 52 no gain, 26 invalid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Accepted Optimizations (Gemini Run)</a:t>
            </a:r>
            <a:endParaRPr lang="en-US" sz="3200" dirty="0"/>
          </a:p>
        </p:txBody>
      </p:sp>
      <p:pic>
        <p:nvPicPr>
          <p:cNvPr id="3" name="Image 0" descr="D:\nirupam\Desktop\compiler_project\presentation\plots\4_pie_accepted_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8710"/>
            <a:ext cx="8092440" cy="478922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Copy Propagation 59.7%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Dead Code 17.5%, Constant Fold 16.7%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LLM 2.4%, Algebraic 1.6%, CSE 1.4%, Strength Reduction 0.8%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LLM steps are few, but each one is large: a single step can replace a whole loop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Cost Over Iterations (Gemini Run)</a:t>
            </a:r>
            <a:endParaRPr lang="en-US" sz="3200" dirty="0"/>
          </a:p>
        </p:txBody>
      </p:sp>
      <p:pic>
        <p:nvPicPr>
          <p:cNvPr id="3" name="Image 0" descr="D:\nirupam\Desktop\compiler_project\presentation\plots\3_line_cost_over_ite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4106"/>
            <a:ext cx="8092440" cy="48384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representative program from each main category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Cost falls steadily with each accepted optimization until no opportunities remain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sharp drop in loops_024 is a Gemini step: </a:t>
            </a:r>
            <a:r>
              <a:rPr lang="en-US" sz="1600" b="1" dirty="0">
                <a:solidFill>
                  <a:schemeClr val="tx1"/>
                </a:solidFill>
              </a:rPr>
              <a:t>"adds −1 twelve times" → total − 12</a:t>
            </a:r>
            <a:r>
              <a:rPr lang="en-US" sz="1600" dirty="0">
                <a:solidFill>
                  <a:schemeClr val="tx1"/>
                </a:solidFill>
              </a:rPr>
              <a:t>, cutting cost by 66.7% at once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Steps vs. Improvement (Gemini Run)</a:t>
            </a:r>
            <a:endParaRPr lang="en-US" sz="3200" dirty="0"/>
          </a:p>
        </p:txBody>
      </p:sp>
      <p:pic>
        <p:nvPicPr>
          <p:cNvPr id="3" name="Image 0" descr="D:\nirupam\Desktop\compiler_project\presentation\plots\5_scatter_steps_vs_improv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4454"/>
            <a:ext cx="8092440" cy="397773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panel per category; grey dots are all other programs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Overall trend: </a:t>
            </a:r>
            <a:r>
              <a:rPr lang="en-US" sz="1600" b="1" dirty="0">
                <a:solidFill>
                  <a:schemeClr val="tx1"/>
                </a:solidFill>
              </a:rPr>
              <a:t>+0.41 percentage points per step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Programs that take more steps tend to reach higher reductions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Where Optimizations Applied (Gemini Run)</a:t>
            </a:r>
            <a:endParaRPr lang="en-US" sz="3200" dirty="0"/>
          </a:p>
        </p:txBody>
      </p:sp>
      <p:pic>
        <p:nvPicPr>
          <p:cNvPr id="3" name="Image 0" descr="D:\nirupam\Desktop\compiler_project\presentation\plots\6_heatmap_category_vs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0793"/>
            <a:ext cx="8092440" cy="466505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Copy propagation is the most applied in every category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Nested programs have the most constant folds (</a:t>
            </a:r>
            <a:r>
              <a:rPr lang="en-US" sz="1600" b="1" dirty="0">
                <a:solidFill>
                  <a:schemeClr val="tx1"/>
                </a:solidFill>
              </a:rPr>
              <a:t>527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Mixed programs have the most dead-code removals (</a:t>
            </a:r>
            <a:r>
              <a:rPr lang="en-US" sz="1600" b="1" dirty="0">
                <a:solidFill>
                  <a:schemeClr val="tx1"/>
                </a:solidFill>
              </a:rPr>
              <a:t>463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Gemini helped mostly in loops (87), conditionals (62) and mixed (99)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Rules Only vs. Rules + Gemini</a:t>
            </a:r>
            <a:endParaRPr lang="en-US" sz="3200" dirty="0"/>
          </a:p>
        </p:txBody>
      </p:sp>
      <p:pic>
        <p:nvPicPr>
          <p:cNvPr id="3" name="Image 0" descr="D:\nirupam\Desktop\compiler_project\presentation\plots\7_comparison_rule_vs_l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7597366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Loops: </a:t>
            </a:r>
            <a:r>
              <a:rPr lang="en-US" sz="1600" dirty="0">
                <a:solidFill>
                  <a:schemeClr val="tx1"/>
                </a:solidFill>
              </a:rPr>
              <a:t>65.1% → 93.3%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Conditionals: </a:t>
            </a:r>
            <a:r>
              <a:rPr lang="en-US" sz="1600" dirty="0">
                <a:solidFill>
                  <a:schemeClr val="tx1"/>
                </a:solidFill>
              </a:rPr>
              <a:t>73.9% → 84.1%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Mixed: </a:t>
            </a:r>
            <a:r>
              <a:rPr lang="en-US" sz="1600" dirty="0">
                <a:solidFill>
                  <a:schemeClr val="tx1"/>
                </a:solidFill>
              </a:rPr>
              <a:t>77.9% → 91.6%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196 programs improved</a:t>
            </a:r>
            <a:r>
              <a:rPr lang="en-US" sz="1600" dirty="0">
                <a:solidFill>
                  <a:schemeClr val="tx1"/>
                </a:solidFill>
              </a:rPr>
              <a:t>, none got worse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94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[1]  Aho, A.V., Lam, M.S., Sethi, R. &amp; Ullman, J.D. (2006). Compilers: Principles, Techniques, and Tools (2nd ed.). Pearson.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[2]  Massalin, H. (1987). Superoptimizer: A Look at the Smallest Program. ASPLOS.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[3]  Schkufza, E., Sharma, R. &amp; Aiken, A. (2013). Stochastic Superoptimization. ASPLOS.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[4]  Phothilimthana, P.M. et al. (2016). Scaling up Superoptimization. ASPLOS.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[5]  Pnueli, A., Siegel, M. &amp; Singerman, E. (1998). Translation Validation. TACAS.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[6]  Necula, G.C. (2000). Translation Validation for an Optimizing Compiler. PLDI.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245352" y="1325880"/>
            <a:ext cx="5394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[7]  Chen, M. et al. (2021). Evaluating Large Language Models Trained on Code. arXiv:2107.03374.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[8]  Rozière, B. et al. (2023). Code Llama: Open Foundation Models for Code. arXiv:2308.12950.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[9]  Cummins, C. et al. (2022). CompilerGym: Robust, Performant Compiler Optimization Environments for AI Research. CGO.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[10]  Cummins, C. et al. (2024). Meta Large Language Model Compiler: Foundation Models of Compiler Optimization. arXiv:2407.02524.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[11]  Wu, Q. et al. (2023). AutoGen: Enabling Next-Gen LLM Applications via Multi-Agent Conversation. arXiv:2308.08155.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[12]  Gemini Team, Google (2023). Gemini: A Family of Highly Capable Multimodal Models. arXiv:2312.11805.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[13]  Ollama (2026). Ollama: run large language models locally. https://ollama.com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[14]  Groq (2026). GroqCloud API documentation. https://console.groq.com/docs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[15]  de Moura, L., Bjorner, N. (2008). Z3: An Efficient SMT Solver. TACAS 2008.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[16]  open-r1 (2025). codeforces-submissions (dataset, CC-BY-4.0). Hugging Face.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48640" y="1399032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1530706"/>
            <a:ext cx="285293" cy="28529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98448" y="1325880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Agent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1728216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Five components as separate classes with clear interfaces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737714"/>
            <a:ext cx="285293" cy="28529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98448" y="253288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Orchestrator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2935224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Analyze → Propose → Verify → Evaluate → Accept/Reject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3813048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944722"/>
            <a:ext cx="285293" cy="28529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98448" y="3739896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6 optimization types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14223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Folding, algebraic, dead code, CSE, strength reduction, copy propagation</a:t>
            </a:r>
          </a:p>
        </p:txBody>
      </p:sp>
      <p:sp>
        <p:nvSpPr>
          <p:cNvPr id="38" name="Oval 37"/>
          <p:cNvSpPr/>
          <p:nvPr/>
        </p:nvSpPr>
        <p:spPr>
          <a:xfrm>
            <a:off x="548640" y="5020056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5151730"/>
            <a:ext cx="285293" cy="28529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98448" y="4946904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Dual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53492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Differential testing on hundreds of input sets + symbolic equivalence</a:t>
            </a:r>
          </a:p>
        </p:txBody>
      </p:sp>
      <p:sp>
        <p:nvSpPr>
          <p:cNvPr id="42" name="Oval 41"/>
          <p:cNvSpPr/>
          <p:nvPr/>
        </p:nvSpPr>
        <p:spPr>
          <a:xfrm>
            <a:off x="6217920" y="1399032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94" y="1530706"/>
            <a:ext cx="285293" cy="28529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967728" y="1325880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Cost-gated acceptance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1728216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Accept only if verified correct AND cheaper</a:t>
            </a:r>
          </a:p>
        </p:txBody>
      </p:sp>
      <p:sp>
        <p:nvSpPr>
          <p:cNvPr id="46" name="Oval 45"/>
          <p:cNvSpPr/>
          <p:nvPr/>
        </p:nvSpPr>
        <p:spPr>
          <a:xfrm>
            <a:off x="6217920" y="260604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94" y="2737714"/>
            <a:ext cx="285293" cy="28529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967728" y="253288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LLM proposers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2935224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Gemini, Groq and a local Ollama model behind one router</a:t>
            </a:r>
          </a:p>
        </p:txBody>
      </p:sp>
      <p:sp>
        <p:nvSpPr>
          <p:cNvPr id="50" name="Oval 49"/>
          <p:cNvSpPr/>
          <p:nvPr/>
        </p:nvSpPr>
        <p:spPr>
          <a:xfrm>
            <a:off x="6217920" y="3813048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94" y="3944722"/>
            <a:ext cx="285293" cy="285293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967728" y="3739896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Offline mode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67728" y="414223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The whole agent runs with no internet connection</a:t>
            </a:r>
          </a:p>
        </p:txBody>
      </p:sp>
      <p:sp>
        <p:nvSpPr>
          <p:cNvPr id="54" name="Oval 53"/>
          <p:cNvSpPr/>
          <p:nvPr/>
        </p:nvSpPr>
        <p:spPr>
          <a:xfrm>
            <a:off x="6217920" y="5020056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94" y="5151730"/>
            <a:ext cx="285293" cy="28529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67728" y="4946904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Full evaluation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67728" y="53492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500 programs, the 6 required metrics, 7 charts, 4 configurations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143000"/>
            <a:ext cx="1691640" cy="384048"/>
          </a:xfrm>
          <a:prstGeom prst="roundRect">
            <a:avLst>
              <a:gd name="adj" fmla="val 16666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1143000"/>
            <a:ext cx="1618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</a:rPr>
              <a:t xml:space="preserve">Source program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8646" y="1143000"/>
            <a:ext cx="1691640" cy="384048"/>
          </a:xfrm>
          <a:prstGeom prst="roundRect">
            <a:avLst>
              <a:gd name="adj" fmla="val 16666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5222" y="1143000"/>
            <a:ext cx="1618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tx1"/>
                </a:solidFill>
              </a:rPr>
              <a:t xml:space="preserve">Lexer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40280" y="1335024"/>
            <a:ext cx="188366" cy="0"/>
          </a:xfrm>
          <a:prstGeom prst="line">
            <a:avLst/>
          </a:prstGeom>
          <a:ln w="15875">
            <a:solidFill>
              <a:schemeClr val="accent5"/>
            </a:solidFill>
            <a:tailEnd type="triangle"/>
          </a:ln>
        </p:spPr>
      </p:cxnSp>
      <p:sp>
        <p:nvSpPr>
          <p:cNvPr id="31" name="Rounded Rectangle 30"/>
          <p:cNvSpPr/>
          <p:nvPr/>
        </p:nvSpPr>
        <p:spPr>
          <a:xfrm>
            <a:off x="4308653" y="1143000"/>
            <a:ext cx="1691640" cy="384048"/>
          </a:xfrm>
          <a:prstGeom prst="roundRect">
            <a:avLst>
              <a:gd name="adj" fmla="val 16666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5229" y="1143000"/>
            <a:ext cx="1618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tx1"/>
                </a:solidFill>
              </a:rPr>
              <a:t xml:space="preserve">Parser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20286" y="1335024"/>
            <a:ext cx="188367" cy="0"/>
          </a:xfrm>
          <a:prstGeom prst="line">
            <a:avLst/>
          </a:prstGeom>
          <a:ln w="15875">
            <a:solidFill>
              <a:schemeClr val="accent5"/>
            </a:solidFill>
            <a:tailEnd type="triangle"/>
          </a:ln>
        </p:spPr>
      </p:cxnSp>
      <p:sp>
        <p:nvSpPr>
          <p:cNvPr id="34" name="Rounded Rectangle 33"/>
          <p:cNvSpPr/>
          <p:nvPr/>
        </p:nvSpPr>
        <p:spPr>
          <a:xfrm>
            <a:off x="6188659" y="1143000"/>
            <a:ext cx="1691640" cy="384048"/>
          </a:xfrm>
          <a:prstGeom prst="roundRect">
            <a:avLst>
              <a:gd name="adj" fmla="val 16666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5235" y="1143000"/>
            <a:ext cx="1618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tx1"/>
                </a:solidFill>
              </a:rPr>
              <a:t xml:space="preserve">AST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00293" y="1335024"/>
            <a:ext cx="188366" cy="0"/>
          </a:xfrm>
          <a:prstGeom prst="line">
            <a:avLst/>
          </a:prstGeom>
          <a:ln w="15875">
            <a:solidFill>
              <a:schemeClr val="accent5"/>
            </a:solidFill>
            <a:tailEnd type="triangle"/>
          </a:ln>
        </p:spPr>
      </p:cxnSp>
      <p:sp>
        <p:nvSpPr>
          <p:cNvPr id="37" name="Rounded Rectangle 36"/>
          <p:cNvSpPr/>
          <p:nvPr/>
        </p:nvSpPr>
        <p:spPr>
          <a:xfrm>
            <a:off x="8068666" y="1143000"/>
            <a:ext cx="1691640" cy="384048"/>
          </a:xfrm>
          <a:prstGeom prst="roundRect">
            <a:avLst>
              <a:gd name="adj" fmla="val 16666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05242" y="1143000"/>
            <a:ext cx="1618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tx1"/>
                </a:solidFill>
              </a:rPr>
              <a:t xml:space="preserve">TAC Generator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80299" y="1335024"/>
            <a:ext cx="188367" cy="0"/>
          </a:xfrm>
          <a:prstGeom prst="line">
            <a:avLst/>
          </a:prstGeom>
          <a:ln w="15875">
            <a:solidFill>
              <a:schemeClr val="accent5"/>
            </a:solidFill>
            <a:tailEnd type="triangle"/>
          </a:ln>
        </p:spPr>
      </p:cxnSp>
      <p:sp>
        <p:nvSpPr>
          <p:cNvPr id="40" name="Rounded Rectangle 39"/>
          <p:cNvSpPr/>
          <p:nvPr/>
        </p:nvSpPr>
        <p:spPr>
          <a:xfrm>
            <a:off x="9948672" y="1143000"/>
            <a:ext cx="1691640" cy="384048"/>
          </a:xfrm>
          <a:prstGeom prst="roundRect">
            <a:avLst>
              <a:gd name="adj" fmla="val 16666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85248" y="1143000"/>
            <a:ext cx="1618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</a:rPr>
              <a:t xml:space="preserve">TAC program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60306" y="1335024"/>
            <a:ext cx="188366" cy="0"/>
          </a:xfrm>
          <a:prstGeom prst="line">
            <a:avLst/>
          </a:prstGeom>
          <a:ln w="15875">
            <a:solidFill>
              <a:schemeClr val="accent5"/>
            </a:solidFill>
            <a:tailEnd type="triangle"/>
          </a:ln>
        </p:spPr>
      </p:cxnSp>
      <p:cxnSp>
        <p:nvCxnSpPr>
          <p:cNvPr id="43" name="Connector 42"/>
          <p:cNvCxnSpPr/>
          <p:nvPr/>
        </p:nvCxnSpPr>
        <p:spPr>
          <a:xfrm>
            <a:off x="10789920" y="1527048"/>
            <a:ext cx="0" cy="118872"/>
          </a:xfrm>
          <a:prstGeom prst="line">
            <a:avLst/>
          </a:prstGeom>
          <a:ln w="15875">
            <a:solidFill>
              <a:schemeClr val="accent5"/>
            </a:solidFill>
          </a:ln>
        </p:spPr>
      </p:cxnSp>
      <p:cxnSp>
        <p:nvCxnSpPr>
          <p:cNvPr id="44" name="Connector 43"/>
          <p:cNvCxnSpPr/>
          <p:nvPr/>
        </p:nvCxnSpPr>
        <p:spPr>
          <a:xfrm flipH="1">
            <a:off x="2011680" y="1645920"/>
            <a:ext cx="8778240" cy="0"/>
          </a:xfrm>
          <a:prstGeom prst="line">
            <a:avLst/>
          </a:prstGeom>
          <a:ln w="15875">
            <a:solidFill>
              <a:schemeClr val="accent5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2011680" y="1645920"/>
            <a:ext cx="0" cy="640080"/>
          </a:xfrm>
          <a:prstGeom prst="line">
            <a:avLst/>
          </a:prstGeom>
          <a:ln w="15875">
            <a:solidFill>
              <a:schemeClr val="accent5"/>
            </a:solidFill>
            <a:tailEnd type="triangle"/>
          </a:ln>
        </p:spPr>
      </p:cxnSp>
      <p:sp>
        <p:nvSpPr>
          <p:cNvPr id="46" name="Rounded Rectangle 45"/>
          <p:cNvSpPr/>
          <p:nvPr/>
        </p:nvSpPr>
        <p:spPr>
          <a:xfrm>
            <a:off x="548640" y="1764792"/>
            <a:ext cx="11091672" cy="3758184"/>
          </a:xfrm>
          <a:prstGeom prst="roundRect">
            <a:avLst>
              <a:gd name="adj" fmla="val 2433"/>
            </a:avLst>
          </a:prstGeom>
          <a:solidFill>
            <a:schemeClr val="accent1">
              <a:alpha val="5000"/>
            </a:schemeClr>
          </a:solidFill>
          <a:ln w="15875">
            <a:solidFill>
              <a:schemeClr val="accent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0" y="1837944"/>
            <a:ext cx="90342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chemeClr val="accent1"/>
                </a:solidFill>
              </a:rPr>
              <a:t xml:space="preserve">Orchestrator </a:t>
            </a:r>
            <a:r>
              <a:rPr sz="1050" b="0">
                <a:solidFill>
                  <a:schemeClr val="accent1"/>
                </a:solidFill>
                <a:latin typeface="Consolas"/>
              </a:rPr>
              <a:t xml:space="preserve">(orchestrator.py)  </a:t>
            </a:r>
            <a:r>
              <a:rPr sz="1200" b="1">
                <a:solidFill>
                  <a:schemeClr val="tx1"/>
                </a:solidFill>
              </a:rPr>
              <a:t xml:space="preserve">Components: </a:t>
            </a:r>
            <a:r>
              <a:rPr sz="1200" b="0">
                <a:solidFill>
                  <a:schemeClr val="tx1"/>
                </a:solidFill>
              </a:rPr>
              <a:t xml:space="preserve">loop controller (up to 50 iterations, 200 for real programs), memory of the opportunities already tried, decision logger, final checker with revert, resume cache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2286000"/>
            <a:ext cx="2487168" cy="246888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" y="2359152"/>
            <a:ext cx="22494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chemeClr val="tx1"/>
                </a:solidFill>
              </a:rPr>
              <a:t xml:space="preserve">1  Code Analysis Specialist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" y="25968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chemeClr val="accent1"/>
                </a:solidFill>
                <a:latin typeface="Consolas"/>
              </a:rPr>
              <a:t xml:space="preserve">code_analyzer.py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2807208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5"/>
                </a:solidFill>
              </a:rPr>
              <a:t xml:space="preserve">In: </a:t>
            </a:r>
            <a:r>
              <a:rPr sz="1050" b="0">
                <a:solidFill>
                  <a:schemeClr val="tx2"/>
                </a:solidFill>
              </a:rPr>
              <a:t xml:space="preserve">the current TAC program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" y="303580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1"/>
                </a:solidFill>
              </a:rPr>
              <a:t xml:space="preserve">Components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3236976"/>
            <a:ext cx="22494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Control-flow graph builder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Liveness analysis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Available-copies analysis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Six detectors: constant fold, algebraic, dead code, CSE, strength reduction, copy propagation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Priority ranker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4480560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50" b="1">
                <a:solidFill>
                  <a:schemeClr val="accent2"/>
                </a:solidFill>
              </a:rPr>
              <a:t xml:space="preserve">Out: </a:t>
            </a:r>
            <a:r>
              <a:rPr sz="1050" b="0">
                <a:solidFill>
                  <a:schemeClr val="tx1"/>
                </a:solidFill>
              </a:rPr>
              <a:t xml:space="preserve">opportunities ranked by priority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93008" y="2286000"/>
            <a:ext cx="2487168" cy="246888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11880" y="2359152"/>
            <a:ext cx="22494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chemeClr val="tx1"/>
                </a:solidFill>
              </a:rPr>
              <a:t xml:space="preserve">2  Optimization Specialist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11880" y="25968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chemeClr val="accent1"/>
                </a:solidFill>
                <a:latin typeface="Consolas"/>
              </a:rPr>
              <a:t xml:space="preserve">optimization_specialist.py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11880" y="2807208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5"/>
                </a:solidFill>
              </a:rPr>
              <a:t xml:space="preserve">In: </a:t>
            </a:r>
            <a:r>
              <a:rPr sz="1050" b="0">
                <a:solidFill>
                  <a:schemeClr val="tx2"/>
                </a:solidFill>
              </a:rPr>
              <a:t xml:space="preserve">the program and its opportunities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303580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1"/>
                </a:solidFill>
              </a:rPr>
              <a:t xml:space="preserve">Components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11880" y="3236976"/>
            <a:ext cx="22494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Router: rule, hybrid or llm mode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Rule-based optimizer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LLM optimizer: Gemini, Groq, Ollama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Prompt builder and TAC reply parser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Self-repair loop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11880" y="4480560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50" b="1">
                <a:solidFill>
                  <a:schemeClr val="accent2"/>
                </a:solidFill>
              </a:rPr>
              <a:t xml:space="preserve">Out: </a:t>
            </a:r>
            <a:r>
              <a:rPr sz="1050" b="0">
                <a:solidFill>
                  <a:schemeClr val="tx1"/>
                </a:solidFill>
              </a:rPr>
              <a:t xml:space="preserve">one candidate program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264408" y="3520440"/>
            <a:ext cx="228600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63" name="Rounded Rectangle 62"/>
          <p:cNvSpPr/>
          <p:nvPr/>
        </p:nvSpPr>
        <p:spPr>
          <a:xfrm>
            <a:off x="6208776" y="2286000"/>
            <a:ext cx="2487168" cy="246888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27648" y="2359152"/>
            <a:ext cx="22494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chemeClr val="tx1"/>
                </a:solidFill>
              </a:rPr>
              <a:t xml:space="preserve">3  Verification Module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27648" y="25968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chemeClr val="accent1"/>
                </a:solidFill>
                <a:latin typeface="Consolas"/>
              </a:rPr>
              <a:t xml:space="preserve">verifier.py, smt_verifier.py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27648" y="2807208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5"/>
                </a:solidFill>
              </a:rPr>
              <a:t xml:space="preserve">In: </a:t>
            </a:r>
            <a:r>
              <a:rPr sz="1050" b="0">
                <a:solidFill>
                  <a:schemeClr val="tx2"/>
                </a:solidFill>
              </a:rPr>
              <a:t xml:space="preserve">current program + candidate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7648" y="303580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1"/>
                </a:solidFill>
              </a:rPr>
              <a:t xml:space="preserve">Components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3236976"/>
            <a:ext cx="22494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Input-set generator (six kinds of input sets)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Reference TAC interpreter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Differential tester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Symbolic polynomial checker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SMT prover (Z3)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27648" y="4480560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50" b="1">
                <a:solidFill>
                  <a:schemeClr val="accent2"/>
                </a:solidFill>
              </a:rPr>
              <a:t xml:space="preserve">Out: </a:t>
            </a:r>
            <a:r>
              <a:rPr sz="1050" b="0">
                <a:solidFill>
                  <a:schemeClr val="tx1"/>
                </a:solidFill>
              </a:rPr>
              <a:t xml:space="preserve">PASS (tested or proved) or FAIL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980176" y="3520440"/>
            <a:ext cx="228600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71" name="Rounded Rectangle 70"/>
          <p:cNvSpPr/>
          <p:nvPr/>
        </p:nvSpPr>
        <p:spPr>
          <a:xfrm>
            <a:off x="8924544" y="2286000"/>
            <a:ext cx="2487168" cy="246888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43416" y="2359152"/>
            <a:ext cx="22494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chemeClr val="tx1"/>
                </a:solidFill>
              </a:rPr>
              <a:t xml:space="preserve">4  Cost Evaluator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43416" y="25968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chemeClr val="accent1"/>
                </a:solidFill>
                <a:latin typeface="Consolas"/>
              </a:rPr>
              <a:t xml:space="preserve">cost_evaluator.py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43416" y="2807208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5"/>
                </a:solidFill>
              </a:rPr>
              <a:t xml:space="preserve">In: </a:t>
            </a:r>
            <a:r>
              <a:rPr sz="1050" b="0">
                <a:solidFill>
                  <a:schemeClr val="tx2"/>
                </a:solidFill>
              </a:rPr>
              <a:t xml:space="preserve">program + verified candidate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43416" y="303580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1"/>
                </a:solidFill>
              </a:rPr>
              <a:t xml:space="preserve">Components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43416" y="3236976"/>
            <a:ext cx="22494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Static counters and weight table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Execution profiler: 25 fixed inputs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Latency table per instruction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Comparator: static or time cost model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4480560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50" b="1">
                <a:solidFill>
                  <a:schemeClr val="accent2"/>
                </a:solidFill>
              </a:rPr>
              <a:t xml:space="preserve">Out: </a:t>
            </a:r>
            <a:r>
              <a:rPr sz="1050" b="0">
                <a:solidFill>
                  <a:schemeClr val="tx1"/>
                </a:solidFill>
              </a:rPr>
              <a:t xml:space="preserve">cheaper, or no cost gain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695944" y="3520440"/>
            <a:ext cx="228600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79" name="Rounded Rectangle 78"/>
          <p:cNvSpPr/>
          <p:nvPr/>
        </p:nvSpPr>
        <p:spPr>
          <a:xfrm>
            <a:off x="777240" y="4901184"/>
            <a:ext cx="10634472" cy="512064"/>
          </a:xfrm>
          <a:prstGeom prst="roundRect">
            <a:avLst>
              <a:gd name="adj" fmla="val 14285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0120" y="4901184"/>
            <a:ext cx="102687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chemeClr val="accent2"/>
                </a:solidFill>
              </a:rPr>
              <a:t xml:space="preserve">5  Decision.  </a:t>
            </a:r>
            <a:r>
              <a:rPr sz="1100" b="1">
                <a:solidFill>
                  <a:schemeClr val="tx1"/>
                </a:solidFill>
              </a:rPr>
              <a:t xml:space="preserve">ACCEPT: </a:t>
            </a:r>
            <a:r>
              <a:rPr sz="1100" b="0">
                <a:solidFill>
                  <a:schemeClr val="tx1"/>
                </a:solidFill>
              </a:rPr>
              <a:t xml:space="preserve">the candidate becomes the current program.  </a:t>
            </a:r>
            <a:r>
              <a:rPr sz="1100" b="1">
                <a:solidFill>
                  <a:schemeClr val="tx1"/>
                </a:solidFill>
              </a:rPr>
              <a:t xml:space="preserve">REJECT: </a:t>
            </a:r>
            <a:r>
              <a:rPr sz="1100" b="0">
                <a:solidFill>
                  <a:schemeClr val="tx1"/>
                </a:solidFill>
              </a:rPr>
              <a:t xml:space="preserve">the next opportunity is tried, or the same step goes to the other proposer.  Either way the loop returns to the Code Analysis Specialist.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0168128" y="4754880"/>
            <a:ext cx="0" cy="146304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</p:cxnSp>
      <p:cxnSp>
        <p:nvCxnSpPr>
          <p:cNvPr id="82" name="Connector 81"/>
          <p:cNvCxnSpPr/>
          <p:nvPr/>
        </p:nvCxnSpPr>
        <p:spPr>
          <a:xfrm flipV="1">
            <a:off x="2020824" y="4754880"/>
            <a:ext cx="0" cy="146304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</p:cxnSp>
      <p:cxnSp>
        <p:nvCxnSpPr>
          <p:cNvPr id="83" name="Connector 82"/>
          <p:cNvCxnSpPr/>
          <p:nvPr/>
        </p:nvCxnSpPr>
        <p:spPr>
          <a:xfrm>
            <a:off x="2263140" y="5413248"/>
            <a:ext cx="0" cy="310896"/>
          </a:xfrm>
          <a:prstGeom prst="line">
            <a:avLst/>
          </a:prstGeom>
          <a:ln w="19050">
            <a:solidFill>
              <a:schemeClr val="accent4"/>
            </a:solidFill>
            <a:tailEnd type="triangle"/>
          </a:ln>
        </p:spPr>
      </p:cxnSp>
      <p:sp>
        <p:nvSpPr>
          <p:cNvPr id="84" name="TextBox 83"/>
          <p:cNvSpPr txBox="1"/>
          <p:nvPr/>
        </p:nvSpPr>
        <p:spPr>
          <a:xfrm>
            <a:off x="2354580" y="551383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>
                <a:solidFill>
                  <a:schemeClr val="accent4"/>
                </a:solidFill>
              </a:rPr>
              <a:t xml:space="preserve">when nothing is left to try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77240" y="5724144"/>
            <a:ext cx="2971800" cy="4572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3816" y="5724144"/>
            <a:ext cx="28986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chemeClr val="tx1"/>
                </a:solidFill>
              </a:rPr>
              <a:t xml:space="preserve">Final check: optimized vs. original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3749040" y="5952744"/>
            <a:ext cx="320040" cy="0"/>
          </a:xfrm>
          <a:prstGeom prst="line">
            <a:avLst/>
          </a:prstGeom>
          <a:ln w="19050">
            <a:solidFill>
              <a:schemeClr val="accent4"/>
            </a:solidFill>
            <a:tailEnd type="triangle"/>
          </a:ln>
        </p:spPr>
      </p:cxnSp>
      <p:sp>
        <p:nvSpPr>
          <p:cNvPr id="88" name="Rounded Rectangle 87"/>
          <p:cNvSpPr/>
          <p:nvPr/>
        </p:nvSpPr>
        <p:spPr>
          <a:xfrm>
            <a:off x="4069080" y="5724144"/>
            <a:ext cx="1447038" cy="4572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05656" y="5724144"/>
            <a:ext cx="1373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chemeClr val="tx1"/>
                </a:solidFill>
              </a:rPr>
              <a:t xml:space="preserve">Optimized TAC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653278" y="5724144"/>
            <a:ext cx="1447038" cy="4572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89854" y="5724144"/>
            <a:ext cx="1373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chemeClr val="tx1"/>
                </a:solidFill>
              </a:rPr>
              <a:t xml:space="preserve">Decision log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237476" y="5724144"/>
            <a:ext cx="1447038" cy="4572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74052" y="5724144"/>
            <a:ext cx="1373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chemeClr val="tx1"/>
                </a:solidFill>
              </a:rPr>
              <a:t xml:space="preserve">Metrics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821674" y="5724144"/>
            <a:ext cx="1447038" cy="4572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858250" y="5724144"/>
            <a:ext cx="1373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chemeClr val="tx1"/>
                </a:solidFill>
              </a:rPr>
              <a:t xml:space="preserve">7 charts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0268712" y="5952744"/>
            <a:ext cx="274320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97" name="Rounded Rectangle 96"/>
          <p:cNvSpPr/>
          <p:nvPr/>
        </p:nvSpPr>
        <p:spPr>
          <a:xfrm>
            <a:off x="10543032" y="5724144"/>
            <a:ext cx="86868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579608" y="5724144"/>
            <a:ext cx="795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</a:rPr>
              <a:t xml:space="preserve">End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69080" y="5532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>
                <a:solidFill>
                  <a:schemeClr val="accent5"/>
                </a:solidFill>
              </a:rPr>
              <a:t xml:space="preserve">Outputs of the run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Flow Diagram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review2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45336"/>
            <a:ext cx="8092440" cy="431596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915400" y="1280160"/>
            <a:ext cx="2724912" cy="4846320"/>
          </a:xfrm>
          <a:prstGeom prst="roundRect">
            <a:avLst>
              <a:gd name="adj" fmla="val 268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50876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What it shows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011680"/>
            <a:ext cx="231343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Source code becomes a TAC program in the front end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The Code Analyzer sends ranked opportunities to the Optimization Specialist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The Specialist routes the step: Option A the rules, Option B an LLM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Each candidate passes the Verifier, then the Cost Evaluator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Class Diagram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review2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1609"/>
            <a:ext cx="8092440" cy="430342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915400" y="1280160"/>
            <a:ext cx="2724912" cy="4846320"/>
          </a:xfrm>
          <a:prstGeom prst="roundRect">
            <a:avLst>
              <a:gd name="adj" fmla="val 268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50876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What it shows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011680"/>
            <a:ext cx="231343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The Orchestrator owns the four other components and writes to the Decision Logger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The Optimization Specialist owns the rule-based optimizer and holds one LLM backend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Gemini, Groq and Ollama share one base class: same prompt, same reply parser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Routing: Rule-Based or LLM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9" y="1602029"/>
            <a:ext cx="261518" cy="26151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17320" y="1463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accent5"/>
                </a:solidFill>
                <a:latin typeface="Consolas"/>
              </a:rPr>
              <a:t xml:space="preserve">--optimizer </a:t>
            </a:r>
            <a:r>
              <a:rPr sz="1400" b="1">
                <a:solidFill>
                  <a:schemeClr val="accent1"/>
                </a:solidFill>
                <a:latin typeface="Consolas"/>
              </a:rPr>
              <a:t xml:space="preserve">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17556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Rule-based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2267712"/>
            <a:ext cx="314553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Always the highest-priority opportunity from the analyzer. The default: instant and deterministic.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2369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3537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238" y="1602029"/>
            <a:ext cx="261518" cy="26151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191049" y="1463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accent5"/>
                </a:solidFill>
                <a:latin typeface="Consolas"/>
              </a:rPr>
              <a:t xml:space="preserve">--optimizer </a:t>
            </a:r>
            <a:r>
              <a:rPr sz="1400" b="1">
                <a:solidFill>
                  <a:schemeClr val="accent1"/>
                </a:solidFill>
                <a:latin typeface="Consolas"/>
              </a:rPr>
              <a:t xml:space="preserve">hybrid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1049" y="17556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Rules first, LLM second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3537" y="2267712"/>
            <a:ext cx="314553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The LLM is asked when a rule proposal is turned down, or when the rules have nothing left to try.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6098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97266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966" y="1602029"/>
            <a:ext cx="261518" cy="26151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64778" y="1463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accent5"/>
                </a:solidFill>
                <a:latin typeface="Consolas"/>
              </a:rPr>
              <a:t xml:space="preserve">--optimizer </a:t>
            </a:r>
            <a:r>
              <a:rPr sz="1400" b="1">
                <a:solidFill>
                  <a:schemeClr val="accent1"/>
                </a:solidFill>
                <a:latin typeface="Consolas"/>
              </a:rPr>
              <a:t xml:space="preserve">llm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4778" y="17556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LLM first, rules second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7266" y="2267712"/>
            <a:ext cx="314553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The rules take over when the LLM is not running, out of call budget, or its proposal is turned down.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730752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Every routing decision is written to the decision log with its reason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114800"/>
            <a:ext cx="11091672" cy="2057400"/>
          </a:xfrm>
          <a:prstGeom prst="roundRect">
            <a:avLst>
              <a:gd name="adj" fmla="val 355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" y="4334256"/>
            <a:ext cx="10652760" cy="1618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--- Iteration 21 ---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[ANALYZE] No more opportunities found.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F5C06B"/>
                </a:solidFill>
                <a:latin typeface="Consolas"/>
              </a:rPr>
              <a:t xml:space="preserve">  [ROUTE]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 LLM optimizer (groq openai/gpt-oss-120b): the rules have nothing left to try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8FB8F0"/>
                </a:solidFill>
                <a:latin typeface="Consolas"/>
              </a:rPr>
              <a:t xml:space="preserve">  [LLM]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   LLM proposal: Dead code elimination: the loop only assigns the constant 42 to acc repeatedly ...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[VERIFY]  </a:t>
            </a:r>
            <a:r>
              <a:rPr sz="1250" b="1">
                <a:solidFill>
                  <a:srgbClr val="7FD27F"/>
                </a:solidFill>
                <a:latin typeface="Consolas"/>
              </a:rPr>
              <a:t xml:space="preserve">PASS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(differential: 25/25 inputs matched, symbolic: skipped (control flow))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[COST]    Before: 20.0, After: 4.5 (reduction: 77.5%)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7FD27F"/>
                </a:solidFill>
                <a:latin typeface="Consolas"/>
              </a:rPr>
              <a:t xml:space="preserve">  [ACCEPT]</a:t>
            </a:r>
            <a:r>
              <a:rPr sz="1250" b="0">
                <a:solidFill>
                  <a:srgbClr val="7FD27F"/>
                </a:solidFill>
                <a:latin typeface="Consolas"/>
              </a:rPr>
              <a:t xml:space="preserve">  Change accepted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LLM Backends, One Interface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3154680"/>
          </a:xfrm>
          <a:prstGeom prst="roundRect">
            <a:avLst>
              <a:gd name="adj" fmla="val 231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9" y="1602029"/>
            <a:ext cx="261518" cy="26151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17320" y="144475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chemeClr val="tx1"/>
                </a:solidFill>
              </a:rPr>
              <a:t xml:space="preserve">Gemini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182880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chemeClr val="accent1"/>
                </a:solidFill>
                <a:latin typeface="Consolas"/>
              </a:rPr>
              <a:t xml:space="preserve">gemini-3.1-flash-lite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33172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Runs in Google's cloud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Free API key (.gemini_key)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Called through the google-genai SDK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Strongest results so far: 91.5%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2369" y="1280160"/>
            <a:ext cx="3547872" cy="3154680"/>
          </a:xfrm>
          <a:prstGeom prst="roundRect">
            <a:avLst>
              <a:gd name="adj" fmla="val 231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3537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238" y="1602029"/>
            <a:ext cx="261518" cy="26151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191049" y="144475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chemeClr val="tx1"/>
                </a:solidFill>
              </a:rPr>
              <a:t xml:space="preserve">Groq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1049" y="182880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chemeClr val="accent1"/>
                </a:solidFill>
                <a:latin typeface="Consolas"/>
              </a:rPr>
              <a:t xml:space="preserve">openai/gpt-oss-120b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0969" y="233172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Runs in Groq's cloud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Free API key (.groq_key)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Plain HTTP, no SDK to install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Moves to the next model when a daily quota is spent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6098" y="1280160"/>
            <a:ext cx="3547872" cy="3154680"/>
          </a:xfrm>
          <a:prstGeom prst="roundRect">
            <a:avLst>
              <a:gd name="adj" fmla="val 231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97266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1602029"/>
            <a:ext cx="261518" cy="26151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64778" y="144475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chemeClr val="tx1"/>
                </a:solidFill>
              </a:rPr>
              <a:t xml:space="preserve">Ollama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4778" y="182880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chemeClr val="accent1"/>
                </a:solidFill>
                <a:latin typeface="Consolas"/>
              </a:rPr>
              <a:t xml:space="preserve">qwen2.5-coder:7b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4698" y="233172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Runs on this laptop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No key and no internet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Plain HTTP to the local server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Falls back to the CPU if the GPU runner crashes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709160"/>
            <a:ext cx="11091672" cy="1463040"/>
          </a:xfrm>
          <a:prstGeom prst="roundRect">
            <a:avLst>
              <a:gd name="adj" fmla="val 5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77240" y="518464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305349"/>
            <a:ext cx="261518" cy="26151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508760" y="4846320"/>
            <a:ext cx="9902952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chemeClr val="accent1"/>
                </a:solidFill>
                <a:latin typeface="Consolas"/>
              </a:rPr>
              <a:t xml:space="preserve">--llm-provider auto </a:t>
            </a:r>
            <a:r>
              <a:rPr sz="1400" b="0">
                <a:solidFill>
                  <a:schemeClr val="tx1"/>
                </a:solidFill>
              </a:rPr>
              <a:t xml:space="preserve">tries Gemini, then Groq, then Ollama, and uses the first one that is configured and reachable. </a:t>
            </a:r>
            <a:r>
              <a:rPr sz="1400" b="1">
                <a:solidFill>
                  <a:schemeClr val="accent1"/>
                </a:solidFill>
                <a:latin typeface="Consolas"/>
              </a:rPr>
              <a:t xml:space="preserve">--offline </a:t>
            </a:r>
            <a:r>
              <a:rPr sz="1400" b="0">
                <a:solidFill>
                  <a:schemeClr val="tx1"/>
                </a:solidFill>
              </a:rPr>
              <a:t xml:space="preserve">always uses Ollama.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chemeClr val="tx1"/>
                </a:solidFill>
              </a:rPr>
              <a:t xml:space="preserve">All three share one prompt, one reply parser and the same verification and cost gates.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Implementation: Tools &amp; Technologies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6949440" cy="4828032"/>
        </p:xfrm>
        <a:graphic>
          <a:graphicData uri="http://schemas.openxmlformats.org/drawingml/2006/table">
            <a:tbl>
              <a:tblPr/>
              <a:tblGrid>
                <a:gridCol w="1417320"/>
                <a:gridCol w="2514600"/>
                <a:gridCol w="3017520"/>
              </a:tblGrid>
              <a:tr h="60350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Python 3.10+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match statements, dataclasses, type hints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Cloud LLMs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Gemini, Groq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Free-tier proposers (SDK and plain HTTP)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Local LLM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Ollama + qwen2.5-coder:7b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Offline proposer, no key needed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Visualization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Matplotlib, Seaborn, Plotly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Bar, line, scatter, heatmap, pie, Sankey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pytest (336 tests)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Unit, integration, stand-in LLM servers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Live demo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demo.py (C subset)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Walks a real C program through the loop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NumPy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Trend lines and statistics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7726680" y="1280160"/>
            <a:ext cx="3913632" cy="4828032"/>
          </a:xfrm>
          <a:prstGeom prst="roundRect">
            <a:avLst>
              <a:gd name="adj" fmla="val 1869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14813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 xml:space="preserve">Project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1965960"/>
            <a:ext cx="34747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chemeClr val="accent1"/>
                </a:solidFill>
                <a:latin typeface="Consolas"/>
              </a:rPr>
              <a:t xml:space="preserve">src/frontend/  </a:t>
            </a:r>
            <a:r>
              <a:rPr sz="1400" b="0">
                <a:solidFill>
                  <a:schemeClr val="tx2"/>
                </a:solidFill>
              </a:rPr>
              <a:t xml:space="preserve">Lexer, Parser, AST, TAC generator, C front end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chemeClr val="accent1"/>
                </a:solidFill>
                <a:latin typeface="Consolas"/>
              </a:rPr>
              <a:t xml:space="preserve">src/tac/  </a:t>
            </a:r>
            <a:r>
              <a:rPr sz="1400" b="0">
                <a:solidFill>
                  <a:schemeClr val="tx2"/>
                </a:solidFill>
              </a:rPr>
              <a:t xml:space="preserve">Instructions, interpreter, dataflow analysis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chemeClr val="accent1"/>
                </a:solidFill>
                <a:latin typeface="Consolas"/>
              </a:rPr>
              <a:t xml:space="preserve">src/agents/  </a:t>
            </a:r>
            <a:r>
              <a:rPr sz="1400" b="0">
                <a:solidFill>
                  <a:schemeClr val="tx2"/>
                </a:solidFill>
              </a:rPr>
              <a:t xml:space="preserve">Orchestrator, Code Analyzer, Optimization Specialist, rule + LLM optimizers, Verifier, Cost Evaluator, Decision Logger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chemeClr val="accent1"/>
                </a:solidFill>
                <a:latin typeface="Consolas"/>
              </a:rPr>
              <a:t xml:space="preserve">src/visualization/  </a:t>
            </a:r>
            <a:r>
              <a:rPr sz="1400" b="0">
                <a:solidFill>
                  <a:schemeClr val="tx2"/>
                </a:solidFill>
              </a:rPr>
              <a:t xml:space="preserve">7 charts, metrics report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chemeClr val="accent1"/>
                </a:solidFill>
                <a:latin typeface="Consolas"/>
              </a:rPr>
              <a:t xml:space="preserve">tests/  </a:t>
            </a:r>
            <a:r>
              <a:rPr sz="1400" b="0">
                <a:solidFill>
                  <a:schemeClr val="tx2"/>
                </a:solidFill>
              </a:rPr>
              <a:t xml:space="preserve">397 tests, one module per component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Implementation: The Five Components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9" y="1602029"/>
            <a:ext cx="261518" cy="26151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17320" y="15544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1.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2148840"/>
            <a:ext cx="31638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Runs the loop, logs every decision, stops when nothing is left (or after 50 iterations), then re-verifies the result against the original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2369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3537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238" y="1602029"/>
            <a:ext cx="261518" cy="26151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91049" y="15544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2. Code Analysis Specialist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3537" y="2148840"/>
            <a:ext cx="31638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Dataflow analysis (CFG, liveness, available copies). Ranks 6 types: Fold 100 → Algebraic 90 → Dead Code 80 → CSE 70 → Strength 60 → Copy Prop 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6098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97266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966" y="1602029"/>
            <a:ext cx="261518" cy="26151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64778" y="15544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3. Optimization Specialist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7266" y="2148840"/>
            <a:ext cx="31638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Routes each step to the rule-based optimizer or to an LLM (Gemini, Groq or Ollama) and returns one candidate program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32304" y="3776472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633472" y="39776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173" y="4098341"/>
            <a:ext cx="261518" cy="26151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300984" y="4050792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4. Verification Module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33472" y="4645152"/>
            <a:ext cx="31638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Differential testing on random, edge, boundary, small-scope and pairwise inputs, plus a symbolic check for straight-line code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08776" y="3776472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09944" y="39776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0645" y="4098341"/>
            <a:ext cx="261518" cy="26151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077456" y="4050792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5. Cost Evaluator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9944" y="4645152"/>
            <a:ext cx="31638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cost = 1.0·instructions + 2.0·arithmetic + 0.5·temps + 1.5·copies + 1.0·branches. A change must strictly lower 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The Orchestrator Loop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# src/agents/orchestrator.py  (trimmed)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iteration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range(1, self.max_iterations + 1):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1. ANALYZE (leaving out opportunities already turned down)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opportunities = [o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self.analyzer.analyze(current)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self._opportunity_key(o)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attempted]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logger.log_analysis(iteration, opportunities)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2-5. PROPOSE -&gt; VERIFY -&gt; EVALUATE -&gt; ACCEPT/REJECT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tried, outcome = [],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while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outcome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"accepted"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"unverifiable"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decision = specialist.route(current, opportunities, llm_calls, tried)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decision.route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break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nobody can propose anything more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tried.append(decision.route)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proposal = specialist.propose(current, decision, opportunities)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outcome = self._judge(iteration, current, proposal, logger, proposals)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outcome ==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"accepted"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current = proposal.candidate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attempted.clear()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new opportunities may appear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outcome !=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"accepted"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opportunities: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break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converged: nothing left to 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One iteration is one step: analyze, propose, verify, evaluate, decide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specialist picks the route; if that proposal is turned down it may hand the same step to the other proposer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An accepted change becomes the current program and clears the "already tried" list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loop ends when nothing was accepted and no opportunity is left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The Verify and Cost Gates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0866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6842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# src/agents/orchestrator.py  (trimmed)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_judge(self, iteration, current, proposal, logger, proposals):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3. VERIFY: the same gate for rule-based and LLM proposals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ver_result = self.verifier.verify(current, proposal.candidate)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logger.log_verification(iteration, ver_result)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ver_result.passed: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logger.log_reject(iteration,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"Verification failed"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"invalid"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4. EVALUATE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old_cost = self.cost_evaluator.evaluate(current)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new_cost = self.cost_evaluator.evaluate(proposal.candidate)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logger.log_cost(iteration, old_cost, new_cost)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5. ACCEPT / REJECT: the cost must strictly drop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self.cost_evaluator.is_improvement(old_cost, new_cost):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logger.log_reject(iteration,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"No cost improvement"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"rejected"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logger.log_accept(iteration,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"Cost reduced"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"accepted"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1280160"/>
            <a:ext cx="3776472" cy="2834640"/>
          </a:xfrm>
          <a:prstGeom prst="roundRect">
            <a:avLst>
              <a:gd name="adj" fmla="val 2580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1481328"/>
            <a:ext cx="3374136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150" b="0">
                <a:solidFill>
                  <a:srgbClr val="9CA3AF"/>
                </a:solidFill>
                <a:latin typeface="Consolas"/>
              </a:rPr>
              <a:t xml:space="preserve"># src/agents/cost_evaluator.py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WEIGHTS = {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"instruction_count"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1.0,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"arithmetic_ops"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   2.0,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"temp_vars"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        0.5,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"memory_ops"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       1.5,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"branch_ops"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       1.0,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}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is_improvement(self, old, new):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(new.weighted_total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    &lt; old.weighted_total)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297680"/>
            <a:ext cx="377647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4462272"/>
            <a:ext cx="331927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Rule-based and LLM proposals share this path: an LLM answer gets no shortcut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A correct change that is not cheaper is still rejected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The Routing Decision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# src/agents/optimization_specialist.py  (trimmed)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route(self, program, opportunities, llm_calls=0, tried=()):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""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"Decide who proposes next for ``program``."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order = ([Route.RULE, Route.LLM]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self.mode !=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"llm"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else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[Route.LLM, Route.RULE])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self.llm_attached: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order = [Route.RULE]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passed_over, llm_note = [],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order: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tried: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name =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"rule-based"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Route.RULE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else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"LLM"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passed_over.append(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f"the {name} proposal was turned down"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Route.RULE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opportunities: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passed_over.append(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"the rules have nothing left to try"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Route.LLM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llm_note := self._llm_blocker(program, llm_calls)):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passed_over.append(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f"LLM not used, {llm_note}"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else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reason = self._reason(route, opportunities, passed_over)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RoutingDecision(route, reason, llm_note)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RoutingDecision(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"; 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.join(passed_over), llm_note)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mode sets the order: rules first (hybrid) or LLM first (llm)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A route is skipped if its proposal was just turned down, the rules have nothing, or the LLM is blocked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LLM blockers: not running, call budget used up, or the program is already provably minimal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Each decision carries its reason, which becomes a [ROUTE] line in the log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Finding an Opportunity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# src/agents/code_analyzer.py  (trimmed)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_strength_reduction(self, instrs):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out = []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i, ins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enumerate(instrs):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ins.op != TACOp.BINARY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ins.operator !=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"*"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continue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is_literal(ins.arg2)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is_variable(ins.arg1):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var, const = ins.arg1, int(ins.arg2)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is_literal(ins.arg1)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is_variable(ins.arg2):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var, const = ins.arg2, int(ins.arg1)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else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continue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const &lt; 2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const &amp; (const - 1):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continue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not a power of two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k = const.bit_length() - 1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k &gt; MAX_SHIFT: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continue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x &lt;&lt; k would be an invalid shift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k == 1: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new = {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"operator"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"+"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"arg1"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 var,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"arg2"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 var}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x*2 -&gt; x+x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else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new = {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"operator"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"&lt;&lt;"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"arg1"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 var,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"arg2"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 str(k)}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out.append(_make(OpportunityType.STRENGTH_REDUCTION, i, ...))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Each of the six detectors returns Opportunity objects: type, priority, location, description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Here: x × 2 becomes x + x, and x × 2^k becomes a shift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k &gt; 64 guard came out of fuzz testing: the interpreter rejects larger shifts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rule-based optimizer then applies exactly one opportunity to a copy of the program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The Prompt Sent to the LLM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You are a compiler optimization expert. Given this Three-Address Code (TAC),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propose exactly ONE semantics-preserving optimization.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Original TAC: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{tac_string}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Rules: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1. The optimized code MUST produce identical output for ALL possible inputs.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2. Apply exactly one optimization: constant folding, dead code elimination,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common subexpression elimination, algebraic simplification, strength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reduction, or copy propagation.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3. Return ONLY the modified TAC inside &lt;tac&gt; tags, nothing else outside.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4. Explain your optimization in one line inside &lt;reasoning&gt; tags.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TAC syntax (one instruction per line, keep exactly this syntax):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x = y            x = a op b   (op: + - * / % &lt;&lt; == != &lt; &gt; &lt;= &gt;= &amp;&amp; ||)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x = -a           x = !a       L0:      goto L0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if a goto L0     ifFalse a goto L0     print a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Variables that are read before being written are program inputs. Integer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division truncates toward zero; dividing by zero is a runtime error.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Format: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&lt;reasoning&gt;your explanation&lt;/reasoning&gt;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&lt;tac&gt;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modified TAC here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&lt;/tac&gt;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One prompt for all three LLMs, so their results are comparable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It asks for exactly one change, in strict TAC syntax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reply must carry &lt;reasoning&gt; and &lt;tac&gt; blocks; anything else is discarded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model's answer is only a suggestion: it still has to pass the verifier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Blank lines are removed here to fit the slide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Calling the LLM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# src/agents/optimizer_llm.py  (trimmed)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propose(self, program):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self.available: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f"LLM unavailable: {self.unavailable_reason}"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try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text = self._complete(self._build_prompt(program))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except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_LLMUnavailable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exc: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quota spent, server gone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self._disable(str(exc))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f"LLM unavailable: {self.unavailable_reason}"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except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_LLMSkip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exc: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only this call failed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str(exc)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self._parse_text(text, program)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_parse_text(text, original):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tac_match = _TAC_RE.search(text)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tac_match: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"no &lt;tac&gt; block in LLM response"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candidate = parse_llm_tac(tac_match.group(1))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candidate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"could not parse LLM TAC"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candidate == original: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"LLM returned unchanged TAC"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candidate, reasoning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A backend only implements _complete(prompt): Gemini through its SDK, Groq and Ollama through plain HTTP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Two kinds of failure: skip this one proposal, or switch the LLM off for the rest of the run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Unparseable or unchanged TAC never reaches the verifier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If the LLM switches off, the run continues rule-based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The Verifier's Input Sets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# src/agents/verifier.py  (trimmed)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input_sets(self, variables, constants=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rng = random.Random(self.seed)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lo, hi = self.value_range    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-100 .. 100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sets = [{v: rng.randint(lo, hi)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variables}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range(self.num_random)]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20 random sets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edge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(0, 1, -1, 99, -99):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5 edge cases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sets.append({v: edge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variables})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pool = []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variables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constants:  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c-1, c, c+1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pool = sorted({k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sorted(constants)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k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(c - 1, c, c + 1)})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sets.extend({v: k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variables}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k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pool)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sets.extend(self._small_scope_sets(variables, rng))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sets.extend(self._pairwise_sets(variables, pool))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sets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_small_scope_sets(self, variables, rng):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values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SMALL_SCOPES:  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widest range first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len(values) ** len(variables) &lt;= self.max_small_scope: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[dict(zip(variables, combo))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combo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  itertools.product(values, repeat=len(variables))]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Original and candidate run on every set; printed output and failure mode must match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Small scope: every combination of small values, so one input can be zero while another is not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Pairwise: every two inputs meet every two boundary values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No inputs at all: one execution, so a match is a proof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Verification Deep Dive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7772400" cy="3401568"/>
        </p:xfrm>
        <a:graphic>
          <a:graphicData uri="http://schemas.openxmlformats.org/drawingml/2006/table">
            <a:tbl>
              <a:tblPr/>
              <a:tblGrid>
                <a:gridCol w="1600200"/>
                <a:gridCol w="3246120"/>
                <a:gridCol w="292608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Input sets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What is tried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What it catches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Random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20 sets, values in -100..100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General differences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Edge cases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All inputs 0, 1, -1, 99, -99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Zero and sign handling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Boundary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c-1, c, c+1 for every literal c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Off-by-one comparisons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1"/>
                          </a:solidFill>
                          <a:latin typeface="Calibri"/>
                        </a:rPr>
                        <a:t>Small scope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Every combination of small values (one input: -128..128)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&amp;&amp; against ||, a branch on a flag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1"/>
                          </a:solidFill>
                          <a:latin typeface="Calibri"/>
                        </a:rPr>
                        <a:t>Pairwise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Every two inputs × every two boundary values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Two inputs that must line up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480060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chemeClr val="accent1"/>
                </a:solidFill>
              </a:rPr>
              <a:t xml:space="preserve">Small scope</a:t>
            </a:r>
            <a:r>
              <a:rPr sz="1400" b="0">
                <a:solidFill>
                  <a:schemeClr val="tx2"/>
                </a:solidFill>
              </a:rPr>
              <a:t xml:space="preserve"> and </a:t>
            </a:r>
            <a:r>
              <a:rPr sz="1400" b="1">
                <a:solidFill>
                  <a:schemeClr val="accent1"/>
                </a:solidFill>
              </a:rPr>
              <a:t xml:space="preserve">pairwise</a:t>
            </a:r>
            <a:r>
              <a:rPr sz="1400" b="0">
                <a:solidFill>
                  <a:schemeClr val="tx2"/>
                </a:solidFill>
              </a:rPr>
              <a:t xml:space="preserve"> were added after mutation testing exposed a gap.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1280160"/>
            <a:ext cx="3090672" cy="1051560"/>
          </a:xfrm>
          <a:prstGeom prst="roundRect">
            <a:avLst>
              <a:gd name="adj" fmla="val 6956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32520" y="155448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15544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chemeClr val="bg1"/>
                </a:solidFill>
              </a:rPr>
              <a:t xml:space="preserve"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138988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Differential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1691640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chemeClr val="tx2"/>
                </a:solidFill>
              </a:rPr>
              <a:t xml:space="preserve">Output and failure mode must match on every input 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9640" y="2468880"/>
            <a:ext cx="3090672" cy="1051560"/>
          </a:xfrm>
          <a:prstGeom prst="roundRect">
            <a:avLst>
              <a:gd name="adj" fmla="val 6956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32520" y="274320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2743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chemeClr val="bg1"/>
                </a:solidFill>
              </a:rPr>
              <a:t xml:space="preserve"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57860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Symbolic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880360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chemeClr val="tx2"/>
                </a:solidFill>
              </a:rPr>
              <a:t xml:space="preserve">Straight-line code: canonical polynomials, so x·2 = x+x = x&lt;&lt;1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49640" y="3657600"/>
            <a:ext cx="3090672" cy="1051560"/>
          </a:xfrm>
          <a:prstGeom prst="roundRect">
            <a:avLst>
              <a:gd name="adj" fmla="val 6956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32520" y="393192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3931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chemeClr val="bg1"/>
                </a:solidFill>
              </a:rPr>
              <a:t xml:space="preserve"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376732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069080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chemeClr val="tx2"/>
                </a:solidFill>
              </a:rPr>
              <a:t xml:space="preserve">A correct change is still rejected unless the cost strictly drops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accent2">
              <a:alpha val="12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212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chemeClr val="accent2"/>
                </a:solidFill>
              </a:rPr>
              <a:t xml:space="preserve">Strength of the guarantee: </a:t>
            </a:r>
            <a:r>
              <a:rPr sz="1400" b="0">
                <a:solidFill>
                  <a:schemeClr val="tx1"/>
                </a:solidFill>
              </a:rPr>
              <a:t xml:space="preserve">proven for programs with no inputs and for straight-line code; tested on hundreds of input sets for branching code with inputs. The finished program is re-verified against the original.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Validation: Testing the System Itself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444752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4000" b="1">
                <a:solidFill>
                  <a:schemeClr val="accent1"/>
                </a:solidFill>
              </a:rPr>
              <a:t xml:space="preserve">5,100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28600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random TAC programs: 20,968 rule proposals checked on inputs the verifier does not use, none unsound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76879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5479" y="1444752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4000" b="1">
                <a:solidFill>
                  <a:schemeClr val="accent1"/>
                </a:solidFill>
              </a:rPr>
              <a:t xml:space="preserve">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5479" y="228600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deliberately broken programs: none slips past the verifier now (13 of the first 400 did before)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5118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3718" y="1444752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4000" b="1">
                <a:solidFill>
                  <a:schemeClr val="accent1"/>
                </a:solidFill>
              </a:rPr>
              <a:t xml:space="preserve">64,620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3718" y="228600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re-executions of the Gemini results on small-scope and random inputs, no mismatch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33358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1958" y="1444752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4000" b="1">
                <a:solidFill>
                  <a:schemeClr val="accent2"/>
                </a:solidFill>
              </a:rPr>
              <a:t xml:space="preserve">383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1958" y="228600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recorded Gemini replies replayed through the stronger verifier: the same decision every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9476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 xml:space="preserve">Bugs found and fixed</a:t>
            </a:r>
          </a:p>
        </p:txBody>
      </p:sp>
      <p:sp>
        <p:nvSpPr>
          <p:cNvPr id="39" name="Oval 38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462272"/>
            <a:ext cx="237744" cy="23774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88720" y="4297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Verifier input gap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462686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 xml:space="preserve">Wrong changes that only showed for certain zero / non-zero input mixes could pass</a:t>
            </a:r>
          </a:p>
        </p:txBody>
      </p:sp>
      <p:sp>
        <p:nvSpPr>
          <p:cNvPr id="43" name="Oval 42"/>
          <p:cNvSpPr/>
          <p:nvPr/>
        </p:nvSpPr>
        <p:spPr>
          <a:xfrm>
            <a:off x="6217920" y="4352544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4462272"/>
            <a:ext cx="237744" cy="2377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58000" y="4297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Strength reduction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62686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 xml:space="preserve">x × 2^k was rewritten to a shift even for k &gt; 64, which fails at run time</a:t>
            </a:r>
          </a:p>
        </p:txBody>
      </p:sp>
      <p:sp>
        <p:nvSpPr>
          <p:cNvPr id="47" name="Oval 46"/>
          <p:cNvSpPr/>
          <p:nvPr/>
        </p:nvSpPr>
        <p:spPr>
          <a:xfrm>
            <a:off x="548640" y="528523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394960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88720" y="52303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Ollama on old GPU drivers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555955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 xml:space="preserve">The GPU runner crashed on load; the call now repeats on the CPU</a:t>
            </a:r>
          </a:p>
        </p:txBody>
      </p:sp>
      <p:sp>
        <p:nvSpPr>
          <p:cNvPr id="51" name="Oval 50"/>
          <p:cNvSpPr/>
          <p:nvPr/>
        </p:nvSpPr>
        <p:spPr>
          <a:xfrm>
            <a:off x="6217920" y="528523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5394960"/>
            <a:ext cx="237744" cy="23774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858000" y="52303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Metrics table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555955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 xml:space="preserve">The LLM validity rate read "n/a %" when an LLM made no proposals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Demo: A Real C Program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1  The C program (demo_programs/3_loop.c)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69164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1892808"/>
            <a:ext cx="4992624" cy="302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8FB8F0"/>
                </a:solidFill>
                <a:latin typeface="Consolas"/>
              </a:rPr>
              <a:t xml:space="preserve">#include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300" b="0">
                <a:solidFill>
                  <a:srgbClr val="7FD27F"/>
                </a:solidFill>
                <a:latin typeface="Consolas"/>
              </a:rPr>
              <a:t xml:space="preserve">&lt;stdio.h&gt;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/* A loop with work that does not need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to be redone every time. */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8FB8F0"/>
                </a:solidFill>
                <a:latin typeface="Consolas"/>
              </a:rPr>
              <a:t xml:space="preserve">int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main()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300" b="0">
                <a:solidFill>
                  <a:srgbClr val="8FB8F0"/>
                </a:solidFill>
                <a:latin typeface="Consolas"/>
              </a:rPr>
              <a:t xml:space="preserve">int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sum = 0;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3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(</a:t>
            </a:r>
            <a:r>
              <a:rPr sz="1300" b="0">
                <a:solidFill>
                  <a:srgbClr val="8FB8F0"/>
                </a:solidFill>
                <a:latin typeface="Consolas"/>
              </a:rPr>
              <a:t xml:space="preserve">int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i = 0; i &lt; 10; i++)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300" b="0">
                <a:solidFill>
                  <a:srgbClr val="8FB8F0"/>
                </a:solidFill>
                <a:latin typeface="Consolas"/>
              </a:rPr>
              <a:t xml:space="preserve">int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step = 2 + 3;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sum += step * 1;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printf(</a:t>
            </a:r>
            <a:r>
              <a:rPr sz="1300" b="0">
                <a:solidFill>
                  <a:srgbClr val="7FD27F"/>
                </a:solidFill>
                <a:latin typeface="Consolas"/>
              </a:rPr>
              <a:t xml:space="preserve">"%d\n"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, sum);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3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0;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1280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2  Front end: C → AST → Three-Address Code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169164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1874520"/>
            <a:ext cx="2468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0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t0 = 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1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sum = t0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2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t1 = 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3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i = t1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4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L0: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5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t2 = 10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6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t3 = i &lt; t2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7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ifFalse t3 goto L1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8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t4 = 2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9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t5 = 3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10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t6 = t4 + t5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1874520"/>
            <a:ext cx="2468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11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step = t6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12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t7 = 1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13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t8 = step * t7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14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t9 = sum + t8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15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sum = t9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16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t10 = 1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17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t11 = i + t10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18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i = t11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19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goto L0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20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L1: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21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print sum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73952" y="4279392"/>
            <a:ext cx="4937760" cy="0"/>
          </a:xfrm>
          <a:prstGeom prst="line">
            <a:avLst/>
          </a:prstGeom>
          <a:ln w="12700">
            <a:solidFill>
              <a:srgbClr val="374151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6473952" y="43891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E5E7EB"/>
                </a:solidFill>
                <a:latin typeface="Consolas"/>
              </a:rPr>
              <a:t xml:space="preserve">22 instructions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· 4 arithmetic · 12 temporaries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12 copies · 2 branches · </a:t>
            </a:r>
            <a:r>
              <a:rPr sz="1200" b="1">
                <a:solidFill>
                  <a:srgbClr val="F5C06B"/>
                </a:solidFill>
                <a:latin typeface="Consolas"/>
              </a:rPr>
              <a:t xml:space="preserve">weighted cost = 56.0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9808" y="548640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9" y="5607101"/>
            <a:ext cx="261518" cy="26151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463040" y="5303520"/>
            <a:ext cx="9948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chemeClr val="accent1"/>
                </a:solidFill>
                <a:latin typeface="Consolas"/>
              </a:rPr>
              <a:t xml:space="preserve">py demo.py demo_programs/3_loop.c --use-llm --llm-provider groq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chemeClr val="tx1"/>
                </a:solidFill>
              </a:rPr>
              <a:t xml:space="preserve">The demo walks one program through all six stages, pausing between them. What follows is a real run.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Demo: The Agent at Work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508760"/>
            <a:ext cx="10634472" cy="4434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8FB8F0"/>
                </a:solidFill>
                <a:latin typeface="Consolas"/>
              </a:rPr>
              <a:t xml:space="preserve">STAGE 3  Agent loop: Analyze -&gt; Propose -&gt; Verify -&gt; Evaluate -&gt; Accept/Reject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9CA3AF"/>
                </a:solidFill>
                <a:latin typeface="Consolas"/>
              </a:rPr>
              <a:t xml:space="preserve">  Routing: hybrid (rules first, the LLM when they are turned down or run out)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9CA3AF"/>
                </a:solidFill>
                <a:latin typeface="Consolas"/>
              </a:rPr>
              <a:t xml:space="preserve">  LLM: groq openai/gpt-oss-120b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[ 1] COPY_PROPAGATION   t0 = 0 -&gt; uses of t0 -&gt; 0 at instr 1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verified  cost 56.0 -&gt; 53.0   </a:t>
            </a:r>
            <a:r>
              <a:rPr sz="1300" b="1">
                <a:solidFill>
                  <a:srgbClr val="7FD27F"/>
                </a:solidFill>
                <a:latin typeface="Consolas"/>
              </a:rPr>
              <a:t xml:space="preserve">ACCEPTED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[ 6] CONSTANT_FOLD      t6 = 2 + 3 -&gt; t6 = 5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verified  cost 41.0 -&gt; 40.5   </a:t>
            </a:r>
            <a:r>
              <a:rPr sz="1300" b="1">
                <a:solidFill>
                  <a:srgbClr val="7FD27F"/>
                </a:solidFill>
                <a:latin typeface="Consolas"/>
              </a:rPr>
              <a:t xml:space="preserve">ACCEPTED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9CA3AF"/>
                </a:solidFill>
                <a:latin typeface="Consolas"/>
              </a:rPr>
              <a:t xml:space="preserve">  ...  steps 2 to 13: copy propagation and folding, each verified and accepted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[14] COPY_PROPAGATION   t11 = i + 1; i = t11 -&gt; i = i + 1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verified  cost 22.5 -&gt; 19.5   </a:t>
            </a:r>
            <a:r>
              <a:rPr sz="1300" b="1">
                <a:solidFill>
                  <a:srgbClr val="7FD27F"/>
                </a:solidFill>
                <a:latin typeface="Consolas"/>
              </a:rPr>
              <a:t xml:space="preserve">ACCEPTED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9CA3AF"/>
                </a:solidFill>
                <a:latin typeface="Consolas"/>
              </a:rPr>
              <a:t xml:space="preserve">       No more opportunities found.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9CA3AF"/>
                </a:solidFill>
                <a:latin typeface="Consolas"/>
              </a:rPr>
              <a:t xml:space="preserve">       route to LLM optimizer (groq openai/gpt-oss-120b): the rules have nothing left to try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[15] LLM (Groq)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Algebraic simplification: the loop adds a constant 5 exactly ten times,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so replace it with sum = 5*10 = 50 and eliminate the dead loop.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verified  cost 19.5 -&gt; 3.5    </a:t>
            </a:r>
            <a:r>
              <a:rPr sz="1300" b="1">
                <a:solidFill>
                  <a:srgbClr val="7FD27F"/>
                </a:solidFill>
                <a:latin typeface="Consolas"/>
              </a:rPr>
              <a:t xml:space="preserve">ACCEPTED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[16] COPY_PROPAGATION   sum = 50 -&gt; uses of sum -&gt; 50 at instr 1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verified  cost 3.5 -&gt; 1.0     </a:t>
            </a:r>
            <a:r>
              <a:rPr sz="1300" b="1">
                <a:solidFill>
                  <a:srgbClr val="7FD27F"/>
                </a:solidFill>
                <a:latin typeface="Consolas"/>
              </a:rPr>
              <a:t xml:space="preserve">ACCEPTED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9CA3AF"/>
                </a:solidFill>
                <a:latin typeface="Consolas"/>
              </a:rPr>
              <a:t xml:space="preserve">       LLM not consulted: program is only constant prints (provably minimal)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finished in 17 iterations (0.9 s)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Demo: Result and Proof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1600200"/>
          </a:xfrm>
          <a:prstGeom prst="roundRect">
            <a:avLst>
              <a:gd name="adj" fmla="val 4571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444752"/>
            <a:ext cx="30906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600" b="1">
                <a:solidFill>
                  <a:schemeClr val="accent1"/>
                </a:solidFill>
              </a:rPr>
              <a:t xml:space="preserve">56.0 → 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28600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weighted 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017520"/>
            <a:ext cx="3547872" cy="1600200"/>
          </a:xfrm>
          <a:prstGeom prst="roundRect">
            <a:avLst>
              <a:gd name="adj" fmla="val 4571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182112"/>
            <a:ext cx="30906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600" b="1">
                <a:solidFill>
                  <a:schemeClr val="accent2"/>
                </a:solidFill>
              </a:rPr>
              <a:t xml:space="preserve">98.2%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02336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cost reduction, 22 instructions down to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754880"/>
            <a:ext cx="3547872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73752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9CA3AF"/>
                </a:solidFill>
                <a:latin typeface="Consolas"/>
              </a:rPr>
              <a:t xml:space="preserve">Optimized TAC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7FD27F"/>
                </a:solidFill>
                <a:latin typeface="Consolas"/>
              </a:rPr>
              <a:t xml:space="preserve">print 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5112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4  Suggestions made by the agent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325112" y="1691640"/>
          <a:ext cx="7315200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1234440"/>
                <a:gridCol w="123444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Suggested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Invalid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Rule-based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LLM (Groq)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325112" y="3703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6  Proof: both versions are run and compared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5112" y="4114800"/>
            <a:ext cx="7315200" cy="2057400"/>
          </a:xfrm>
          <a:prstGeom prst="roundRect">
            <a:avLst>
              <a:gd name="adj" fmla="val 355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4315968"/>
            <a:ext cx="6912864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50" b="1">
                <a:solidFill>
                  <a:srgbClr val="8FB8F0"/>
                </a:solidFill>
                <a:latin typeface="Consolas"/>
              </a:rPr>
              <a:t xml:space="preserve">STAGE 6  Proof: the optimized program behaves the same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original : prints [50]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optimized: prints [50]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</a:t>
            </a:r>
            <a:r>
              <a:rPr sz="1250" b="1">
                <a:solidFill>
                  <a:srgbClr val="7FD27F"/>
                </a:solidFill>
                <a:latin typeface="Consolas"/>
              </a:rPr>
              <a:t xml:space="preserve">identical output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verifier, final check against the original: </a:t>
            </a:r>
            <a:r>
              <a:rPr sz="1250" b="1">
                <a:solidFill>
                  <a:srgbClr val="7FD27F"/>
                </a:solidFill>
                <a:latin typeface="Consolas"/>
              </a:rPr>
              <a:t xml:space="preserve">PASS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Key Metrics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878324"/>
        </p:xfrm>
        <a:graphic>
          <a:graphicData uri="http://schemas.openxmlformats.org/drawingml/2006/table">
            <a:tbl>
              <a:tblPr/>
              <a:tblGrid>
                <a:gridCol w="3410712"/>
                <a:gridCol w="1920240"/>
                <a:gridCol w="1920240"/>
                <a:gridCol w="1920240"/>
                <a:gridCol w="1920240"/>
              </a:tblGrid>
              <a:tr h="44348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only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+ Gemini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+ Groq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+ Ollama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Average cost reduction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82.49%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1"/>
                          </a:solidFill>
                          <a:latin typeface="Calibri"/>
                        </a:rPr>
                        <a:t>91.50%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90.89%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83.28%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Programs with &gt;30% reduction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500 / 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500 / 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500 / 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500 / 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Total proposals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10,628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10,978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11,085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10,805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10,517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10,828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10,925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10,579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Verification pass rate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100.00%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99.76%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99.95%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98.95%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Acceptance rate (of verified)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98.96%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98.87%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98.61%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98.94%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Steps to convergence (mean)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22.2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22.7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22.9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22.3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LLM validity rate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92.35%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98.11%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42.93%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Wrong LLM proposals blocked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False positives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Cost Reduction by Category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114800"/>
        </p:xfrm>
        <a:graphic>
          <a:graphicData uri="http://schemas.openxmlformats.org/drawingml/2006/table">
            <a:tbl>
              <a:tblPr/>
              <a:tblGrid>
                <a:gridCol w="2423160"/>
                <a:gridCol w="1280160"/>
                <a:gridCol w="1847088"/>
                <a:gridCol w="1847088"/>
                <a:gridCol w="1847088"/>
                <a:gridCol w="1847088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Programs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only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+ Gemini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+ Groq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+ Ollama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Arithmetic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96.0%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96.0%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96.0%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96.0%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Nested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98.1%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98.3%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Repeated expr.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80.7%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81.7%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80.9%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80.7%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Dead code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97.4%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97.4%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97.4%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97.4%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Loops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65.0%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93.3%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93.4%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66.1%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Conditionals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73.9%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84.1%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83.5%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75.2%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77.9%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91.6%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89.3%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82.5%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91.5%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90.9%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83.3%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chemeClr val="tx1"/>
                </a:solidFill>
              </a:rPr>
              <a:t xml:space="preserve">The rules alone already do well on straight-line code. LLMs matter where the rules cannot remove a loop or a branch.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chemeClr val="tx1"/>
                </a:solidFill>
              </a:rPr>
              <a:t xml:space="preserve">Programs improved over rules only:  </a:t>
            </a:r>
            <a:r>
              <a:rPr sz="1400" b="0">
                <a:solidFill>
                  <a:schemeClr val="tx1"/>
                </a:solidFill>
              </a:rPr>
              <a:t xml:space="preserve">Gemini 196  ·  Groq 181  ·  Ollama 32</a:t>
            </a:r>
            <a:r>
              <a:rPr sz="1400" b="0">
                <a:solidFill>
                  <a:schemeClr val="tx1"/>
                </a:solidFill>
              </a:rPr>
              <a:t xml:space="preserve">  ·  none worse in any run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Four Configurations Compared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11091672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1"/>
                </a:solidFill>
              </a:rPr>
              <a:t xml:space="preserve">Average cost reduction per category. Loops, conditionals and mixed programs are where an LLM adds the most.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Rules Only vs. Rules + Groq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8092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915400" y="1280160"/>
            <a:ext cx="2724912" cy="4846320"/>
          </a:xfrm>
          <a:prstGeom prst="roundRect">
            <a:avLst>
              <a:gd name="adj" fmla="val 268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50876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What it shows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011680"/>
            <a:ext cx="231343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Loops: </a:t>
            </a:r>
            <a:r>
              <a:rPr sz="1600" b="0">
                <a:solidFill>
                  <a:schemeClr val="tx1"/>
                </a:solidFill>
              </a:rPr>
              <a:t xml:space="preserve">65.0% → 93.4%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Conditionals: </a:t>
            </a:r>
            <a:r>
              <a:rPr sz="1600" b="0">
                <a:solidFill>
                  <a:schemeClr val="tx1"/>
                </a:solidFill>
              </a:rPr>
              <a:t xml:space="preserve">73.9% → 83.5%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Mixed: </a:t>
            </a:r>
            <a:r>
              <a:rPr sz="1600" b="0">
                <a:solidFill>
                  <a:schemeClr val="tx1"/>
                </a:solidFill>
              </a:rPr>
              <a:t xml:space="preserve">77.9% → 89.3%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181 programs improved</a:t>
            </a:r>
            <a:r>
              <a:rPr sz="1600" b="0">
                <a:solidFill>
                  <a:schemeClr val="tx1"/>
                </a:solidFill>
              </a:rPr>
              <a:t xml:space="preserve">, none got worse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Rules Only vs. Rules + Ollama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8092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915400" y="1280160"/>
            <a:ext cx="2724912" cy="4846320"/>
          </a:xfrm>
          <a:prstGeom prst="roundRect">
            <a:avLst>
              <a:gd name="adj" fmla="val 268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50876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What it shows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011680"/>
            <a:ext cx="231343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Loops: </a:t>
            </a:r>
            <a:r>
              <a:rPr sz="1600" b="0">
                <a:solidFill>
                  <a:schemeClr val="tx1"/>
                </a:solidFill>
              </a:rPr>
              <a:t xml:space="preserve">65.0% → 66.1%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Conditionals: </a:t>
            </a:r>
            <a:r>
              <a:rPr sz="1600" b="0">
                <a:solidFill>
                  <a:schemeClr val="tx1"/>
                </a:solidFill>
              </a:rPr>
              <a:t xml:space="preserve">73.9% → 75.2%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Mixed: </a:t>
            </a:r>
            <a:r>
              <a:rPr sz="1600" b="0">
                <a:solidFill>
                  <a:schemeClr val="tx1"/>
                </a:solidFill>
              </a:rPr>
              <a:t xml:space="preserve">77.9% → 80.0%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32 programs improved</a:t>
            </a:r>
            <a:r>
              <a:rPr sz="1600" b="0">
                <a:solidFill>
                  <a:schemeClr val="tx1"/>
                </a:solidFill>
              </a:rPr>
              <a:t xml:space="preserve">, none got worse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A small local model: modest gains, but with no internet at all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Comparing the Three LLMs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882896"/>
        </p:xfrm>
        <a:graphic>
          <a:graphicData uri="http://schemas.openxmlformats.org/drawingml/2006/table">
            <a:tbl>
              <a:tblPr/>
              <a:tblGrid>
                <a:gridCol w="3383280"/>
                <a:gridCol w="2569464"/>
                <a:gridCol w="2569464"/>
                <a:gridCol w="2569464"/>
              </a:tblGrid>
              <a:tr h="40690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Groq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Ollama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gemini-3.1-flash-lite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gpt-oss-120b (+1 fallback)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qwen2.5-coder:7b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Runs 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Google cloud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Groq cloud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This laptop (CPU)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Average cost reduction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91.50%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90.89%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83.28%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Programs improved over rules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181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Calls to the model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383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359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328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Usable proposals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340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318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262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248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Wrong, blocked by the verifier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Validity rate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92.35%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98.11%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42.93%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Full-run time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43 min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42 min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 h 14 min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False positives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Example: Agent Decision Log with Routing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1508760"/>
            <a:ext cx="800100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8FB8F0"/>
                </a:solidFill>
                <a:latin typeface="Consolas"/>
              </a:rPr>
              <a:t xml:space="preserve">=== Program: loops_001.src ===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--- Iteration 20 ---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[ANALYZE] Found 1 opportunity: COPY_PROPAGATION (priority=50)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5C06B"/>
                </a:solidFill>
                <a:latin typeface="Consolas"/>
              </a:rPr>
              <a:t xml:space="preserve">  [ROUTE]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Rule-based optimizer: highest-priority opportunity is COPY_PROPAGATION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[PROPOSE] COPY_PROPAGATION at instr 10: t15 = acc -&gt; uses of t15 -&gt; acc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[VERIFY]  </a:t>
            </a:r>
            <a:r>
              <a:rPr sz="1200" b="1">
                <a:solidFill>
                  <a:srgbClr val="7FD27F"/>
                </a:solidFill>
                <a:latin typeface="Consolas"/>
              </a:rPr>
              <a:t xml:space="preserve">PASS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(differential: 25/25 inputs matched)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[COST]    Before: 23.0, After: 20.0 (reduction: 13.0%)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7FD27F"/>
                </a:solidFill>
                <a:latin typeface="Consolas"/>
              </a:rPr>
              <a:t xml:space="preserve">  [ACCEPT]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  Change accepted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--- Iteration 21 ---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[ANALYZE] No more opportunities found.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5C06B"/>
                </a:solidFill>
                <a:latin typeface="Consolas"/>
              </a:rPr>
              <a:t xml:space="preserve">  [ROUTE]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LLM optimizer (groq openai/gpt-oss-120b): the rules have nothing left to try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FB8F0"/>
                </a:solidFill>
                <a:latin typeface="Consolas"/>
              </a:rPr>
              <a:t xml:space="preserve">  [LLM]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  Dead code elimination: the loop only assigns the constant 42 to acc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repeatedly, so it can be replaced by a single assignment.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[VERIFY]  </a:t>
            </a:r>
            <a:r>
              <a:rPr sz="1200" b="1">
                <a:solidFill>
                  <a:srgbClr val="7FD27F"/>
                </a:solidFill>
                <a:latin typeface="Consolas"/>
              </a:rPr>
              <a:t xml:space="preserve">PASS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(differential: 25/25 inputs matched)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[COST]    Before: 20.0, After: 4.5 (reduction: 77.5%)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7FD27F"/>
                </a:solidFill>
                <a:latin typeface="Consolas"/>
              </a:rPr>
              <a:t xml:space="preserve">  [ACCEPT]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  Change accepted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--- Iteration 23 ---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[ANALYZE] No more opportunities found.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9CA3AF"/>
                </a:solidFill>
                <a:latin typeface="Consolas"/>
              </a:rPr>
              <a:t xml:space="preserve">  [INFO]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 LLM not consulted: program is only constant prints (provably minimal)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FB8F0"/>
                </a:solidFill>
                <a:latin typeface="Consolas"/>
              </a:rPr>
              <a:t xml:space="preserve">=== RESULT === 72.5 -&gt; 2.0 (97.2% reduction)   Output match: PASS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06840" y="1554480"/>
            <a:ext cx="0" cy="4343400"/>
          </a:xfrm>
          <a:prstGeom prst="line">
            <a:avLst/>
          </a:prstGeom>
          <a:ln w="12700">
            <a:solidFill>
              <a:srgbClr val="374151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9235440" y="1508760"/>
            <a:ext cx="22402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9CA3AF"/>
                </a:solidFill>
                <a:latin typeface="Consolas"/>
              </a:rPr>
              <a:t xml:space="preserve">Original TAC (28)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t0 = 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acc = t0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t1 = 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i = t1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L0: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t2 = 11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t3 = i &lt; t2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ifFalse t3 goto L1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t4 = 2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t5 = 1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t6 = t4 + t5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h = t6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...  (16 more)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7FD27F"/>
                </a:solidFill>
                <a:latin typeface="Consolas"/>
              </a:rPr>
              <a:t xml:space="preserve">Optimized TAC (2)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print 42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print 42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Review 3: Four Additions to the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5431536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672" y="155448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35" y="1690543"/>
            <a:ext cx="294803" cy="29480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72768" y="1499616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chemeClr val="tx1"/>
                </a:solidFill>
              </a:rPr>
              <a:t xml:space="preserve">LLM self-repair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1938528"/>
            <a:ext cx="4206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A rejected LLM answer is sent back with the verifier's counterexample or the syntax error, and the model gets one more try.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1280160"/>
            <a:ext cx="5431536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64808" y="1554480"/>
            <a:ext cx="566928" cy="5669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71" y="1690543"/>
            <a:ext cx="294803" cy="29480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32904" y="1499616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chemeClr val="tx1"/>
                </a:solidFill>
              </a:rPr>
              <a:t xml:space="preserve">Execution time in the cost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2904" y="1938528"/>
            <a:ext cx="4206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The Cost Evaluator now also measures how long a program runs, so work inside a loop counts once per iteration.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154680"/>
            <a:ext cx="5431536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4672" y="3429000"/>
            <a:ext cx="566928" cy="5669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35" y="3565063"/>
            <a:ext cx="294803" cy="29480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572768" y="3374136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chemeClr val="tx1"/>
                </a:solidFill>
              </a:rPr>
              <a:t xml:space="preserve">SMT verification with Z3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3813048"/>
            <a:ext cx="4206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Programs with branches but no loops are proved equivalent for every input, not only tested on some.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08776" y="3154680"/>
            <a:ext cx="5431536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64808" y="3429000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71" y="3565063"/>
            <a:ext cx="294803" cy="29480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232904" y="3374136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chemeClr val="tx1"/>
                </a:solidFill>
              </a:rPr>
              <a:t xml:space="preserve">A dataset of real programs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2904" y="3813048"/>
            <a:ext cx="4206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500 accepted Codeforces submissions from 207 problems, in the same seven categories as the generated set.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029200"/>
            <a:ext cx="10543032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>
                <a:solidFill>
                  <a:schemeClr val="accent1"/>
                </a:solidFill>
              </a:rPr>
              <a:t xml:space="preserve">Also new: </a:t>
            </a:r>
            <a:r>
              <a:rPr sz="1500" b="0">
                <a:solidFill>
                  <a:schemeClr val="tx1"/>
                </a:solidFill>
              </a:rPr>
              <a:t xml:space="preserve">runs that can be interrupted and resumed, a guard that keeps the original program if the end-to-end check ever fails, a one-command offline demo with the local model, and </a:t>
            </a:r>
            <a:r>
              <a:rPr sz="1500" b="1">
                <a:solidFill>
                  <a:schemeClr val="tx1"/>
                </a:solidFill>
              </a:rPr>
              <a:t xml:space="preserve">397 automated tests</a:t>
            </a:r>
            <a:r>
              <a:rPr sz="1500" b="0">
                <a:solidFill>
                  <a:schemeClr val="tx1"/>
                </a:solidFill>
              </a:rPr>
              <a:t xml:space="preserve"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LLM Self-Repair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011680" cy="685800"/>
          </a:xfrm>
          <a:prstGeom prst="roundRect">
            <a:avLst>
              <a:gd name="adj" fmla="val 10666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1280160"/>
            <a:ext cx="186537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chemeClr val="tx1"/>
                </a:solidFill>
              </a:rPr>
              <a:t xml:space="preserve">LLM proposes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19095" y="1280160"/>
            <a:ext cx="2011680" cy="685800"/>
          </a:xfrm>
          <a:prstGeom prst="roundRect">
            <a:avLst>
              <a:gd name="adj" fmla="val 10666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92247" y="1280160"/>
            <a:ext cx="186537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chemeClr val="tx1"/>
                </a:solidFill>
              </a:rPr>
              <a:t xml:space="preserve">Verifier or parser rejects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60320" y="1623060"/>
            <a:ext cx="258775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31" name="Rounded Rectangle 30"/>
          <p:cNvSpPr/>
          <p:nvPr/>
        </p:nvSpPr>
        <p:spPr>
          <a:xfrm>
            <a:off x="5089550" y="1280160"/>
            <a:ext cx="2011680" cy="685800"/>
          </a:xfrm>
          <a:prstGeom prst="roundRect">
            <a:avLst>
              <a:gd name="adj" fmla="val 10666"/>
            </a:avLst>
          </a:prstGeom>
          <a:solidFill>
            <a:schemeClr val="accent4">
              <a:alpha val="12000"/>
            </a:schemeClr>
          </a:solidFill>
          <a:ln w="15875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62702" y="1280160"/>
            <a:ext cx="186537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chemeClr val="tx1"/>
                </a:solidFill>
              </a:rPr>
              <a:t xml:space="preserve">Reason is sent back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30775" y="1623060"/>
            <a:ext cx="258775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34" name="Rounded Rectangle 33"/>
          <p:cNvSpPr/>
          <p:nvPr/>
        </p:nvSpPr>
        <p:spPr>
          <a:xfrm>
            <a:off x="7360006" y="1280160"/>
            <a:ext cx="2011680" cy="685800"/>
          </a:xfrm>
          <a:prstGeom prst="roundRect">
            <a:avLst>
              <a:gd name="adj" fmla="val 10666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33158" y="1280160"/>
            <a:ext cx="186537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chemeClr val="tx1"/>
                </a:solidFill>
              </a:rPr>
              <a:t xml:space="preserve">LLM tries once more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01230" y="1623060"/>
            <a:ext cx="258776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37" name="Rounded Rectangle 36"/>
          <p:cNvSpPr/>
          <p:nvPr/>
        </p:nvSpPr>
        <p:spPr>
          <a:xfrm>
            <a:off x="9630461" y="1280160"/>
            <a:ext cx="2011680" cy="685800"/>
          </a:xfrm>
          <a:prstGeom prst="roundRect">
            <a:avLst>
              <a:gd name="adj" fmla="val 10666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03613" y="1280160"/>
            <a:ext cx="186537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chemeClr val="tx1"/>
                </a:solidFill>
              </a:rPr>
              <a:t xml:space="preserve">Same verify and cost gates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71686" y="1623060"/>
            <a:ext cx="258775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40" name="Rounded Rectangle 39"/>
          <p:cNvSpPr/>
          <p:nvPr/>
        </p:nvSpPr>
        <p:spPr>
          <a:xfrm>
            <a:off x="548640" y="2194560"/>
            <a:ext cx="5486400" cy="3977640"/>
          </a:xfrm>
          <a:prstGeom prst="roundRect">
            <a:avLst>
              <a:gd name="adj" fmla="val 1839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2395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What the model is told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2880360"/>
            <a:ext cx="50292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350" b="1">
                <a:solidFill>
                  <a:schemeClr val="tx1"/>
                </a:solidFill>
              </a:rPr>
              <a:t xml:space="preserve">Wrong answer: </a:t>
            </a:r>
            <a:r>
              <a:rPr sz="1350" b="0">
                <a:solidFill>
                  <a:schemeClr val="tx1"/>
                </a:solidFill>
              </a:rPr>
              <a:t xml:space="preserve">"It changes what the program does: output mismatch on inputs {in_n: 5}: original printed [15], candidate printed [10]."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1">
                <a:solidFill>
                  <a:schemeClr val="tx1"/>
                </a:solidFill>
              </a:rPr>
              <a:t xml:space="preserve">Not valid TAC: </a:t>
            </a:r>
            <a:r>
              <a:rPr sz="1350" b="0">
                <a:solidFill>
                  <a:schemeClr val="tx1"/>
                </a:solidFill>
              </a:rPr>
              <a:t xml:space="preserve">"unrecognised instruction 'm = (in_n + 1) / 2'. One instruction has at most one operator."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1">
                <a:solidFill>
                  <a:schemeClr val="tx1"/>
                </a:solidFill>
              </a:rPr>
              <a:t xml:space="preserve">No TAC at all: </a:t>
            </a:r>
            <a:r>
              <a:rPr sz="1350" b="0">
                <a:solidFill>
                  <a:schemeClr val="tx1"/>
                </a:solidFill>
              </a:rPr>
              <a:t xml:space="preserve">"The reply had no &lt;tac&gt;...&lt;/tac&gt; block."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50" b="0">
                <a:solidFill>
                  <a:schemeClr val="tx1"/>
                </a:solidFill>
              </a:rPr>
              <a:t xml:space="preserve">A repair goes through exactly the same gates, so it cannot lower the safety of the system.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2194560"/>
            <a:ext cx="1719072" cy="1874520"/>
          </a:xfrm>
          <a:prstGeom prst="roundRect">
            <a:avLst>
              <a:gd name="adj" fmla="val 4255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2359152"/>
            <a:ext cx="12618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>
                <a:solidFill>
                  <a:schemeClr val="accent1"/>
                </a:solidFill>
              </a:rPr>
              <a:t xml:space="preserve">30 of 213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200400"/>
            <a:ext cx="12618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repairs accepted with Gemini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2194560"/>
            <a:ext cx="1719072" cy="1874520"/>
          </a:xfrm>
          <a:prstGeom prst="roundRect">
            <a:avLst>
              <a:gd name="adj" fmla="val 4255"/>
            </a:avLst>
          </a:prstGeom>
          <a:solidFill>
            <a:schemeClr val="accent4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2359152"/>
            <a:ext cx="12618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>
                <a:solidFill>
                  <a:schemeClr val="accent4"/>
                </a:solidFill>
              </a:rPr>
              <a:t xml:space="preserve">69 of 311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200400"/>
            <a:ext cx="12618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repairs accepted with Groq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21240" y="2194560"/>
            <a:ext cx="1719072" cy="1874520"/>
          </a:xfrm>
          <a:prstGeom prst="roundRect">
            <a:avLst>
              <a:gd name="adj" fmla="val 4255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49840" y="2359152"/>
            <a:ext cx="12618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400" b="1">
                <a:solidFill>
                  <a:schemeClr val="accent2"/>
                </a:solidFill>
              </a:rPr>
              <a:t xml:space="preserve">7 of 162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3200400"/>
            <a:ext cx="12618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repairs accepted with Ollama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4297680"/>
            <a:ext cx="537667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4434840"/>
            <a:ext cx="491947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chemeClr val="accent1"/>
                </a:solidFill>
              </a:rPr>
              <a:t xml:space="preserve">What it fixes. </a:t>
            </a:r>
            <a:r>
              <a:rPr sz="1350" b="0">
                <a:solidFill>
                  <a:schemeClr val="tx1"/>
                </a:solidFill>
              </a:rPr>
              <a:t xml:space="preserve">Strong models mostly fail on form: they write a whole expression in one instruction. Told so, they answer again in valid TAC.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chemeClr val="accent3"/>
                </a:solidFill>
              </a:rPr>
              <a:t xml:space="preserve">What it does not fix. </a:t>
            </a:r>
            <a:r>
              <a:rPr sz="1350" b="0">
                <a:solidFill>
                  <a:schemeClr val="tx1"/>
                </a:solidFill>
              </a:rPr>
              <a:t xml:space="preserve">A small local model that got the logic wrong usually gets it wrong again, or plays safe and returns the program unchanged.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The Self-Repair Loop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150" b="0">
                <a:solidFill>
                  <a:srgbClr val="9CA3AF"/>
                </a:solidFill>
                <a:latin typeface="Consolas"/>
              </a:rPr>
              <a:t xml:space="preserve"># orchestrator.py: a rejected LLM answer gets one more try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repairs_done = 0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8FB8F0"/>
                </a:solidFill>
                <a:latin typeface="Consolas"/>
              </a:rPr>
              <a:t xml:space="preserve">while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specialist.can_repair(proposal, repairs_done):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repairs_done += 1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logger.log_repair(iteration, proposal.problem)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proposal = specialist.repair(current, proposal)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outcome = self._judge(iteration, current, proposal, logger, proposals)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9CA3AF"/>
                </a:solidFill>
                <a:latin typeface="Consolas"/>
              </a:rPr>
              <a:t xml:space="preserve"># optimizer_llm.py: what the model is told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REPAIR_TEMPLATE =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"You proposed an optimization of the TAC below,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but your answer was rejected.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Original TAC:          {tac_string}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Your rejected answer:  {rejected}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Why it was rejected:   {problem}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Propose ONE semantics-preserving optimization of the ORIGINAL TAC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that does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have this problem. If you are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sure a change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is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correct, make a smaller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safer one.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loop sits right after the gates: only an LLM answer that failed them can be repaired.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feedback is the verifier's own reason, with the inputs that show the mistake.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One repair per rejected answer by default (--max-repairs).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Repairs have their own limit and do not use up the call budget for fresh proposals.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Execution Time in the Cost Model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611880" cy="489204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463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accent1"/>
                </a:solidFill>
              </a:rPr>
              <a:t xml:space="preserve">Latency per executed instruction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1965960"/>
          <a:ext cx="3154680" cy="3456432"/>
        </p:xfrm>
        <a:graphic>
          <a:graphicData uri="http://schemas.openxmlformats.org/drawingml/2006/table">
            <a:tbl>
              <a:tblPr/>
              <a:tblGrid>
                <a:gridCol w="2148840"/>
                <a:gridCol w="10058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  <a:latin typeface="Calibri"/>
                        </a:rPr>
                        <a:t>Instruction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  <a:latin typeface="Calibri"/>
                        </a:rPr>
                        <a:t>Cycles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copy, load a constant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+  -  &lt;&lt;  compare  logic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multiply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divide, modulo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goto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conditional branch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print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77240" y="5504688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chemeClr val="tx2"/>
                </a:solidFill>
              </a:rPr>
              <a:t xml:space="preserve">Typical x86-64 figures, rounded. The same table is used before and after, so only the ratio matters.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1280160"/>
            <a:ext cx="7251192" cy="2697480"/>
          </a:xfrm>
          <a:prstGeom prst="roundRect">
            <a:avLst>
              <a:gd name="adj" fmla="val 271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1481328"/>
            <a:ext cx="6793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the time is measured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1965960"/>
            <a:ext cx="67939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600"/>
              </a:spcAft>
              <a:buChar char="•"/>
            </a:pPr>
            <a:r>
              <a:rPr sz="1350" b="0">
                <a:solidFill>
                  <a:schemeClr val="tx1"/>
                </a:solidFill>
              </a:rPr>
              <a:t xml:space="preserve">The program is run on 25 fixed inputs: 20 random sets (half of them positive) and 5 edge cases.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350" b="0">
                <a:solidFill>
                  <a:schemeClr val="tx1"/>
                </a:solidFill>
              </a:rPr>
              <a:t xml:space="preserve">Each executed instruction adds its latency; the result is the average over the runs.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350" b="0">
                <a:solidFill>
                  <a:schemeClr val="tx1"/>
                </a:solidFill>
              </a:rPr>
              <a:t xml:space="preserve">An input's values depend only on its name, so the program and a candidate are timed on the same data.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350" b="0">
                <a:solidFill>
                  <a:schemeClr val="tx1"/>
                </a:solidFill>
              </a:rPr>
              <a:t xml:space="preserve">A loop body counts once per iteration, which the static cost cannot see.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206240"/>
            <a:ext cx="7251192" cy="1965960"/>
          </a:xfrm>
          <a:prstGeom prst="roundRect">
            <a:avLst>
              <a:gd name="adj" fmla="val 3720"/>
            </a:avLst>
          </a:prstGeom>
          <a:solidFill>
            <a:schemeClr val="accent4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343400"/>
            <a:ext cx="679399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chemeClr val="accent4"/>
                </a:solidFill>
              </a:rPr>
              <a:t xml:space="preserve">Two cost models. 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chemeClr val="tx1"/>
                </a:solidFill>
              </a:rPr>
              <a:t xml:space="preserve">static (default): </a:t>
            </a:r>
            <a:r>
              <a:rPr sz="1350" b="0">
                <a:solidFill>
                  <a:schemeClr val="tx1"/>
                </a:solidFill>
              </a:rPr>
              <a:t xml:space="preserve">a change is accepted if the weighted instruction count drops. All Review 2 results use it and stay reproducible.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chemeClr val="tx1"/>
                </a:solidFill>
              </a:rPr>
              <a:t xml:space="preserve">time: </a:t>
            </a:r>
            <a:r>
              <a:rPr sz="1350" b="0">
                <a:solidFill>
                  <a:schemeClr val="tx1"/>
                </a:solidFill>
              </a:rPr>
              <a:t xml:space="preserve">a change is accepted if the measured time drops, or the time is equal and the static cost drops. Replacing x * 2 by x + x now counts as a gain.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chemeClr val="tx1"/>
                </a:solidFill>
              </a:rPr>
              <a:t xml:space="preserve">Every run reports both reductions, whichever model decides.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Measuring Execution Time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LATENCY = {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"copy"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1,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"simple"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1,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"multiply"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3,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"divide"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20,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  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"jump"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1,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"branch"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2,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"print"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1}        </a:t>
            </a:r>
            <a:r>
              <a:rPr sz="1150" b="0">
                <a:solidFill>
                  <a:srgbClr val="9CA3AF"/>
                </a:solidFill>
                <a:latin typeface="Consolas"/>
              </a:rPr>
              <a:t xml:space="preserve"># cycles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execution_time(self, program):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latency = [instruction_latency(ins)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ins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program.instructions]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sets = profile_inputs(sorted(program.get_input_variables()))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total = 0.0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inputs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sets:                  </a:t>
            </a:r>
            <a:r>
              <a:rPr sz="1150" b="0">
                <a:solidFill>
                  <a:srgbClr val="9CA3AF"/>
                </a:solidFill>
                <a:latin typeface="Consolas"/>
              </a:rPr>
              <a:t xml:space="preserve"># 20 random sets + 5 edge cases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counts = [0] * len(latency)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try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    self.interpreter.execute(program, inputs, counts=counts)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except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TACRuntimeError: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    pass                         </a:t>
            </a:r>
            <a:r>
              <a:rPr sz="1150" b="0">
                <a:solidFill>
                  <a:srgbClr val="9CA3AF"/>
                </a:solidFill>
                <a:latin typeface="Consolas"/>
              </a:rPr>
              <a:t xml:space="preserve"># a run that stops early still took time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total += sum(c * cycles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c, cycles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zip(counts, latency))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total / len(sets)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is_improvement(self, old, new):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self.model ==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"time"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new.exec_time != old.exec_time: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new.exec_time &lt; old.exec_time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new.weighted_total &lt; old.weighted_total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interpreter fills in how often each instruction ran.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Time = executions x latency, summed over the program and averaged over the inputs.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A run that traps is timed up to the trap.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In the time model the static cost only breaks ties.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SMT Verification with Z3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417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accent1"/>
                </a:solidFill>
              </a:rPr>
              <a:t xml:space="preserve">1  </a:t>
            </a:r>
            <a:r>
              <a:rPr sz="1700" b="1">
                <a:solidFill>
                  <a:schemeClr val="tx1"/>
                </a:solidFill>
              </a:rPr>
              <a:t xml:space="preserve">Follow every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8745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chemeClr val="tx2"/>
                </a:solidFill>
              </a:rPr>
              <a:t xml:space="preserve">A branch splits the path; a division splits off the case "divisor is zero".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2369" y="1280160"/>
            <a:ext cx="354787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0969" y="1417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accent1"/>
                </a:solidFill>
              </a:rPr>
              <a:t xml:space="preserve">2  </a:t>
            </a:r>
            <a:r>
              <a:rPr sz="1700" b="1">
                <a:solidFill>
                  <a:schemeClr val="tx1"/>
                </a:solidFill>
              </a:rPr>
              <a:t xml:space="preserve">One formula per program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0969" y="18745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chemeClr val="tx2"/>
                </a:solidFill>
              </a:rPr>
              <a:t xml:space="preserve">(how the run ends, how many values it prints, the values) as a function of the inputs.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096512" y="2080260"/>
            <a:ext cx="225857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33" name="Rounded Rectangle 32"/>
          <p:cNvSpPr/>
          <p:nvPr/>
        </p:nvSpPr>
        <p:spPr>
          <a:xfrm>
            <a:off x="8096098" y="1280160"/>
            <a:ext cx="354787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4698" y="1417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accent1"/>
                </a:solidFill>
              </a:rPr>
              <a:t xml:space="preserve">3  </a:t>
            </a:r>
            <a:r>
              <a:rPr sz="1700" b="1">
                <a:solidFill>
                  <a:schemeClr val="tx1"/>
                </a:solidFill>
              </a:rPr>
              <a:t xml:space="preserve">Ask Z3 for a difference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4698" y="18745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chemeClr val="tx2"/>
                </a:solidFill>
              </a:rPr>
              <a:t xml:space="preserve">Is there any input on which the two formulas differ?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70241" y="2080260"/>
            <a:ext cx="225857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37" name="Rounded Rectangle 36"/>
          <p:cNvSpPr/>
          <p:nvPr/>
        </p:nvSpPr>
        <p:spPr>
          <a:xfrm>
            <a:off x="548640" y="3108960"/>
            <a:ext cx="3547872" cy="1463040"/>
          </a:xfrm>
          <a:prstGeom prst="roundRect">
            <a:avLst>
              <a:gd name="adj" fmla="val 5000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218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chemeClr val="accent2"/>
                </a:solidFill>
                <a:latin typeface="Consolas"/>
              </a:rPr>
              <a:t xml:space="preserve">unsat  </a:t>
            </a:r>
            <a:r>
              <a:rPr sz="1600" b="1">
                <a:solidFill>
                  <a:schemeClr val="tx1"/>
                </a:solidFill>
              </a:rPr>
              <a:t xml:space="preserve">Proved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365760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chemeClr val="tx2"/>
                </a:solidFill>
              </a:rPr>
              <a:t xml:space="preserve">No such input exists: the programs are equivalent for all inputs.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2369" y="3108960"/>
            <a:ext cx="3547872" cy="1463040"/>
          </a:xfrm>
          <a:prstGeom prst="roundRect">
            <a:avLst>
              <a:gd name="adj" fmla="val 5000"/>
            </a:avLst>
          </a:prstGeom>
          <a:solidFill>
            <a:schemeClr val="accent3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0969" y="3218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chemeClr val="accent3"/>
                </a:solidFill>
                <a:latin typeface="Consolas"/>
              </a:rPr>
              <a:t xml:space="preserve">sat  </a:t>
            </a:r>
            <a:r>
              <a:rPr sz="1600" b="1">
                <a:solidFill>
                  <a:schemeClr val="tx1"/>
                </a:solidFill>
              </a:rPr>
              <a:t xml:space="preserve">Refuted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0969" y="365760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chemeClr val="tx2"/>
                </a:solidFill>
              </a:rPr>
              <a:t xml:space="preserve">Z3 returns the input. It is replayed in the interpreter, then the change is rejected.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6098" y="3108960"/>
            <a:ext cx="3547872" cy="1463040"/>
          </a:xfrm>
          <a:prstGeom prst="roundRect">
            <a:avLst>
              <a:gd name="adj" fmla="val 5000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4698" y="3218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chemeClr val="accent5"/>
                </a:solidFill>
                <a:latin typeface="Consolas"/>
              </a:rPr>
              <a:t xml:space="preserve">unknown  </a:t>
            </a:r>
            <a:r>
              <a:rPr sz="1600" b="1">
                <a:solidFill>
                  <a:schemeClr val="tx1"/>
                </a:solidFill>
              </a:rPr>
              <a:t xml:space="preserve">No answer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4698" y="365760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chemeClr val="tx2"/>
                </a:solidFill>
              </a:rPr>
              <a:t xml:space="preserve">Timeout, usually non-linear arithmetic. The tested verdict stands.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800600"/>
            <a:ext cx="1109167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892040"/>
            <a:ext cx="1054303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chemeClr val="accent1"/>
                </a:solidFill>
              </a:rPr>
              <a:t xml:space="preserve">What testing misses. </a:t>
            </a:r>
            <a:r>
              <a:rPr sz="1350" b="0">
                <a:solidFill>
                  <a:schemeClr val="tx1"/>
                </a:solidFill>
              </a:rPr>
              <a:t xml:space="preserve">A program prints 1 when 3x = 999999 and 0 otherwise; the candidate always prints 0. They differ on one input, x = 333333, which is near no literal in either program, so every test passes. Z3 finds it.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chemeClr val="accent1"/>
                </a:solidFill>
              </a:rPr>
              <a:t xml:space="preserve">Where it runs. </a:t>
            </a:r>
            <a:r>
              <a:rPr sz="1350" b="0">
                <a:solidFill>
                  <a:schemeClr val="tx1"/>
                </a:solidFill>
              </a:rPr>
              <a:t xml:space="preserve">On every LLM proposal and on the end-to-end check of every program. Loops are outside its scope and stay tested. Z3 is optional: without it the stage is skipped.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The SMT Equivalence Check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15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smt_equivalent(original, candidate, timeout_ms=3000):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runs_a = _outcomes(z3, original, input_var)    </a:t>
            </a:r>
            <a:r>
              <a:rPr sz="1150" b="0">
                <a:solidFill>
                  <a:srgbClr val="9CA3AF"/>
                </a:solidFill>
                <a:latin typeface="Consolas"/>
              </a:rPr>
              <a:t xml:space="preserve"># every path of a program: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runs_b = _outcomes(z3, candidate, input_var)   </a:t>
            </a:r>
            <a:r>
              <a:rPr sz="1150" b="0">
                <a:solidFill>
                  <a:srgbClr val="9CA3AF"/>
                </a:solidFill>
                <a:latin typeface="Consolas"/>
              </a:rPr>
              <a:t xml:space="preserve"># (condition, how it ends, prints)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describe(runs):          </a:t>
            </a:r>
            <a:r>
              <a:rPr sz="1150" b="0">
                <a:solidFill>
                  <a:srgbClr val="9CA3AF"/>
                </a:solidFill>
                <a:latin typeface="Consolas"/>
              </a:rPr>
              <a:t xml:space="preserve"># one (kind, count, values...) for the whole program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fields =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None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cond, kind, prints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reversed(runs):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    row = [IntVal(kind), IntVal(len(prints)), *prints, *padding]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    fields = row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fields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is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else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[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        If(cond, r, f)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r, f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zip(row, fields)]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fields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solver = z3.Solver()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solver.set(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"timeout"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, timeout_ms)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solver.add(Or(*[x != y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x, y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zip(describe(runs_a), describe(runs_b))]))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answer = solver.check()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answer == z3.unsat: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SmtResult(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"proved"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)           </a:t>
            </a:r>
            <a:r>
              <a:rPr sz="1150" b="0">
                <a:solidFill>
                  <a:srgbClr val="9CA3AF"/>
                </a:solidFill>
                <a:latin typeface="Consolas"/>
              </a:rPr>
              <a:t xml:space="preserve"># no input tells them apart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answer == z3.sat: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SmtResult(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"refuted"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, counterexample=solver.model())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SmtResult(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"unknown"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)              </a:t>
            </a:r>
            <a:r>
              <a:rPr sz="1150" b="0">
                <a:solidFill>
                  <a:srgbClr val="9CA3AF"/>
                </a:solidFill>
                <a:latin typeface="Consolas"/>
              </a:rPr>
              <a:t xml:space="preserve"># the tested verdict stands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_outcomes walks the program symbolically and returns every way a run can end.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path conditions are exclusive and cover everything, so nested If() describes the whole program.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Integers are unbounded and / and % follow C, exactly as in the interpreter.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More than 256 paths, or a loop: unsupported, and testing decides.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Dataset of Real Programs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5120640" cy="1060704"/>
          </a:xfrm>
          <a:prstGeom prst="roundRect">
            <a:avLst>
              <a:gd name="adj" fmla="val 6896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280160"/>
            <a:ext cx="1691640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chemeClr val="accent5"/>
                </a:solidFill>
              </a:rPr>
              <a:t xml:space="preserve">12.6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1280160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chemeClr val="tx1"/>
                </a:solidFill>
              </a:rPr>
              <a:t xml:space="preserve">submissions in open-r1/codeforces-submissions (Hugging Face, 2025, CC-BY-4.0)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505456"/>
            <a:ext cx="5120640" cy="1060704"/>
          </a:xfrm>
          <a:prstGeom prst="roundRect">
            <a:avLst>
              <a:gd name="adj" fmla="val 6896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505456"/>
            <a:ext cx="1691640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chemeClr val="accent1"/>
                </a:solidFill>
              </a:rPr>
              <a:t xml:space="preserve">469,491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2505456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chemeClr val="tx1"/>
                </a:solidFill>
              </a:rPr>
              <a:t xml:space="preserve">accepted C and C++ submissions examined, from 6 of the 36 data files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730752"/>
            <a:ext cx="5120640" cy="1060704"/>
          </a:xfrm>
          <a:prstGeom prst="roundRect">
            <a:avLst>
              <a:gd name="adj" fmla="val 6896"/>
            </a:avLst>
          </a:prstGeom>
          <a:solidFill>
            <a:schemeClr val="accent4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730752"/>
            <a:ext cx="1691640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chemeClr val="accent4"/>
                </a:solidFill>
              </a:rPr>
              <a:t xml:space="preserve">9,489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730752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chemeClr val="tx1"/>
                </a:solidFill>
              </a:rPr>
              <a:t xml:space="preserve">usable: compile in strict mode, print something, finish on every test input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956048"/>
            <a:ext cx="5120640" cy="1060704"/>
          </a:xfrm>
          <a:prstGeom prst="roundRect">
            <a:avLst>
              <a:gd name="adj" fmla="val 6896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956048"/>
            <a:ext cx="1691640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chemeClr val="accent2"/>
                </a:solidFill>
              </a:rPr>
              <a:t xml:space="preserve">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495604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chemeClr val="tx1"/>
                </a:solidFill>
              </a:rPr>
              <a:t xml:space="preserve">chosen, from 207 problems, newest submission first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897880" y="1280160"/>
          <a:ext cx="5742432" cy="3218688"/>
        </p:xfrm>
        <a:graphic>
          <a:graphicData uri="http://schemas.openxmlformats.org/drawingml/2006/table">
            <a:tbl>
              <a:tblPr/>
              <a:tblGrid>
                <a:gridCol w="1600200"/>
                <a:gridCol w="960120"/>
                <a:gridCol w="960120"/>
                <a:gridCol w="2221992"/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  <a:latin typeface="Calibri"/>
                        </a:rPr>
                        <a:t>Programs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  <a:latin typeface="Calibri"/>
                        </a:rPr>
                        <a:t>Problems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  <a:latin typeface="Calibri"/>
                        </a:rPr>
                        <a:t>Decided by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Arithmetic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straight-line, shallow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Nested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arithmetic 3+ operators deep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Repeated expr.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an expression written twice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Dead code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a stored value never read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Loops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loop, no branch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Conditionals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branch, no loop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1"/>
                          </a:solidFill>
                          <a:latin typeface="Calibri"/>
                        </a:rPr>
                        <a:t>loop and branch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897880" y="4681728"/>
            <a:ext cx="574243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5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The proportions are the generator's: 60 / 60 / 60 / 60 / 80 / 80 / 100.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86 were submitted as C and 414 as C-style C++ (scanf / printf, nothing else from C++).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Programs that compile to the same TAC count once; each category is filled one program per problem per round.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Only 2 % qualify: arrays, other functions and input read inside a loop are not supported.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Strict Mode: Real C to TAC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3712464" cy="3346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// Codeforces 4A, accepted submission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8FB8F0"/>
                </a:solidFill>
                <a:latin typeface="Consolas"/>
              </a:rPr>
              <a:t xml:space="preserve">#include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50" b="0">
                <a:solidFill>
                  <a:srgbClr val="7FD27F"/>
                </a:solidFill>
                <a:latin typeface="Consolas"/>
              </a:rPr>
              <a:t xml:space="preserve">&lt;stdio.h&gt;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8FB8F0"/>
                </a:solidFill>
                <a:latin typeface="Consolas"/>
              </a:rPr>
              <a:t xml:space="preserve">int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main() {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50" b="0">
                <a:solidFill>
                  <a:srgbClr val="8FB8F0"/>
                </a:solidFill>
                <a:latin typeface="Consolas"/>
              </a:rPr>
              <a:t xml:space="preserve">int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w;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  scanf(</a:t>
            </a:r>
            <a:r>
              <a:rPr sz="1250" b="0">
                <a:solidFill>
                  <a:srgbClr val="7FD27F"/>
                </a:solidFill>
                <a:latin typeface="Consolas"/>
              </a:rPr>
              <a:t xml:space="preserve">"%d"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, &amp;w);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5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(w % 2 == 0 &amp;&amp; w &gt; 2) {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      puts(</a:t>
            </a:r>
            <a:r>
              <a:rPr sz="1250" b="0">
                <a:solidFill>
                  <a:srgbClr val="7FD27F"/>
                </a:solidFill>
                <a:latin typeface="Consolas"/>
              </a:rPr>
              <a:t xml:space="preserve">"YES"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);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5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0;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  }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  printf(</a:t>
            </a:r>
            <a:r>
              <a:rPr sz="1250" b="0">
                <a:solidFill>
                  <a:srgbClr val="7FD27F"/>
                </a:solidFill>
                <a:latin typeface="Consolas"/>
              </a:rPr>
              <a:t xml:space="preserve">"NO"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);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5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0;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1280160"/>
            <a:ext cx="3246120" cy="3749040"/>
          </a:xfrm>
          <a:prstGeom prst="roundRect">
            <a:avLst>
              <a:gd name="adj" fmla="val 2253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93208" y="1481328"/>
            <a:ext cx="2843784" cy="3346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w = in_w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t0 = w % 2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t1 = t0 == 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t2 = w &gt; 2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t3 = t1 &amp;&amp; t2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ifFalse t3 goto L0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print 1000000        </a:t>
            </a:r>
            <a:r>
              <a:rPr sz="1250" b="0">
                <a:solidFill>
                  <a:srgbClr val="9CA3AF"/>
                </a:solidFill>
                <a:latin typeface="Consolas"/>
              </a:rPr>
              <a:t xml:space="preserve"># "YES"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goto L1              </a:t>
            </a:r>
            <a:r>
              <a:rPr sz="1250" b="0">
                <a:solidFill>
                  <a:srgbClr val="9CA3AF"/>
                </a:solidFill>
                <a:latin typeface="Consolas"/>
              </a:rPr>
              <a:t xml:space="preserve"># return 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L0: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print 1000001        </a:t>
            </a:r>
            <a:r>
              <a:rPr sz="1250" b="0">
                <a:solidFill>
                  <a:srgbClr val="9CA3AF"/>
                </a:solidFill>
                <a:latin typeface="Consolas"/>
              </a:rPr>
              <a:t xml:space="preserve"># "NO"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L1: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63440" y="3154680"/>
            <a:ext cx="228600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31" name="Rounded Rectangle 30"/>
          <p:cNvSpPr/>
          <p:nvPr/>
        </p:nvSpPr>
        <p:spPr>
          <a:xfrm>
            <a:off x="8366760" y="1280160"/>
            <a:ext cx="3273552" cy="4892040"/>
          </a:xfrm>
          <a:prstGeom prst="roundRect">
            <a:avLst>
              <a:gd name="adj" fmla="val 223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1481328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What strict mode keeps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1965960"/>
            <a:ext cx="281635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7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Printed text is output: each distinct text gets a code, so changing which message is printed fails verification.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return in the middle of main and exit() stop the program.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Also read now: character literals, bool, long long aliases, hex and octal numbers.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a &amp;&amp; b is refused when b divides: TAC has no short-circuit.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A macro other than a type alias is refused.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212080"/>
            <a:ext cx="7589520" cy="960120"/>
          </a:xfrm>
          <a:prstGeom prst="roundRect">
            <a:avLst>
              <a:gd name="adj" fmla="val 7619"/>
            </a:avLst>
          </a:prstGeom>
          <a:solidFill>
            <a:schemeClr val="accent1">
              <a:alpha val="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212080"/>
            <a:ext cx="71323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chemeClr val="tx1"/>
                </a:solidFill>
              </a:rPr>
              <a:t xml:space="preserve">The demo does not use strict mode, so its output for the five Review 2 sample programs is unchanged.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Real Programs: Key Metrics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338828"/>
        </p:xfrm>
        <a:graphic>
          <a:graphicData uri="http://schemas.openxmlformats.org/drawingml/2006/table">
            <a:tbl>
              <a:tblPr/>
              <a:tblGrid>
                <a:gridCol w="3090672"/>
                <a:gridCol w="1600200"/>
                <a:gridCol w="1600200"/>
                <a:gridCol w="1600200"/>
                <a:gridCol w="1600200"/>
                <a:gridCol w="1600200"/>
              </a:tblGrid>
              <a:tr h="33375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tx1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tx1"/>
                          </a:solidFill>
                          <a:latin typeface="Calibri"/>
                        </a:rPr>
                        <a:t>Rules, static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tx1"/>
                          </a:solidFill>
                          <a:latin typeface="Calibri"/>
                        </a:rPr>
                        <a:t>Rules, time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tx1"/>
                          </a:solidFill>
                          <a:latin typeface="Calibri"/>
                        </a:rPr>
                        <a:t>Rules + Gemini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tx1"/>
                          </a:solidFill>
                          <a:latin typeface="Calibri"/>
                        </a:rPr>
                        <a:t>Rules + Groq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tx1"/>
                          </a:solidFill>
                          <a:latin typeface="Calibri"/>
                        </a:rPr>
                        <a:t>Rules + Ollama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Programs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Programs the LLM was consulted 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Average cost reduction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accent1"/>
                          </a:solidFill>
                          <a:latin typeface="Calibri"/>
                        </a:rPr>
                        <a:t>52.32%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accent1"/>
                          </a:solidFill>
                          <a:latin typeface="Calibri"/>
                        </a:rPr>
                        <a:t>52.32%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accent1"/>
                          </a:solidFill>
                          <a:latin typeface="Calibri"/>
                        </a:rPr>
                        <a:t>53.60%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accent1"/>
                          </a:solidFill>
                          <a:latin typeface="Calibri"/>
                        </a:rPr>
                        <a:t>53.18%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accent1"/>
                          </a:solidFill>
                          <a:latin typeface="Calibri"/>
                        </a:rPr>
                        <a:t>52.42%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Rules alone on the same programs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52.32%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52.32%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52.32%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52.32%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52.32%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Average execution-time reduction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25.19%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26.45%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26.50%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25.34%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25.38%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Proved equivalent for all inputs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253 (126 by SMT)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253 (126 by SMT)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253 (126 by SMT)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253 (126 by SMT)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253 (126 by SMT)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Total proposals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10,546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9,511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10,022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10,436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10,689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LLM calls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735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855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687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LLM validity rate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62.08%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62.26%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21.08%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Self-repairs accepted / tried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30 / 213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69 / 311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7 / 162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Wrong LLM proposals blocked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171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161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chemeClr val="tx1"/>
                          </a:solidFill>
                          <a:latin typeface="Calibri"/>
                        </a:rPr>
                        <a:t>False positives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chemeClr val="tx2"/>
                </a:solidFill>
              </a:rPr>
              <a:t xml:space="preserve">LLM budget per program: 2 fresh proposals for every fifth program and 1 for the others, plus 1 repair per rejected answer (this keeps the cloud runs inside their free daily quotas).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Real Programs: Cost Reduction by Category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8092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915400" y="1280160"/>
            <a:ext cx="2724912" cy="4846320"/>
          </a:xfrm>
          <a:prstGeom prst="roundRect">
            <a:avLst>
              <a:gd name="adj" fmla="val 268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50876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What it shows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011680"/>
            <a:ext cx="231343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Generated programs fold to constants; real ones read their input, so less can be removed.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Real programs, rules: 52.32% on average.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Gemini with self-repair improves 113 of the 500 real programs: real loops depend on the input, so few can be folded away.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Real Programs: Static vs. Time Cost Model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8138160" cy="3657600"/>
        </p:xfrm>
        <a:graphic>
          <a:graphicData uri="http://schemas.openxmlformats.org/drawingml/2006/table">
            <a:tbl>
              <a:tblPr/>
              <a:tblGrid>
                <a:gridCol w="39319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Static cost model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Time cost model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Average static cost reduction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52.32%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52.32%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Average execution-time reduction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25.19%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1"/>
                          </a:solidFill>
                          <a:latin typeface="Calibri"/>
                        </a:rPr>
                        <a:t>26.45%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Median execution-time reduction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21.44%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21.96%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Strength reductions accepted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Strength reductions rejected (no gain)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1,185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Proposals accepted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8,450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8,600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False positives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915400" y="1280160"/>
            <a:ext cx="2724912" cy="4892040"/>
          </a:xfrm>
          <a:prstGeom prst="roundRect">
            <a:avLst>
              <a:gd name="adj" fmla="val 268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481328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Reading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1965960"/>
            <a:ext cx="226771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Same rules, same 500 programs; only the definition of "cheaper" changes.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The time model accepts changes the static count calls a tie, such as x * 2 to x + x.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Time falls less than size on real programs: most removed instructions are copies, which cost one cycle each.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166360"/>
            <a:ext cx="8138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>
                <a:solidFill>
                  <a:schemeClr val="tx2"/>
                </a:solidFill>
              </a:rPr>
              <a:t xml:space="preserve">Execution time is measured on 25 inputs per program with the latency table of the cost evaluator; both runs allow 200 iterations per program.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Real Programs: What Was Proved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1920240"/>
          </a:xfrm>
          <a:prstGeom prst="roundRect">
            <a:avLst>
              <a:gd name="adj" fmla="val 3809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444752"/>
            <a:ext cx="30906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chemeClr val="accent2"/>
                </a:solidFill>
              </a:rPr>
              <a:t xml:space="preserve">253 / 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28600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optimized programs proved equal to their original for every input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383280"/>
            <a:ext cx="3547872" cy="1325880"/>
          </a:xfrm>
          <a:prstGeom prst="roundRect">
            <a:avLst>
              <a:gd name="adj" fmla="val 5517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547872"/>
            <a:ext cx="30906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>
                <a:solidFill>
                  <a:schemeClr val="accent1"/>
                </a:solidFill>
              </a:rPr>
              <a:t xml:space="preserve">126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389120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of them by the SMT solver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92040"/>
            <a:ext cx="3547872" cy="1280160"/>
          </a:xfrm>
          <a:prstGeom prst="roundRect">
            <a:avLst>
              <a:gd name="adj" fmla="val 5714"/>
            </a:avLst>
          </a:prstGeom>
          <a:solidFill>
            <a:schemeClr val="accent4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056632"/>
            <a:ext cx="30906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>
                <a:solidFill>
                  <a:schemeClr val="accent4"/>
                </a:solidFill>
              </a:rPr>
              <a:t xml:space="preserve"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97880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programs reverted by the final check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325112" y="1280160"/>
          <a:ext cx="7315200" cy="3364992"/>
        </p:xfrm>
        <a:graphic>
          <a:graphicData uri="http://schemas.openxmlformats.org/drawingml/2006/table">
            <a:tbl>
              <a:tblPr/>
              <a:tblGrid>
                <a:gridCol w="1920240"/>
                <a:gridCol w="1143000"/>
                <a:gridCol w="1051560"/>
                <a:gridCol w="3200400"/>
              </a:tblGrid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chemeClr val="tx1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chemeClr val="tx1"/>
                          </a:solidFill>
                          <a:latin typeface="Calibri"/>
                        </a:rPr>
                        <a:t>Programs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chemeClr val="tx1"/>
                          </a:solidFill>
                          <a:latin typeface="Calibri"/>
                        </a:rPr>
                        <a:t>Proved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chemeClr val="tx1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Arithmetic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polynomial check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Nested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polynomial check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Repeated expr.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polynomial or SMT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Dead code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polynomial or SMT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Loops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tested (loops)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Conditionals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SMT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chemeClr val="tx1"/>
                          </a:solidFill>
                          <a:latin typeface="Calibri"/>
                        </a:rPr>
                        <a:t>tested (loops)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325112" y="48006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6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A program with a loop cannot be proved by this method, so it stays tested on hundreds of inputs.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For programs without loops the claim is stronger than zero false positives on the tests: no input exists on which the optimized program behaves differently.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An independent re-check of all 500 pairs on other, wider inputs: 107,834 executions, 0 mismatches.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Real Programs: The LLMs with Self-Repair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4824" cy="489204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63040"/>
            <a:ext cx="31424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chemeClr val="accent1"/>
                </a:solidFill>
              </a:rPr>
              <a:t xml:space="preserve">Rules + Gemini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1883664"/>
            <a:ext cx="314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chemeClr val="tx2"/>
                </a:solidFill>
              </a:rPr>
              <a:t xml:space="preserve">gemini-3.1-flash-lite, Google cloud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49808" y="2286000"/>
          <a:ext cx="3142488" cy="3657600"/>
        </p:xfrm>
        <a:graphic>
          <a:graphicData uri="http://schemas.openxmlformats.org/drawingml/2006/table">
            <a:tbl>
              <a:tblPr/>
              <a:tblGrid>
                <a:gridCol w="2042617"/>
                <a:gridCol w="1099871"/>
              </a:tblGrid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Programs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LLM consulted 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Rules alone on them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52.32%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With the LLM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accent1"/>
                          </a:solidFill>
                          <a:latin typeface="Calibri"/>
                        </a:rPr>
                        <a:t>53.60%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Programs improved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LLM calls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735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Accepted / no gain / wrong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196 / 84 / 171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Validity rate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62.08%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Repairs accepted / tried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30 / 213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False positives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4322064" y="1280160"/>
            <a:ext cx="3544824" cy="489204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3232" y="1463040"/>
            <a:ext cx="31424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chemeClr val="accent4"/>
                </a:solidFill>
              </a:rPr>
              <a:t xml:space="preserve">Rules + Groq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3232" y="1883664"/>
            <a:ext cx="314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chemeClr val="tx2"/>
                </a:solidFill>
              </a:rPr>
              <a:t xml:space="preserve">gpt-oss and qwen models, Groq cloud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523232" y="2286000"/>
          <a:ext cx="3142488" cy="3657600"/>
        </p:xfrm>
        <a:graphic>
          <a:graphicData uri="http://schemas.openxmlformats.org/drawingml/2006/table">
            <a:tbl>
              <a:tblPr/>
              <a:tblGrid>
                <a:gridCol w="2042617"/>
                <a:gridCol w="1099871"/>
              </a:tblGrid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Programs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LLM consulted 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Rules alone on them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52.32%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With the LLM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accent4"/>
                          </a:solidFill>
                          <a:latin typeface="Calibri"/>
                        </a:rPr>
                        <a:t>53.18%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Programs improved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LLM calls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855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Accepted / no gain / wrong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213 / 74 / 174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Validity rate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62.26%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Repairs accepted / tried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69 / 311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False positives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8095488" y="1280160"/>
            <a:ext cx="3544824" cy="489204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6656" y="1463040"/>
            <a:ext cx="31424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chemeClr val="accent2"/>
                </a:solidFill>
              </a:rPr>
              <a:t xml:space="preserve">Rules + Ollama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6656" y="1883664"/>
            <a:ext cx="314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chemeClr val="tx2"/>
                </a:solidFill>
              </a:rPr>
              <a:t xml:space="preserve">qwen2.5-coder:7b, this laptop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8296656" y="2286000"/>
          <a:ext cx="3142488" cy="3657600"/>
        </p:xfrm>
        <a:graphic>
          <a:graphicData uri="http://schemas.openxmlformats.org/drawingml/2006/table">
            <a:tbl>
              <a:tblPr/>
              <a:tblGrid>
                <a:gridCol w="2042617"/>
                <a:gridCol w="1099871"/>
              </a:tblGrid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Programs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LLM consulted 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Rules alone on them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52.32%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With the LLM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accent2"/>
                          </a:solidFill>
                          <a:latin typeface="Calibri"/>
                        </a:rPr>
                        <a:t>52.42%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Programs improved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LLM calls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687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Accepted / no gain / wrong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24 / 19 / 161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Validity rate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21.08%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Repairs accepted / tried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7 / 162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False positives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Validation: A Wrong Change the Tests Missed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4846320" cy="4892040"/>
          </a:xfrm>
          <a:prstGeom prst="roundRect">
            <a:avLst>
              <a:gd name="adj" fmla="val 1509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444398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// Codeforces 219B, accepted submission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scanf(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"%I64d%I64d"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&amp;p, &amp;d);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ans = p;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(long long x = 10; x &lt;= p; x *= 10) {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long long a = p / x, b = p % x;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(b &lt; x - 1) a--;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(p - d &lt;= a * x + x - 1)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ans = a * x + x - 1;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printf(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"%I64d\n"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ans);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// LLM: "constant folding: replaced the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// computation of x - 1 with its value 9"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//      t6 = b &lt; 9          wrong once x is 100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1280160"/>
            <a:ext cx="6016752" cy="1243584"/>
          </a:xfrm>
          <a:prstGeom prst="roundRect">
            <a:avLst>
              <a:gd name="adj" fmla="val 5882"/>
            </a:avLst>
          </a:prstGeom>
          <a:solidFill>
            <a:schemeClr val="accent3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1371600"/>
            <a:ext cx="5577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accent3"/>
                </a:solidFill>
              </a:rPr>
              <a:t xml:space="preserve">What happened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1700784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>
                <a:solidFill>
                  <a:schemeClr val="tx1"/>
                </a:solidFill>
              </a:rPr>
              <a:t xml:space="preserve">In the Groq run the model replaced x - 1 by 9. That is right while x is 10, and the loop runs a second time only for p of 100 or more. No input set of the verifier reached that, so all 388 tests passed and the change was accepted.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2651760"/>
            <a:ext cx="6016752" cy="1243584"/>
          </a:xfrm>
          <a:prstGeom prst="roundRect">
            <a:avLst>
              <a:gd name="adj" fmla="val 5882"/>
            </a:avLst>
          </a:prstGeom>
          <a:solidFill>
            <a:schemeClr val="accent4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2743200"/>
            <a:ext cx="5577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accent4"/>
                </a:solidFill>
              </a:rPr>
              <a:t xml:space="preserve">How it was found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072384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>
                <a:solidFill>
                  <a:schemeClr val="tx1"/>
                </a:solidFill>
              </a:rPr>
              <a:t xml:space="preserve">Every finished run is re-checked on inputs the verifier does not use, with values up to a million. One program out of 100 disagreed: for p = 779, d = 428 the original prints 699 and the optimized program 799.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4023360"/>
            <a:ext cx="6016752" cy="1243584"/>
          </a:xfrm>
          <a:prstGeom prst="roundRect">
            <a:avLst>
              <a:gd name="adj" fmla="val 5882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4114800"/>
            <a:ext cx="5577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accent2"/>
                </a:solidFill>
              </a:rPr>
              <a:t xml:space="preserve">The fix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443984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>
                <a:solidFill>
                  <a:schemeClr val="tx1"/>
                </a:solidFill>
              </a:rPr>
              <a:t xml:space="preserve">The verifier now adds 60 wide-range input sets: values up to a thousand, ten thousand, a million and a billion, signed values, and powers of ten with their neighbours. The wrong change is now rejected with a counterexample.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5394960"/>
            <a:ext cx="6016752" cy="777240"/>
          </a:xfrm>
          <a:prstGeom prst="roundRect">
            <a:avLst>
              <a:gd name="adj" fmla="val 941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539496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chemeClr val="accent1"/>
                </a:solidFill>
              </a:rPr>
              <a:t xml:space="preserve">After the fix: </a:t>
            </a:r>
            <a:r>
              <a:rPr sz="1250" b="0">
                <a:solidFill>
                  <a:schemeClr val="tx1"/>
                </a:solidFill>
              </a:rPr>
              <a:t xml:space="preserve">the program was optimized again, and the re-check of every run on real programs (539,170 executions) finds 0 mismatches. The four generated-dataset runs were re-checked the same way: 0 mismatches.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Offline Demo with the Local Model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603504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563270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&gt; ollama_demo.bat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  LLM: ollama qwen2.5-coder:7b - offline mode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  ...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[21] LLM (Ollama)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Constant folding: ... the value of `score`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will always be 7.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verified cost 9.0 → 3.5  </a:t>
            </a:r>
            <a:r>
              <a:rPr sz="1200" b="1">
                <a:solidFill>
                  <a:srgbClr val="7FD27F"/>
                </a:solidFill>
                <a:latin typeface="Consolas"/>
              </a:rPr>
              <a:t xml:space="preserve">ACCEPTED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[22] COPY_PROPAGATION   score = 7 → uses of score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verified cost 3.5 → 1.0  </a:t>
            </a:r>
            <a:r>
              <a:rPr sz="1200" b="1">
                <a:solidFill>
                  <a:srgbClr val="7FD27F"/>
                </a:solidFill>
                <a:latin typeface="Consolas"/>
              </a:rPr>
              <a:t xml:space="preserve">ACCEPTED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  ...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cost 57.5 → 1.0   reduction 98.3%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execution time: 24.0 → 1.0 cycles (95.8% less)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equivalence: proved for all inputs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verifier, final check against the original: </a:t>
            </a:r>
            <a:r>
              <a:rPr sz="1200" b="1">
                <a:solidFill>
                  <a:srgbClr val="7FD27F"/>
                </a:solidFill>
                <a:latin typeface="Consolas"/>
              </a:rPr>
              <a:t xml:space="preserve">PASS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&gt; ollama_demo.bat my_program.c --inputs n=5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&gt; ollama_demo.bat --llm-first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1280160"/>
            <a:ext cx="4828032" cy="4892040"/>
          </a:xfrm>
          <a:prstGeom prst="roundRect">
            <a:avLst>
              <a:gd name="adj" fmla="val 1515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1481328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One command, no internet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965960"/>
            <a:ext cx="437083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7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ollama_demo.bat checks that Ollama is running and the model is pulled, then starts the demo in offline mode.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Without a file it runs sample 6: a branch that is always taken, which the rules leave behind and the 7B model can usually fold.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When the model is wrong, the verifier blocks it on screen and self-repair gives it a second try.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With the updated NVIDIA driver the model runs mostly on the GPU, about 20 tokens per second.</a:t>
            </a:r>
          </a:p>
          <a:p>
            <a:pPr marL="228600" indent="-228600">
              <a:spcAft>
                <a:spcPts val="700"/>
              </a:spcAft>
              <a:buChar char="•"/>
            </a:pPr>
            <a:r>
              <a:rPr sz="1300" b="0">
                <a:solidFill>
                  <a:schemeClr val="tx1"/>
                </a:solidFill>
              </a:rPr>
              <a:t xml:space="preserve">--llm-first asks the model before the rules, for more LLM steps to watch.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Project Status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591056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71600" y="152704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 xml:space="preserve">System built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148840"/>
            <a:ext cx="31089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Front end: C (incl. strict mode) and mini-language to TAC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Orchestrator loop + decision logging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Six rule-based optimizations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Router with three LLM backends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LLM self-repair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Offline mode and one-command local demo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Resumable full runs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2369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50969" y="1481328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697" y="1591056"/>
            <a:ext cx="237744" cy="2377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45329" y="152704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 xml:space="preserve">Verified and measured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0969" y="2148840"/>
            <a:ext cx="31089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Differential + symbolic + SMT verification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397 automated tests, all passing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5,100 random programs fuzzed, 800 mutation tests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500 generated programs, 4 full runs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500 real programs, rule runs under 2 cost models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LLM runs with self-repair on the real programs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Static cost and execution time reported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6098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24698" y="1481328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426" y="1591056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19058" y="152704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 xml:space="preserve">Limits and next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4698" y="2148840"/>
            <a:ext cx="31089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Arrays and functions in the front end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SMT for loops (bounded unrolling)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32-bit overflow is not modelled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A larger LLM budget per real program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Rule passes for loops and branches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1783080"/>
          </a:xfrm>
          <a:prstGeom prst="roundRect">
            <a:avLst>
              <a:gd name="adj" fmla="val 410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41732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chemeClr val="accent6"/>
                </a:solidFill>
              </a:rPr>
              <a:t xml:space="preserve">82.5%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14884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chemeClr val="bg1"/>
                </a:solidFill>
              </a:rPr>
              <a:t xml:space="preserve">average cost reduction on the 500 generated programs, rules alone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2369" y="1280160"/>
            <a:ext cx="3547872" cy="1783080"/>
          </a:xfrm>
          <a:prstGeom prst="roundRect">
            <a:avLst>
              <a:gd name="adj" fmla="val 410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0969" y="141732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chemeClr val="accent6"/>
                </a:solidFill>
              </a:rPr>
              <a:t xml:space="preserve">52.3%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0969" y="214884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chemeClr val="bg1"/>
                </a:solidFill>
              </a:rPr>
              <a:t xml:space="preserve">on 500 real Codeforces programs, rules alone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6098" y="1280160"/>
            <a:ext cx="3547872" cy="1783080"/>
          </a:xfrm>
          <a:prstGeom prst="roundRect">
            <a:avLst>
              <a:gd name="adj" fmla="val 410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4698" y="141732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chemeClr val="accent6"/>
                </a:solidFill>
              </a:rPr>
              <a:t xml:space="preserve">26.4%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4698" y="214884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chemeClr val="bg1"/>
                </a:solidFill>
              </a:rPr>
              <a:t xml:space="preserve">less execution time on the real programs under the time cost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291840"/>
            <a:ext cx="3547872" cy="1783080"/>
          </a:xfrm>
          <a:prstGeom prst="roundRect">
            <a:avLst>
              <a:gd name="adj" fmla="val 410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42900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chemeClr val="accent6"/>
                </a:solidFill>
              </a:rPr>
              <a:t xml:space="preserve">253 / 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16052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chemeClr val="bg1"/>
                </a:solidFill>
              </a:rPr>
              <a:t xml:space="preserve">real programs proved equivalent for every input, not only tested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2369" y="3291840"/>
            <a:ext cx="3547872" cy="1783080"/>
          </a:xfrm>
          <a:prstGeom prst="roundRect">
            <a:avLst>
              <a:gd name="adj" fmla="val 410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0969" y="342900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chemeClr val="accent6"/>
                </a:solidFill>
              </a:rPr>
              <a:t xml:space="preserve">53.6%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0969" y="416052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chemeClr val="bg1"/>
                </a:solidFill>
              </a:rPr>
              <a:t xml:space="preserve">best LLM configuration on the real programs, with self-repair (52.3% with rules alone)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6098" y="3291840"/>
            <a:ext cx="3547872" cy="1783080"/>
          </a:xfrm>
          <a:prstGeom prst="roundRect">
            <a:avLst>
              <a:gd name="adj" fmla="val 410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4698" y="342900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rgbClr val="7FD27F"/>
                </a:solidFill>
              </a:rPr>
              <a:t xml:space="preserve">1 → 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4698" y="416052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chemeClr val="bg1"/>
                </a:solidFill>
              </a:rPr>
              <a:t xml:space="preserve">wrong change that passed the tests on real programs: caught by the re-check, now rejected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394960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6"/>
                </a:solidFill>
              </a:rPr>
              <a:t xml:space="preserve">Key insight: </a:t>
            </a:r>
            <a:r>
              <a:rPr sz="1800" b="0">
                <a:solidFill>
                  <a:schemeClr val="bg1"/>
                </a:solidFill>
              </a:rPr>
              <a:t xml:space="preserve">any proposer can be used, rule, cloud model or laptop model, because nothing is accepted until it is tested, and where possible proved.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iler Optimization">
  <a:themeElements>
    <a:clrScheme name="Compiler Optimization">
      <a:dk1>
        <a:srgbClr val="1B2A41"/>
      </a:dk1>
      <a:lt1>
        <a:srgbClr val="FFFFFF"/>
      </a:lt1>
      <a:dk2>
        <a:srgbClr val="4A5568"/>
      </a:dk2>
      <a:lt2>
        <a:srgbClr val="EEF3FA"/>
      </a:lt2>
      <a:accent1>
        <a:srgbClr val="2A78D6"/>
      </a:accent1>
      <a:accent2>
        <a:srgbClr val="0B8A0B"/>
      </a:accent2>
      <a:accent3>
        <a:srgbClr val="C23434"/>
      </a:accent3>
      <a:accent4>
        <a:srgbClr val="C98500"/>
      </a:accent4>
      <a:accent5>
        <a:srgbClr val="6B7A90"/>
      </a:accent5>
      <a:accent6>
        <a:srgbClr val="BFD6F6"/>
      </a:accent6>
      <a:hlink>
        <a:srgbClr val="2A78D6"/>
      </a:hlink>
      <a:folHlink>
        <a:srgbClr val="4A3AA7"/>
      </a:folHlink>
    </a:clrScheme>
    <a:fontScheme name="Compiler Optimizat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3296</Words>
  <Application>Microsoft Office PowerPoint</Application>
  <PresentationFormat>Widescreen</PresentationFormat>
  <Paragraphs>527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Compiler Optimization</vt:lpstr>
      <vt:lpstr>PowerPoint Presentation</vt:lpstr>
      <vt:lpstr>Introduction</vt:lpstr>
      <vt:lpstr>Objectives</vt:lpstr>
      <vt:lpstr>Literature Review</vt:lpstr>
      <vt:lpstr>Research Gaps</vt:lpstr>
      <vt:lpstr>Proposed Methodology</vt:lpstr>
      <vt:lpstr>Dataset: 500 Programs, 7 Categories</vt:lpstr>
      <vt:lpstr>System Architecture</vt:lpstr>
      <vt:lpstr>Agent Workflow: The Optimization Loop</vt:lpstr>
      <vt:lpstr>Implementation: Tools &amp; Technologies</vt:lpstr>
      <vt:lpstr>Implementation: The Five Agents</vt:lpstr>
      <vt:lpstr>Verification Deep Dive</vt:lpstr>
      <vt:lpstr>Results: Key Metrics</vt:lpstr>
      <vt:lpstr>Results: Cost Reduction by Category</vt:lpstr>
      <vt:lpstr>Results: Proposal Flow</vt:lpstr>
      <vt:lpstr>Results: Outcomes by Optimization Type</vt:lpstr>
      <vt:lpstr>Results: Share of Accepted Optimizations</vt:lpstr>
      <vt:lpstr>Results: Cost Over Iterations</vt:lpstr>
      <vt:lpstr>Results: Agent Steps vs. Improvement</vt:lpstr>
      <vt:lpstr>Results: Where Each Optimization Was Applied</vt:lpstr>
      <vt:lpstr>Results: Rules Only vs. Rules + Gemini</vt:lpstr>
      <vt:lpstr>Example: Agent Decision Log</vt:lpstr>
      <vt:lpstr>Project Status</vt:lpstr>
      <vt:lpstr>Conclusion</vt:lpstr>
      <vt:lpstr>References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LLM/Agent-Guided Compiler Code Optimization</dc:title>
  <dc:subject>Compiler Design Project</dc:subject>
  <dc:creator>PptxGenJS</dc:creator>
  <cp:lastModifiedBy>Microsoft account</cp:lastModifiedBy>
  <cp:revision>4</cp:revision>
  <dcterms:created xsi:type="dcterms:W3CDTF">2026-10-06T06:12:19Z</dcterms:created>
  <dcterms:modified xsi:type="dcterms:W3CDTF">2026-10-06T07:24:14Z</dcterms:modified>
</cp:coreProperties>
</file>